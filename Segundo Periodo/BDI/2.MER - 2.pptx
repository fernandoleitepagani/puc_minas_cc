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facebook.com/rommelcarneiro" TargetMode="External"/><Relationship Id="rId3" Type="http://schemas.openxmlformats.org/officeDocument/2006/relationships/hyperlink" Target="https://www.facebook.com/rommelcarneiro" TargetMode="External"/><Relationship Id="rId4" Type="http://schemas.openxmlformats.org/officeDocument/2006/relationships/hyperlink" Target="https://www.facebook.com/rommelcarneiro" TargetMode="External"/><Relationship Id="rId5" Type="http://schemas.openxmlformats.org/officeDocument/2006/relationships/hyperlink" Target="https://www.linkedin.com/in/rommelcarneiro/" TargetMode="External"/><Relationship Id="rId6" Type="http://schemas.openxmlformats.org/officeDocument/2006/relationships/hyperlink" Target="https://www.linkedin.com/in/rommelcarneiro/" TargetMode="External"/><Relationship Id="rId7" Type="http://schemas.openxmlformats.org/officeDocument/2006/relationships/hyperlink" Target="https://www.linkedin.com/in/rommelcarneiro/" TargetMode="External"/><Relationship Id="rId8" Type="http://schemas.openxmlformats.org/officeDocument/2006/relationships/hyperlink" Target="https://twitter.com/rommelcarneiro" TargetMode="External"/><Relationship Id="rId9" Type="http://schemas.openxmlformats.org/officeDocument/2006/relationships/hyperlink" Target="https://twitter.com/rommelcarneiro" TargetMode="External"/><Relationship Id="rId10" Type="http://schemas.openxmlformats.org/officeDocument/2006/relationships/hyperlink" Target="https://twitter.com/rommelcarneiro" TargetMode="External"/><Relationship Id="rId11" Type="http://schemas.openxmlformats.org/officeDocument/2006/relationships/hyperlink" Target="https://twitter.com/rommelcarneiro" TargetMode="External"/><Relationship Id="rId12" Type="http://schemas.openxmlformats.org/officeDocument/2006/relationships/hyperlink" Target="https://twitter.com/rommelcarneiro" TargetMode="External"/><Relationship Id="rId13" Type="http://schemas.openxmlformats.org/officeDocument/2006/relationships/hyperlink" Target="mailto:rommelcarneiro@gmail.com" TargetMode="External"/><Relationship Id="rId14" Type="http://schemas.openxmlformats.org/officeDocument/2006/relationships/hyperlink" Target="https://twitter.com/rommelcarneiro" TargetMode="External"/><Relationship Id="rId15" Type="http://schemas.openxmlformats.org/officeDocument/2006/relationships/hyperlink" Target="https://twitter.com/rommelcarneiro" TargetMode="External"/><Relationship Id="rId16" Type="http://schemas.openxmlformats.org/officeDocument/2006/relationships/hyperlink" Target="http://rommelcarneiro.me/" TargetMode="Externa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720" cy="567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69840" y="57240"/>
            <a:ext cx="9936000" cy="5533920"/>
          </a:xfrm>
          <a:prstGeom prst="roundRect">
            <a:avLst>
              <a:gd name="adj" fmla="val 4931"/>
            </a:avLst>
          </a:prstGeom>
          <a:noFill/>
          <a:ln cap="sq"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007640" y="226800"/>
            <a:ext cx="8566200" cy="942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noAutofit/>
          </a:bodyPr>
          <a:lstStyle>
            <a:lvl1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300" b="0" u="none" strike="noStrike">
                <a:solidFill>
                  <a:srgbClr val="373545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300" b="0" u="none" strike="noStrike">
                <a:solidFill>
                  <a:srgbClr val="373545"/>
                </a:solidFill>
                <a:effectLst/>
                <a:uFillTx/>
                <a:latin typeface="Franklin Gothic Book"/>
              </a:rPr>
              <a:t>Click to edit the title text format</a:t>
            </a:r>
            <a:endParaRPr lang="en-US" sz="3300" b="0" u="none" strike="noStrike">
              <a:solidFill>
                <a:srgbClr val="373545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007640" y="1196640"/>
            <a:ext cx="8566200" cy="377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488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1pPr>
            <a:lvl2pPr marL="343080" lvl="1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2pPr>
            <a:lvl3pPr marL="343080" lvl="2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3pPr>
            <a:lvl4pPr marL="343080" lvl="3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4pPr>
            <a:lvl5pPr marL="343080" lvl="4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5pPr>
            <a:lvl6pPr marL="343080" lvl="5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6pPr>
            <a:lvl7pPr marL="343080" lvl="6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7pPr>
          </a:lstStyle>
          <a:p>
            <a:pPr marL="343080" indent="-343080" algn="l">
              <a:spcBef>
                <a:spcPts val="488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1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2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3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4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5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6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6804000" y="5117760"/>
            <a:ext cx="27288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373545"/>
                </a:solidFill>
                <a:effectLst/>
                <a:uFillTx/>
                <a:latin typeface="Perpetua"/>
                <a:ea typeface="Tahoma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400" b="0" u="none" strike="noStrike">
                <a:solidFill>
                  <a:srgbClr val="373545"/>
                </a:solidFill>
                <a:effectLst/>
                <a:uFillTx/>
                <a:latin typeface="Perpetua"/>
                <a:ea typeface="Tahoma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008000" y="5102280"/>
            <a:ext cx="436896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2"/>
          </p:nvPr>
        </p:nvSpPr>
        <p:spPr>
          <a:xfrm>
            <a:off x="234720" y="5189040"/>
            <a:ext cx="355320" cy="265320"/>
          </a:xfrm>
          <a:prstGeom prst="rect">
            <a:avLst/>
          </a:prstGeom>
          <a:solidFill>
            <a:srgbClr val="243748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318167D-8B30-455C-87D0-AF3BA1ED1148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Tahoma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80720" cy="567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1280" y="57240"/>
            <a:ext cx="9936360" cy="5532480"/>
          </a:xfrm>
          <a:prstGeom prst="roundRect">
            <a:avLst>
              <a:gd name="adj" fmla="val 4931"/>
            </a:avLst>
          </a:prstGeom>
          <a:noFill/>
          <a:ln cap="sq"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9840" y="1198440"/>
            <a:ext cx="9944280" cy="1262160"/>
          </a:xfrm>
          <a:prstGeom prst="rect">
            <a:avLst/>
          </a:prstGeom>
          <a:solidFill>
            <a:srgbClr val="24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9840" y="1154160"/>
            <a:ext cx="9944280" cy="100080"/>
          </a:xfrm>
          <a:prstGeom prst="rect">
            <a:avLst/>
          </a:prstGeom>
          <a:solidFill>
            <a:srgbClr val="ACAE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9840" y="2460600"/>
            <a:ext cx="9944280" cy="92160"/>
          </a:xfrm>
          <a:prstGeom prst="rect">
            <a:avLst/>
          </a:prstGeom>
          <a:solidFill>
            <a:srgbClr val="84AC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360" rIns="90000" bIns="45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07640" y="226800"/>
            <a:ext cx="8566200" cy="942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noAutofit/>
          </a:bodyPr>
          <a:lstStyle>
            <a:lvl1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300" b="0" u="none" strike="noStrike">
                <a:solidFill>
                  <a:srgbClr val="373545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l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300" b="0" u="none" strike="noStrike">
                <a:solidFill>
                  <a:srgbClr val="373545"/>
                </a:solidFill>
                <a:effectLst/>
                <a:uFillTx/>
                <a:latin typeface="Franklin Gothic Book"/>
              </a:rPr>
              <a:t>Click to edit the title text format</a:t>
            </a:r>
            <a:endParaRPr lang="en-US" sz="3300" b="0" u="none" strike="noStrike">
              <a:solidFill>
                <a:srgbClr val="373545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07640" y="1196640"/>
            <a:ext cx="8566200" cy="377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488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1pPr>
            <a:lvl2pPr marL="343080" lvl="1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2pPr>
            <a:lvl3pPr marL="343080" lvl="2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3pPr>
            <a:lvl4pPr marL="343080" lvl="3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4pPr>
            <a:lvl5pPr marL="343080" lvl="4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5pPr>
            <a:lvl6pPr marL="343080" lvl="5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6pPr>
            <a:lvl7pPr marL="343080" lvl="6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7pPr>
          </a:lstStyle>
          <a:p>
            <a:pPr marL="343080" indent="-343080" algn="l">
              <a:spcBef>
                <a:spcPts val="488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1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2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3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4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5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6" indent="-343080" algn="l">
              <a:spcBef>
                <a:spcPts val="488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3"/>
          </p:nvPr>
        </p:nvSpPr>
        <p:spPr>
          <a:xfrm>
            <a:off x="6804000" y="5117760"/>
            <a:ext cx="27288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373545"/>
                </a:solidFill>
                <a:effectLst/>
                <a:uFillTx/>
                <a:latin typeface="Perpetua"/>
                <a:ea typeface="Tahoma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400" b="0" u="none" strike="noStrike">
                <a:solidFill>
                  <a:srgbClr val="373545"/>
                </a:solidFill>
                <a:effectLst/>
                <a:uFillTx/>
                <a:latin typeface="Perpetua"/>
                <a:ea typeface="Tahoma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008000" y="5102280"/>
            <a:ext cx="436896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4"/>
          </p:nvPr>
        </p:nvSpPr>
        <p:spPr>
          <a:xfrm>
            <a:off x="234720" y="5189040"/>
            <a:ext cx="355320" cy="265320"/>
          </a:xfrm>
          <a:prstGeom prst="rect">
            <a:avLst/>
          </a:prstGeom>
          <a:solidFill>
            <a:srgbClr val="243748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7FFA8DA4-253C-4E20-8961-88CA27BA9F04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Tahoma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5">
    <p:bg>
      <p:bgPr>
        <a:solidFill>
          <a:srgbClr val="1D6E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673200" y="5202360"/>
            <a:ext cx="1141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9480" tIns="60840" rIns="69480" bIns="6084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fld id="{4FE90C6E-AD47-484B-BB0E-22B283ADD675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92200" y="5200560"/>
            <a:ext cx="274680" cy="274680"/>
          </a:xfrm>
          <a:prstGeom prst="ellipse">
            <a:avLst/>
          </a:pr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231840" y="5200560"/>
            <a:ext cx="274680" cy="274680"/>
          </a:xfrm>
          <a:prstGeom prst="ellipse">
            <a:avLst/>
          </a:pr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rot="2700000">
            <a:off x="351360" y="5298480"/>
            <a:ext cx="73080" cy="74520"/>
          </a:xfrm>
          <a:custGeom>
            <a:avLst/>
            <a:gdLst/>
            <a:ahLst/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27720" rIns="90000" bIns="27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 rot="10800000">
            <a:off x="953640" y="5202000"/>
            <a:ext cx="274680" cy="274680"/>
          </a:xfrm>
          <a:prstGeom prst="ellipse">
            <a:avLst/>
          </a:pr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rot="13500000">
            <a:off x="1036440" y="5303520"/>
            <a:ext cx="73080" cy="72720"/>
          </a:xfrm>
          <a:custGeom>
            <a:avLst/>
            <a:gdLst/>
            <a:ahLst/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25920" rIns="90000" bIns="25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>
            <a:hlinkClick r:id="" action="ppaction://hlinkshowjump?jump=nextslide"/>
          </p:cNvPr>
          <p:cNvSpPr/>
          <p:nvPr/>
        </p:nvSpPr>
        <p:spPr>
          <a:xfrm>
            <a:off x="930240" y="5175360"/>
            <a:ext cx="331920" cy="331560"/>
          </a:xfrm>
          <a:custGeom>
            <a:avLst/>
            <a:gdLst>
              <a:gd name="textAreaLeft" fmla="*/ 21240 w 331920"/>
              <a:gd name="textAreaRight" fmla="*/ 310680 w 331920"/>
              <a:gd name="textAreaTop" fmla="*/ 21240 h 331560"/>
              <a:gd name="textAreaBottom" fmla="*/ 310320 h 331560"/>
            </a:gdLst>
            <a:ahLst/>
            <a:cxnLst/>
            <a:rect l="textAreaLeft" t="textAreaTop" r="textAreaRight" b="textAreaBottom"/>
            <a:pathLst>
              <a:path w="21623" h="21600">
                <a:moveTo>
                  <a:pt x="0" y="0"/>
                </a:moveTo>
                <a:lnTo>
                  <a:pt x="21623" y="0"/>
                </a:lnTo>
                <a:lnTo>
                  <a:pt x="21623" y="21600"/>
                </a:lnTo>
                <a:lnTo>
                  <a:pt x="0" y="21600"/>
                </a:lnTo>
                <a:close/>
              </a:path>
              <a:path fill="lightenLess" w="21623" h="21600">
                <a:moveTo>
                  <a:pt x="0" y="0"/>
                </a:moveTo>
                <a:lnTo>
                  <a:pt x="21623" y="0"/>
                </a:lnTo>
                <a:lnTo>
                  <a:pt x="20223" y="1400"/>
                </a:lnTo>
                <a:lnTo>
                  <a:pt x="1400" y="1400"/>
                </a:lnTo>
                <a:close/>
              </a:path>
              <a:path fill="darken" w="21623" h="21600">
                <a:moveTo>
                  <a:pt x="21623" y="0"/>
                </a:moveTo>
                <a:lnTo>
                  <a:pt x="21623" y="21600"/>
                </a:lnTo>
                <a:lnTo>
                  <a:pt x="20223" y="20200"/>
                </a:lnTo>
                <a:lnTo>
                  <a:pt x="20223" y="1400"/>
                </a:lnTo>
                <a:close/>
              </a:path>
              <a:path fill="darkenLess" w="21623" h="21600">
                <a:moveTo>
                  <a:pt x="21623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20223" y="20200"/>
                </a:lnTo>
                <a:close/>
              </a:path>
              <a:path fill="lighten" w="21623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  <a:path fill="darken" w="21623" h="21600">
                <a:moveTo>
                  <a:pt x="3805" y="3794"/>
                </a:moveTo>
                <a:lnTo>
                  <a:pt x="17818" y="10800"/>
                </a:lnTo>
                <a:lnTo>
                  <a:pt x="3805" y="17806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>
            <a:hlinkClick r:id="" action="ppaction://hlinkshowjump?jump=previousslide"/>
          </p:cNvPr>
          <p:cNvSpPr/>
          <p:nvPr/>
        </p:nvSpPr>
        <p:spPr>
          <a:xfrm>
            <a:off x="204840" y="5168880"/>
            <a:ext cx="331560" cy="331920"/>
          </a:xfrm>
          <a:custGeom>
            <a:avLst/>
            <a:gdLst>
              <a:gd name="textAreaLeft" fmla="*/ 21240 w 331560"/>
              <a:gd name="textAreaRight" fmla="*/ 310320 w 331560"/>
              <a:gd name="textAreaTop" fmla="*/ 21240 h 331920"/>
              <a:gd name="textAreaBottom" fmla="*/ 310680 h 331920"/>
            </a:gdLst>
            <a:ahLst/>
            <a:cxnLst/>
            <a:rect l="textAreaLeft" t="textAreaTop" r="textAreaRight" b="textAreaBottom"/>
            <a:pathLst>
              <a:path w="21600" h="21623">
                <a:moveTo>
                  <a:pt x="0" y="0"/>
                </a:moveTo>
                <a:lnTo>
                  <a:pt x="21600" y="0"/>
                </a:lnTo>
                <a:lnTo>
                  <a:pt x="21600" y="21623"/>
                </a:lnTo>
                <a:lnTo>
                  <a:pt x="0" y="21623"/>
                </a:lnTo>
                <a:close/>
              </a:path>
              <a:path fill="lightenLess" w="21600" h="21623">
                <a:moveTo>
                  <a:pt x="0" y="0"/>
                </a:moveTo>
                <a:lnTo>
                  <a:pt x="21600" y="0"/>
                </a:lnTo>
                <a:lnTo>
                  <a:pt x="20200" y="1400"/>
                </a:lnTo>
                <a:lnTo>
                  <a:pt x="1400" y="1400"/>
                </a:lnTo>
                <a:close/>
              </a:path>
              <a:path fill="darken" w="21600" h="21623">
                <a:moveTo>
                  <a:pt x="21600" y="0"/>
                </a:moveTo>
                <a:lnTo>
                  <a:pt x="21600" y="21623"/>
                </a:lnTo>
                <a:lnTo>
                  <a:pt x="20200" y="20223"/>
                </a:lnTo>
                <a:lnTo>
                  <a:pt x="20200" y="1400"/>
                </a:lnTo>
                <a:close/>
              </a:path>
              <a:path fill="darkenLess" w="21600" h="21623">
                <a:moveTo>
                  <a:pt x="21600" y="21623"/>
                </a:moveTo>
                <a:lnTo>
                  <a:pt x="0" y="21623"/>
                </a:lnTo>
                <a:lnTo>
                  <a:pt x="1400" y="20223"/>
                </a:lnTo>
                <a:lnTo>
                  <a:pt x="20200" y="20223"/>
                </a:lnTo>
                <a:close/>
              </a:path>
              <a:path fill="lighten" w="21600" h="21623">
                <a:moveTo>
                  <a:pt x="0" y="21623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23"/>
                </a:lnTo>
                <a:close/>
              </a:path>
              <a:path fill="darken" w="21600" h="21623">
                <a:moveTo>
                  <a:pt x="3794" y="10812"/>
                </a:moveTo>
                <a:lnTo>
                  <a:pt x="17806" y="3805"/>
                </a:lnTo>
                <a:lnTo>
                  <a:pt x="17806" y="17818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829480" y="5742000"/>
            <a:ext cx="20127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60840" rIns="122040" bIns="60840" anchor="ctr">
            <a:sp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Prof. Rommel Vieira Carneiro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" name=""/>
          <p:cNvGrpSpPr/>
          <p:nvPr/>
        </p:nvGrpSpPr>
        <p:grpSpPr>
          <a:xfrm>
            <a:off x="8812080" y="5821200"/>
            <a:ext cx="330480" cy="330480"/>
            <a:chOff x="8812080" y="5821200"/>
            <a:chExt cx="330480" cy="330480"/>
          </a:xfrm>
        </p:grpSpPr>
        <p:sp>
          <p:nvSpPr>
            <p:cNvPr id="29" name="">
              <a:hlinkClick r:id="rId2"/>
            </p:cNvPr>
            <p:cNvSpPr/>
            <p:nvPr/>
          </p:nvSpPr>
          <p:spPr>
            <a:xfrm>
              <a:off x="8812080" y="5821200"/>
              <a:ext cx="330480" cy="33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>
              <a:hlinkClick r:id="rId3"/>
            </p:cNvPr>
            <p:cNvSpPr/>
            <p:nvPr/>
          </p:nvSpPr>
          <p:spPr>
            <a:xfrm>
              <a:off x="8845560" y="5851440"/>
              <a:ext cx="272880" cy="27324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>
              <a:hlinkClick r:id="rId4"/>
            </p:cNvPr>
            <p:cNvSpPr/>
            <p:nvPr/>
          </p:nvSpPr>
          <p:spPr>
            <a:xfrm>
              <a:off x="8956800" y="5934240"/>
              <a:ext cx="50760" cy="110880"/>
            </a:xfrm>
            <a:custGeom>
              <a:avLst/>
              <a:gdLst/>
              <a:ahLst/>
              <a:rect l="l" t="t" r="r" b="b"/>
              <a:pathLst>
                <a:path w="704" h="1506">
                  <a:moveTo>
                    <a:pt x="573" y="255"/>
                  </a:moveTo>
                  <a:lnTo>
                    <a:pt x="573" y="255"/>
                  </a:lnTo>
                  <a:lnTo>
                    <a:pt x="704" y="255"/>
                  </a:lnTo>
                  <a:lnTo>
                    <a:pt x="704" y="0"/>
                  </a:lnTo>
                  <a:lnTo>
                    <a:pt x="492" y="0"/>
                  </a:lnTo>
                  <a:cubicBezTo>
                    <a:pt x="243" y="0"/>
                    <a:pt x="155" y="124"/>
                    <a:pt x="155" y="336"/>
                  </a:cubicBezTo>
                  <a:lnTo>
                    <a:pt x="155" y="493"/>
                  </a:lnTo>
                  <a:lnTo>
                    <a:pt x="0" y="493"/>
                  </a:lnTo>
                  <a:lnTo>
                    <a:pt x="0" y="749"/>
                  </a:lnTo>
                  <a:lnTo>
                    <a:pt x="155" y="749"/>
                  </a:lnTo>
                  <a:lnTo>
                    <a:pt x="155" y="1506"/>
                  </a:lnTo>
                  <a:lnTo>
                    <a:pt x="467" y="1506"/>
                  </a:lnTo>
                  <a:lnTo>
                    <a:pt x="467" y="749"/>
                  </a:lnTo>
                  <a:lnTo>
                    <a:pt x="679" y="749"/>
                  </a:lnTo>
                  <a:lnTo>
                    <a:pt x="704" y="493"/>
                  </a:lnTo>
                  <a:lnTo>
                    <a:pt x="467" y="493"/>
                  </a:lnTo>
                  <a:lnTo>
                    <a:pt x="467" y="362"/>
                  </a:lnTo>
                  <a:cubicBezTo>
                    <a:pt x="467" y="293"/>
                    <a:pt x="473" y="255"/>
                    <a:pt x="573" y="2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" name=""/>
          <p:cNvGrpSpPr/>
          <p:nvPr/>
        </p:nvGrpSpPr>
        <p:grpSpPr>
          <a:xfrm>
            <a:off x="9174240" y="5821200"/>
            <a:ext cx="330120" cy="330480"/>
            <a:chOff x="9174240" y="5821200"/>
            <a:chExt cx="330120" cy="330480"/>
          </a:xfrm>
        </p:grpSpPr>
        <p:sp>
          <p:nvSpPr>
            <p:cNvPr id="33" name="">
              <a:hlinkClick r:id="rId5"/>
            </p:cNvPr>
            <p:cNvSpPr/>
            <p:nvPr/>
          </p:nvSpPr>
          <p:spPr>
            <a:xfrm>
              <a:off x="9174240" y="5821200"/>
              <a:ext cx="330120" cy="33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>
              <a:hlinkClick r:id="rId6"/>
            </p:cNvPr>
            <p:cNvSpPr/>
            <p:nvPr/>
          </p:nvSpPr>
          <p:spPr>
            <a:xfrm>
              <a:off x="9288360" y="5931000"/>
              <a:ext cx="115920" cy="110880"/>
            </a:xfrm>
            <a:custGeom>
              <a:avLst/>
              <a:gdLst/>
              <a:ahLst/>
              <a:rect l="l" t="t" r="r" b="b"/>
              <a:pathLst>
                <a:path w="1562" h="1491">
                  <a:moveTo>
                    <a:pt x="1176" y="466"/>
                  </a:moveTo>
                  <a:lnTo>
                    <a:pt x="1176" y="466"/>
                  </a:lnTo>
                  <a:cubicBezTo>
                    <a:pt x="990" y="466"/>
                    <a:pt x="916" y="562"/>
                    <a:pt x="871" y="636"/>
                  </a:cubicBezTo>
                  <a:lnTo>
                    <a:pt x="871" y="488"/>
                  </a:lnTo>
                  <a:lnTo>
                    <a:pt x="538" y="488"/>
                  </a:lnTo>
                  <a:cubicBezTo>
                    <a:pt x="545" y="584"/>
                    <a:pt x="538" y="1491"/>
                    <a:pt x="538" y="1491"/>
                  </a:cubicBezTo>
                  <a:lnTo>
                    <a:pt x="871" y="1491"/>
                  </a:lnTo>
                  <a:lnTo>
                    <a:pt x="871" y="931"/>
                  </a:lnTo>
                  <a:cubicBezTo>
                    <a:pt x="871" y="901"/>
                    <a:pt x="871" y="872"/>
                    <a:pt x="886" y="850"/>
                  </a:cubicBezTo>
                  <a:cubicBezTo>
                    <a:pt x="909" y="791"/>
                    <a:pt x="961" y="724"/>
                    <a:pt x="1057" y="724"/>
                  </a:cubicBezTo>
                  <a:cubicBezTo>
                    <a:pt x="1176" y="724"/>
                    <a:pt x="1228" y="820"/>
                    <a:pt x="1228" y="953"/>
                  </a:cubicBezTo>
                  <a:lnTo>
                    <a:pt x="1228" y="1491"/>
                  </a:lnTo>
                  <a:lnTo>
                    <a:pt x="1562" y="1491"/>
                  </a:lnTo>
                  <a:lnTo>
                    <a:pt x="1562" y="916"/>
                  </a:lnTo>
                  <a:cubicBezTo>
                    <a:pt x="1562" y="606"/>
                    <a:pt x="1398" y="466"/>
                    <a:pt x="1176" y="466"/>
                  </a:cubicBezTo>
                  <a:close/>
                  <a:moveTo>
                    <a:pt x="22" y="1491"/>
                  </a:moveTo>
                  <a:lnTo>
                    <a:pt x="22" y="1491"/>
                  </a:lnTo>
                  <a:lnTo>
                    <a:pt x="357" y="1491"/>
                  </a:lnTo>
                  <a:lnTo>
                    <a:pt x="357" y="487"/>
                  </a:lnTo>
                  <a:lnTo>
                    <a:pt x="22" y="487"/>
                  </a:lnTo>
                  <a:lnTo>
                    <a:pt x="22" y="1491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cubicBezTo>
                    <a:pt x="74" y="0"/>
                    <a:pt x="0" y="82"/>
                    <a:pt x="0" y="178"/>
                  </a:cubicBezTo>
                  <a:cubicBezTo>
                    <a:pt x="0" y="273"/>
                    <a:pt x="74" y="347"/>
                    <a:pt x="186" y="347"/>
                  </a:cubicBezTo>
                  <a:cubicBezTo>
                    <a:pt x="305" y="347"/>
                    <a:pt x="379" y="273"/>
                    <a:pt x="379" y="178"/>
                  </a:cubicBezTo>
                  <a:cubicBezTo>
                    <a:pt x="379" y="82"/>
                    <a:pt x="305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>
              <a:hlinkClick r:id="rId7"/>
            </p:cNvPr>
            <p:cNvSpPr/>
            <p:nvPr/>
          </p:nvSpPr>
          <p:spPr>
            <a:xfrm>
              <a:off x="9209160" y="5851440"/>
              <a:ext cx="272880" cy="27324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" name=""/>
          <p:cNvGrpSpPr/>
          <p:nvPr/>
        </p:nvGrpSpPr>
        <p:grpSpPr>
          <a:xfrm>
            <a:off x="9537840" y="5821200"/>
            <a:ext cx="330120" cy="330480"/>
            <a:chOff x="9537840" y="5821200"/>
            <a:chExt cx="330120" cy="330480"/>
          </a:xfrm>
        </p:grpSpPr>
        <p:sp>
          <p:nvSpPr>
            <p:cNvPr id="37" name="">
              <a:hlinkClick r:id="rId8"/>
            </p:cNvPr>
            <p:cNvSpPr/>
            <p:nvPr/>
          </p:nvSpPr>
          <p:spPr>
            <a:xfrm>
              <a:off x="9537840" y="5821200"/>
              <a:ext cx="330120" cy="33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>
              <a:hlinkClick r:id="rId9"/>
            </p:cNvPr>
            <p:cNvSpPr/>
            <p:nvPr/>
          </p:nvSpPr>
          <p:spPr>
            <a:xfrm>
              <a:off x="9640800" y="5942160"/>
              <a:ext cx="125640" cy="101520"/>
            </a:xfrm>
            <a:custGeom>
              <a:avLst/>
              <a:gdLst/>
              <a:ahLst/>
              <a:rect l="l" t="t" r="r" b="b"/>
              <a:pathLst>
                <a:path w="1690" h="1374">
                  <a:moveTo>
                    <a:pt x="1491" y="223"/>
                  </a:moveTo>
                  <a:lnTo>
                    <a:pt x="1491" y="223"/>
                  </a:lnTo>
                  <a:cubicBezTo>
                    <a:pt x="1569" y="175"/>
                    <a:pt x="1617" y="108"/>
                    <a:pt x="1647" y="30"/>
                  </a:cubicBezTo>
                  <a:cubicBezTo>
                    <a:pt x="1581" y="66"/>
                    <a:pt x="1509" y="96"/>
                    <a:pt x="1424" y="108"/>
                  </a:cubicBezTo>
                  <a:cubicBezTo>
                    <a:pt x="1358" y="42"/>
                    <a:pt x="1273" y="0"/>
                    <a:pt x="1171" y="0"/>
                  </a:cubicBezTo>
                  <a:cubicBezTo>
                    <a:pt x="977" y="0"/>
                    <a:pt x="821" y="157"/>
                    <a:pt x="821" y="356"/>
                  </a:cubicBezTo>
                  <a:cubicBezTo>
                    <a:pt x="821" y="374"/>
                    <a:pt x="827" y="404"/>
                    <a:pt x="827" y="428"/>
                  </a:cubicBezTo>
                  <a:cubicBezTo>
                    <a:pt x="543" y="410"/>
                    <a:pt x="283" y="277"/>
                    <a:pt x="114" y="66"/>
                  </a:cubicBezTo>
                  <a:cubicBezTo>
                    <a:pt x="84" y="120"/>
                    <a:pt x="72" y="175"/>
                    <a:pt x="72" y="241"/>
                  </a:cubicBezTo>
                  <a:cubicBezTo>
                    <a:pt x="72" y="362"/>
                    <a:pt x="132" y="470"/>
                    <a:pt x="223" y="530"/>
                  </a:cubicBezTo>
                  <a:cubicBezTo>
                    <a:pt x="169" y="530"/>
                    <a:pt x="114" y="512"/>
                    <a:pt x="66" y="488"/>
                  </a:cubicBezTo>
                  <a:lnTo>
                    <a:pt x="66" y="494"/>
                  </a:lnTo>
                  <a:cubicBezTo>
                    <a:pt x="66" y="663"/>
                    <a:pt x="187" y="802"/>
                    <a:pt x="344" y="832"/>
                  </a:cubicBezTo>
                  <a:cubicBezTo>
                    <a:pt x="313" y="838"/>
                    <a:pt x="283" y="844"/>
                    <a:pt x="253" y="844"/>
                  </a:cubicBezTo>
                  <a:cubicBezTo>
                    <a:pt x="235" y="844"/>
                    <a:pt x="211" y="838"/>
                    <a:pt x="187" y="838"/>
                  </a:cubicBezTo>
                  <a:cubicBezTo>
                    <a:pt x="235" y="977"/>
                    <a:pt x="356" y="1073"/>
                    <a:pt x="513" y="1079"/>
                  </a:cubicBezTo>
                  <a:cubicBezTo>
                    <a:pt x="392" y="1170"/>
                    <a:pt x="241" y="1230"/>
                    <a:pt x="78" y="1230"/>
                  </a:cubicBezTo>
                  <a:cubicBezTo>
                    <a:pt x="54" y="1230"/>
                    <a:pt x="24" y="1230"/>
                    <a:pt x="0" y="1224"/>
                  </a:cubicBezTo>
                  <a:cubicBezTo>
                    <a:pt x="151" y="1326"/>
                    <a:pt x="338" y="1374"/>
                    <a:pt x="525" y="1374"/>
                  </a:cubicBezTo>
                  <a:cubicBezTo>
                    <a:pt x="1171" y="1374"/>
                    <a:pt x="1521" y="844"/>
                    <a:pt x="1521" y="392"/>
                  </a:cubicBezTo>
                  <a:lnTo>
                    <a:pt x="1521" y="344"/>
                  </a:lnTo>
                  <a:cubicBezTo>
                    <a:pt x="1587" y="295"/>
                    <a:pt x="1647" y="235"/>
                    <a:pt x="1690" y="163"/>
                  </a:cubicBezTo>
                  <a:cubicBezTo>
                    <a:pt x="1635" y="193"/>
                    <a:pt x="1569" y="211"/>
                    <a:pt x="1491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>
              <a:hlinkClick r:id="rId10"/>
            </p:cNvPr>
            <p:cNvSpPr/>
            <p:nvPr/>
          </p:nvSpPr>
          <p:spPr>
            <a:xfrm rot="10800000">
              <a:off x="9566280" y="5851080"/>
              <a:ext cx="272880" cy="27324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8450280" y="5821200"/>
            <a:ext cx="330120" cy="330480"/>
            <a:chOff x="8450280" y="5821200"/>
            <a:chExt cx="330120" cy="330480"/>
          </a:xfrm>
        </p:grpSpPr>
        <p:sp>
          <p:nvSpPr>
            <p:cNvPr id="41" name="">
              <a:hlinkClick r:id="rId11"/>
            </p:cNvPr>
            <p:cNvSpPr/>
            <p:nvPr/>
          </p:nvSpPr>
          <p:spPr>
            <a:xfrm>
              <a:off x="8450280" y="5821200"/>
              <a:ext cx="330120" cy="33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>
              <a:hlinkClick r:id="rId12"/>
            </p:cNvPr>
            <p:cNvSpPr/>
            <p:nvPr/>
          </p:nvSpPr>
          <p:spPr>
            <a:xfrm rot="10800000">
              <a:off x="8478360" y="5851080"/>
              <a:ext cx="273240" cy="27324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>
              <a:hlinkClick r:id="rId13"/>
            </p:cNvPr>
            <p:cNvSpPr/>
            <p:nvPr/>
          </p:nvSpPr>
          <p:spPr>
            <a:xfrm>
              <a:off x="8539200" y="5942160"/>
              <a:ext cx="144360" cy="99720"/>
            </a:xfrm>
            <a:custGeom>
              <a:avLst/>
              <a:gdLst/>
              <a:ahLst/>
              <a:rect l="l" t="t" r="r" b="b"/>
              <a:pathLst>
                <a:path w="600" h="417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" name=""/>
          <p:cNvGrpSpPr/>
          <p:nvPr/>
        </p:nvGrpSpPr>
        <p:grpSpPr>
          <a:xfrm>
            <a:off x="8086680" y="5821200"/>
            <a:ext cx="330120" cy="330480"/>
            <a:chOff x="8086680" y="5821200"/>
            <a:chExt cx="330120" cy="330480"/>
          </a:xfrm>
        </p:grpSpPr>
        <p:sp>
          <p:nvSpPr>
            <p:cNvPr id="45" name="">
              <a:hlinkClick r:id="rId14"/>
            </p:cNvPr>
            <p:cNvSpPr/>
            <p:nvPr/>
          </p:nvSpPr>
          <p:spPr>
            <a:xfrm>
              <a:off x="8086680" y="5821200"/>
              <a:ext cx="330120" cy="33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>
              <a:hlinkClick r:id="rId15"/>
            </p:cNvPr>
            <p:cNvSpPr/>
            <p:nvPr/>
          </p:nvSpPr>
          <p:spPr>
            <a:xfrm rot="10800000">
              <a:off x="8116920" y="5851080"/>
              <a:ext cx="272880" cy="27324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" name="">
            <a:hlinkClick r:id="rId16"/>
          </p:cNvPr>
          <p:cNvSpPr/>
          <p:nvPr/>
        </p:nvSpPr>
        <p:spPr>
          <a:xfrm>
            <a:off x="8182080" y="5918040"/>
            <a:ext cx="139680" cy="142920"/>
          </a:xfrm>
          <a:custGeom>
            <a:avLst/>
            <a:gdLst>
              <a:gd name="GluePoint1X" fmla="*/ 9 w 118"/>
              <a:gd name="GluePoint1Y" fmla="*/ 11 h 119"/>
              <a:gd name="GluePoint2X" fmla="*/ 13 w 118"/>
              <a:gd name="GluePoint2Y" fmla="*/ 15 h 119"/>
              <a:gd name="GluePoint3X" fmla="*/ 17 w 118"/>
              <a:gd name="GluePoint3Y" fmla="*/ 19 h 119"/>
              <a:gd name="GluePoint4X" fmla="*/ 21 w 118"/>
              <a:gd name="GluePoint4Y" fmla="*/ 23 h 119"/>
              <a:gd name="GluePoint5X" fmla="*/ 25 w 118"/>
              <a:gd name="GluePoint5Y" fmla="*/ 27 h 119"/>
              <a:gd name="GluePoint6X" fmla="*/ 29 w 118"/>
              <a:gd name="GluePoint6Y" fmla="*/ 31 h 119"/>
              <a:gd name="GluePoint7X" fmla="*/ 33 w 118"/>
              <a:gd name="GluePoint7Y" fmla="*/ 35 h 119"/>
              <a:gd name="GluePoint8X" fmla="*/ 37 w 118"/>
              <a:gd name="GluePoint8Y" fmla="*/ 39 h 119"/>
              <a:gd name="GluePoint9X" fmla="*/ 41 w 118"/>
              <a:gd name="GluePoint9Y" fmla="*/ 43 h 119"/>
              <a:gd name="GluePoint10X" fmla="*/ 45 w 118"/>
              <a:gd name="GluePoint10Y" fmla="*/ 47 h 119"/>
              <a:gd name="GluePoint11X" fmla="*/ 49 w 118"/>
              <a:gd name="GluePoint11Y" fmla="*/ 51 h 119"/>
              <a:gd name="GluePoint12X" fmla="*/ 53 w 118"/>
              <a:gd name="GluePoint12Y" fmla="*/ 55 h 119"/>
              <a:gd name="GluePoint13X" fmla="*/ 57 w 118"/>
              <a:gd name="GluePoint13Y" fmla="*/ 59 h 119"/>
              <a:gd name="GluePoint14X" fmla="*/ 61 w 118"/>
              <a:gd name="GluePoint14Y" fmla="*/ 63 h 119"/>
              <a:gd name="GluePoint15X" fmla="*/ 65 w 118"/>
              <a:gd name="GluePoint15Y" fmla="*/ 67 h 119"/>
              <a:gd name="GluePoint16X" fmla="*/ 69 w 118"/>
              <a:gd name="GluePoint16Y" fmla="*/ 71 h 119"/>
              <a:gd name="GluePoint17X" fmla="*/ 73 w 118"/>
              <a:gd name="GluePoint17Y" fmla="*/ 75 h 119"/>
              <a:gd name="GluePoint18X" fmla="*/ 77 w 118"/>
              <a:gd name="GluePoint18Y" fmla="*/ 79 h 119"/>
              <a:gd name="GluePoint19X" fmla="*/ 81 w 118"/>
              <a:gd name="GluePoint19Y" fmla="*/ 83 h 119"/>
              <a:gd name="GluePoint20X" fmla="*/ 85 w 118"/>
              <a:gd name="GluePoint20Y" fmla="*/ 87 h 119"/>
              <a:gd name="GluePoint21X" fmla="*/ 89 w 118"/>
              <a:gd name="GluePoint21Y" fmla="*/ 91 h 119"/>
              <a:gd name="GluePoint22X" fmla="*/ 93 w 118"/>
              <a:gd name="GluePoint22Y" fmla="*/ 95 h 119"/>
              <a:gd name="GluePoint23X" fmla="*/ 97 w 118"/>
              <a:gd name="GluePoint23Y" fmla="*/ 99 h 119"/>
              <a:gd name="GluePoint24X" fmla="*/ 101 w 118"/>
              <a:gd name="GluePoint24Y" fmla="*/ 103 h 119"/>
              <a:gd name="GluePoint25X" fmla="*/ 105 w 118"/>
              <a:gd name="GluePoint25Y" fmla="*/ 107 h 119"/>
              <a:gd name="GluePoint26X" fmla="*/ 109 w 118"/>
              <a:gd name="GluePoint26Y" fmla="*/ 111 h 119"/>
              <a:gd name="GluePoint27X" fmla="*/ 113 w 118"/>
              <a:gd name="GluePoint27Y" fmla="*/ 115 h 119"/>
              <a:gd name="GluePoint28X" fmla="*/ 117 w 118"/>
              <a:gd name="GluePoint28Y" fmla="*/ 119 h 119"/>
              <a:gd name="GluePoint29X" fmla="*/ 121 w 118"/>
              <a:gd name="GluePoint29Y" fmla="*/ 123 h 119"/>
              <a:gd name="GluePoint30X" fmla="*/ 125 w 118"/>
              <a:gd name="GluePoint30Y" fmla="*/ 127 h 119"/>
              <a:gd name="GluePoint31X" fmla="*/ 129 w 118"/>
              <a:gd name="GluePoint31Y" fmla="*/ 131 h 119"/>
              <a:gd name="GluePoint32X" fmla="*/ 133 w 118"/>
              <a:gd name="GluePoint32Y" fmla="*/ 135 h 119"/>
              <a:gd name="GluePoint33X" fmla="*/ 137 w 118"/>
              <a:gd name="GluePoint33Y" fmla="*/ 139 h 119"/>
              <a:gd name="GluePoint34X" fmla="*/ 141 w 118"/>
              <a:gd name="GluePoint34Y" fmla="*/ 143 h 119"/>
              <a:gd name="GluePoint35X" fmla="*/ 145 w 118"/>
              <a:gd name="GluePoint35Y" fmla="*/ 147 h 119"/>
              <a:gd name="GluePoint36X" fmla="*/ 149 w 118"/>
              <a:gd name="GluePoint36Y" fmla="*/ 151 h 119"/>
              <a:gd name="GluePoint37X" fmla="*/ 153 w 118"/>
              <a:gd name="GluePoint37Y" fmla="*/ 155 h 119"/>
              <a:gd name="GluePoint38X" fmla="*/ 157 w 118"/>
              <a:gd name="GluePoint38Y" fmla="*/ 159 h 119"/>
              <a:gd name="GluePoint39X" fmla="*/ 161 w 118"/>
              <a:gd name="GluePoint39Y" fmla="*/ 163 h 119"/>
              <a:gd name="GluePoint40X" fmla="*/ 165 w 118"/>
              <a:gd name="GluePoint40Y" fmla="*/ 167 h 119"/>
              <a:gd name="GluePoint41X" fmla="*/ 169 w 118"/>
              <a:gd name="GluePoint41Y" fmla="*/ 171 h 1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l" t="t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2920" y="-9720"/>
            <a:ext cx="9069480" cy="14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7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45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1pPr>
          </a:lstStyle>
          <a:p>
            <a:pPr indent="0" algn="ctr">
              <a:lnSpc>
                <a:spcPct val="7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45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Click to edit the title text format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343080" indent="-343080" algn="l">
              <a:lnSpc>
                <a:spcPct val="83000"/>
              </a:lnSpc>
              <a:spcBef>
                <a:spcPts val="337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17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1pPr>
            <a:lvl2pPr marL="743040" lvl="1" indent="-28584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tabLst>
                <a:tab pos="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2pPr>
            <a:lvl3pPr marL="1143000" lvl="2" indent="-22860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3pPr>
            <a:lvl4pPr marL="1600200" lvl="3" indent="-22860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4pPr>
            <a:lvl5pPr marL="2057400" lvl="4" indent="-22860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5pPr>
            <a:lvl6pPr lvl="5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6pPr>
            <a:lvl7pPr lvl="6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7pPr>
          </a:lstStyle>
          <a:p>
            <a:pPr marL="343080" indent="-343080" algn="l">
              <a:lnSpc>
                <a:spcPct val="83000"/>
              </a:lnSpc>
              <a:spcBef>
                <a:spcPts val="337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Click to edit the outline text format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743040" lvl="1" indent="-28584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tabLst>
                <a:tab pos="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Second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1143000" lvl="2" indent="-22860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Third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1600200" lvl="3" indent="-22860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Fourth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2057400" lvl="4" indent="-228600" algn="l">
              <a:lnSpc>
                <a:spcPct val="83000"/>
              </a:lnSpc>
              <a:spcBef>
                <a:spcPts val="2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Fifth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2057400" lvl="5" indent="-228600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Sixth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2057400" lvl="6" indent="-228600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Seventh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www.linkedin.com/in/rommelcarneiro/" TargetMode="External"/><Relationship Id="rId2" Type="http://schemas.openxmlformats.org/officeDocument/2006/relationships/hyperlink" Target="https://www.linkedin.com/in/rommelcarneiro/" TargetMode="External"/><Relationship Id="rId3" Type="http://schemas.openxmlformats.org/officeDocument/2006/relationships/hyperlink" Target="https://www.linkedin.com/in/rommelcarneiro/" TargetMode="External"/><Relationship Id="rId4" Type="http://schemas.openxmlformats.org/officeDocument/2006/relationships/hyperlink" Target="https://twitter.com/rommelcarneiro" TargetMode="External"/><Relationship Id="rId5" Type="http://schemas.openxmlformats.org/officeDocument/2006/relationships/hyperlink" Target="https://twitter.com/rommelcarneiro" TargetMode="External"/><Relationship Id="rId6" Type="http://schemas.openxmlformats.org/officeDocument/2006/relationships/hyperlink" Target="http://rommelcarneiro.me/" TargetMode="External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D6E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55280" y="1760400"/>
            <a:ext cx="8567640" cy="12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86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54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BANCO DE DADOS I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511280" y="3213000"/>
            <a:ext cx="6276960" cy="144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575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28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Prof. Hayala Curto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6681960" y="3225960"/>
            <a:ext cx="330120" cy="330120"/>
            <a:chOff x="6681960" y="3225960"/>
            <a:chExt cx="330120" cy="330120"/>
          </a:xfrm>
        </p:grpSpPr>
        <p:sp>
          <p:nvSpPr>
            <p:cNvPr id="53" name="">
              <a:hlinkClick r:id="rId1"/>
            </p:cNvPr>
            <p:cNvSpPr/>
            <p:nvPr/>
          </p:nvSpPr>
          <p:spPr>
            <a:xfrm>
              <a:off x="6681960" y="3225960"/>
              <a:ext cx="330120" cy="33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>
              <a:hlinkClick r:id="rId2"/>
            </p:cNvPr>
            <p:cNvSpPr/>
            <p:nvPr/>
          </p:nvSpPr>
          <p:spPr>
            <a:xfrm>
              <a:off x="6796080" y="3336840"/>
              <a:ext cx="115920" cy="111240"/>
            </a:xfrm>
            <a:custGeom>
              <a:avLst/>
              <a:gdLst/>
              <a:ahLst/>
              <a:rect l="l" t="t" r="r" b="b"/>
              <a:pathLst>
                <a:path w="1562" h="1491">
                  <a:moveTo>
                    <a:pt x="1176" y="466"/>
                  </a:moveTo>
                  <a:lnTo>
                    <a:pt x="1176" y="466"/>
                  </a:lnTo>
                  <a:cubicBezTo>
                    <a:pt x="990" y="466"/>
                    <a:pt x="916" y="562"/>
                    <a:pt x="871" y="636"/>
                  </a:cubicBezTo>
                  <a:lnTo>
                    <a:pt x="871" y="488"/>
                  </a:lnTo>
                  <a:lnTo>
                    <a:pt x="538" y="488"/>
                  </a:lnTo>
                  <a:cubicBezTo>
                    <a:pt x="545" y="584"/>
                    <a:pt x="538" y="1491"/>
                    <a:pt x="538" y="1491"/>
                  </a:cubicBezTo>
                  <a:lnTo>
                    <a:pt x="871" y="1491"/>
                  </a:lnTo>
                  <a:lnTo>
                    <a:pt x="871" y="931"/>
                  </a:lnTo>
                  <a:cubicBezTo>
                    <a:pt x="871" y="901"/>
                    <a:pt x="871" y="872"/>
                    <a:pt x="886" y="850"/>
                  </a:cubicBezTo>
                  <a:cubicBezTo>
                    <a:pt x="909" y="791"/>
                    <a:pt x="961" y="724"/>
                    <a:pt x="1057" y="724"/>
                  </a:cubicBezTo>
                  <a:cubicBezTo>
                    <a:pt x="1176" y="724"/>
                    <a:pt x="1228" y="820"/>
                    <a:pt x="1228" y="953"/>
                  </a:cubicBezTo>
                  <a:lnTo>
                    <a:pt x="1228" y="1491"/>
                  </a:lnTo>
                  <a:lnTo>
                    <a:pt x="1562" y="1491"/>
                  </a:lnTo>
                  <a:lnTo>
                    <a:pt x="1562" y="916"/>
                  </a:lnTo>
                  <a:cubicBezTo>
                    <a:pt x="1562" y="606"/>
                    <a:pt x="1398" y="466"/>
                    <a:pt x="1176" y="466"/>
                  </a:cubicBezTo>
                  <a:close/>
                  <a:moveTo>
                    <a:pt x="22" y="1491"/>
                  </a:moveTo>
                  <a:lnTo>
                    <a:pt x="22" y="1491"/>
                  </a:lnTo>
                  <a:lnTo>
                    <a:pt x="357" y="1491"/>
                  </a:lnTo>
                  <a:lnTo>
                    <a:pt x="357" y="487"/>
                  </a:lnTo>
                  <a:lnTo>
                    <a:pt x="22" y="487"/>
                  </a:lnTo>
                  <a:lnTo>
                    <a:pt x="22" y="1491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cubicBezTo>
                    <a:pt x="74" y="0"/>
                    <a:pt x="0" y="82"/>
                    <a:pt x="0" y="178"/>
                  </a:cubicBezTo>
                  <a:cubicBezTo>
                    <a:pt x="0" y="273"/>
                    <a:pt x="74" y="347"/>
                    <a:pt x="186" y="347"/>
                  </a:cubicBezTo>
                  <a:cubicBezTo>
                    <a:pt x="305" y="347"/>
                    <a:pt x="379" y="273"/>
                    <a:pt x="379" y="178"/>
                  </a:cubicBezTo>
                  <a:cubicBezTo>
                    <a:pt x="379" y="82"/>
                    <a:pt x="305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>
              <a:hlinkClick r:id="rId3"/>
            </p:cNvPr>
            <p:cNvSpPr/>
            <p:nvPr/>
          </p:nvSpPr>
          <p:spPr>
            <a:xfrm>
              <a:off x="6716880" y="3255840"/>
              <a:ext cx="272880" cy="27324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" name=""/>
          <p:cNvGrpSpPr/>
          <p:nvPr/>
        </p:nvGrpSpPr>
        <p:grpSpPr>
          <a:xfrm>
            <a:off x="6283440" y="3225960"/>
            <a:ext cx="330120" cy="330120"/>
            <a:chOff x="6283440" y="3225960"/>
            <a:chExt cx="330120" cy="330120"/>
          </a:xfrm>
        </p:grpSpPr>
        <p:sp>
          <p:nvSpPr>
            <p:cNvPr id="57" name="">
              <a:hlinkClick r:id="rId4"/>
            </p:cNvPr>
            <p:cNvSpPr/>
            <p:nvPr/>
          </p:nvSpPr>
          <p:spPr>
            <a:xfrm>
              <a:off x="6283440" y="3225960"/>
              <a:ext cx="330120" cy="33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>
              <a:hlinkClick r:id="rId5"/>
            </p:cNvPr>
            <p:cNvSpPr/>
            <p:nvPr/>
          </p:nvSpPr>
          <p:spPr>
            <a:xfrm rot="10800000">
              <a:off x="6311520" y="3257640"/>
              <a:ext cx="273240" cy="27288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">
            <a:hlinkClick r:id="rId6"/>
          </p:cNvPr>
          <p:cNvSpPr/>
          <p:nvPr/>
        </p:nvSpPr>
        <p:spPr>
          <a:xfrm>
            <a:off x="6378480" y="3322800"/>
            <a:ext cx="139680" cy="142560"/>
          </a:xfrm>
          <a:custGeom>
            <a:avLst/>
            <a:gdLst>
              <a:gd name="GluePoint1X" fmla="*/ 9 w 118"/>
              <a:gd name="GluePoint1Y" fmla="*/ 11 h 119"/>
              <a:gd name="GluePoint2X" fmla="*/ 13 w 118"/>
              <a:gd name="GluePoint2Y" fmla="*/ 15 h 119"/>
              <a:gd name="GluePoint3X" fmla="*/ 17 w 118"/>
              <a:gd name="GluePoint3Y" fmla="*/ 19 h 119"/>
              <a:gd name="GluePoint4X" fmla="*/ 21 w 118"/>
              <a:gd name="GluePoint4Y" fmla="*/ 23 h 119"/>
              <a:gd name="GluePoint5X" fmla="*/ 25 w 118"/>
              <a:gd name="GluePoint5Y" fmla="*/ 27 h 119"/>
              <a:gd name="GluePoint6X" fmla="*/ 29 w 118"/>
              <a:gd name="GluePoint6Y" fmla="*/ 31 h 119"/>
              <a:gd name="GluePoint7X" fmla="*/ 33 w 118"/>
              <a:gd name="GluePoint7Y" fmla="*/ 35 h 119"/>
              <a:gd name="GluePoint8X" fmla="*/ 37 w 118"/>
              <a:gd name="GluePoint8Y" fmla="*/ 39 h 119"/>
              <a:gd name="GluePoint9X" fmla="*/ 41 w 118"/>
              <a:gd name="GluePoint9Y" fmla="*/ 43 h 119"/>
              <a:gd name="GluePoint10X" fmla="*/ 45 w 118"/>
              <a:gd name="GluePoint10Y" fmla="*/ 47 h 119"/>
              <a:gd name="GluePoint11X" fmla="*/ 49 w 118"/>
              <a:gd name="GluePoint11Y" fmla="*/ 51 h 119"/>
              <a:gd name="GluePoint12X" fmla="*/ 53 w 118"/>
              <a:gd name="GluePoint12Y" fmla="*/ 55 h 119"/>
              <a:gd name="GluePoint13X" fmla="*/ 57 w 118"/>
              <a:gd name="GluePoint13Y" fmla="*/ 59 h 119"/>
              <a:gd name="GluePoint14X" fmla="*/ 61 w 118"/>
              <a:gd name="GluePoint14Y" fmla="*/ 63 h 119"/>
              <a:gd name="GluePoint15X" fmla="*/ 65 w 118"/>
              <a:gd name="GluePoint15Y" fmla="*/ 67 h 119"/>
              <a:gd name="GluePoint16X" fmla="*/ 69 w 118"/>
              <a:gd name="GluePoint16Y" fmla="*/ 71 h 119"/>
              <a:gd name="GluePoint17X" fmla="*/ 73 w 118"/>
              <a:gd name="GluePoint17Y" fmla="*/ 75 h 119"/>
              <a:gd name="GluePoint18X" fmla="*/ 77 w 118"/>
              <a:gd name="GluePoint18Y" fmla="*/ 79 h 119"/>
              <a:gd name="GluePoint19X" fmla="*/ 81 w 118"/>
              <a:gd name="GluePoint19Y" fmla="*/ 83 h 119"/>
              <a:gd name="GluePoint20X" fmla="*/ 85 w 118"/>
              <a:gd name="GluePoint20Y" fmla="*/ 87 h 119"/>
              <a:gd name="GluePoint21X" fmla="*/ 89 w 118"/>
              <a:gd name="GluePoint21Y" fmla="*/ 91 h 119"/>
              <a:gd name="GluePoint22X" fmla="*/ 93 w 118"/>
              <a:gd name="GluePoint22Y" fmla="*/ 95 h 119"/>
              <a:gd name="GluePoint23X" fmla="*/ 97 w 118"/>
              <a:gd name="GluePoint23Y" fmla="*/ 99 h 119"/>
              <a:gd name="GluePoint24X" fmla="*/ 101 w 118"/>
              <a:gd name="GluePoint24Y" fmla="*/ 103 h 119"/>
              <a:gd name="GluePoint25X" fmla="*/ 105 w 118"/>
              <a:gd name="GluePoint25Y" fmla="*/ 107 h 119"/>
              <a:gd name="GluePoint26X" fmla="*/ 109 w 118"/>
              <a:gd name="GluePoint26Y" fmla="*/ 111 h 119"/>
              <a:gd name="GluePoint27X" fmla="*/ 113 w 118"/>
              <a:gd name="GluePoint27Y" fmla="*/ 115 h 119"/>
              <a:gd name="GluePoint28X" fmla="*/ 117 w 118"/>
              <a:gd name="GluePoint28Y" fmla="*/ 119 h 119"/>
              <a:gd name="GluePoint29X" fmla="*/ 121 w 118"/>
              <a:gd name="GluePoint29Y" fmla="*/ 123 h 119"/>
              <a:gd name="GluePoint30X" fmla="*/ 125 w 118"/>
              <a:gd name="GluePoint30Y" fmla="*/ 127 h 119"/>
              <a:gd name="GluePoint31X" fmla="*/ 129 w 118"/>
              <a:gd name="GluePoint31Y" fmla="*/ 131 h 119"/>
              <a:gd name="GluePoint32X" fmla="*/ 133 w 118"/>
              <a:gd name="GluePoint32Y" fmla="*/ 135 h 119"/>
              <a:gd name="GluePoint33X" fmla="*/ 137 w 118"/>
              <a:gd name="GluePoint33Y" fmla="*/ 139 h 119"/>
              <a:gd name="GluePoint34X" fmla="*/ 141 w 118"/>
              <a:gd name="GluePoint34Y" fmla="*/ 143 h 119"/>
              <a:gd name="GluePoint35X" fmla="*/ 145 w 118"/>
              <a:gd name="GluePoint35Y" fmla="*/ 147 h 119"/>
              <a:gd name="GluePoint36X" fmla="*/ 149 w 118"/>
              <a:gd name="GluePoint36Y" fmla="*/ 151 h 119"/>
              <a:gd name="GluePoint37X" fmla="*/ 153 w 118"/>
              <a:gd name="GluePoint37Y" fmla="*/ 155 h 119"/>
              <a:gd name="GluePoint38X" fmla="*/ 157 w 118"/>
              <a:gd name="GluePoint38Y" fmla="*/ 159 h 119"/>
              <a:gd name="GluePoint39X" fmla="*/ 161 w 118"/>
              <a:gd name="GluePoint39Y" fmla="*/ 163 h 119"/>
              <a:gd name="GluePoint40X" fmla="*/ 165 w 118"/>
              <a:gd name="GluePoint40Y" fmla="*/ 167 h 119"/>
              <a:gd name="GluePoint41X" fmla="*/ 169 w 118"/>
              <a:gd name="GluePoint41Y" fmla="*/ 171 h 1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l" t="t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7"/>
          <a:stretch/>
        </p:blipFill>
        <p:spPr>
          <a:xfrm>
            <a:off x="8091360" y="227160"/>
            <a:ext cx="1710000" cy="13604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1181160" y="2716200"/>
            <a:ext cx="811044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8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52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MODELO ENTIDADE RELACIONAMENTO – MER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2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Parte 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574640" y="4487760"/>
            <a:ext cx="705672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03280" y="1108080"/>
            <a:ext cx="907236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br>
              <a:rPr sz="2200"/>
            </a:b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PUC MINAS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ENGENHARIA DE SOFTWARE 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Prof: Hayala Curto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/>
          <p:cNvPicPr/>
          <p:nvPr/>
        </p:nvPicPr>
        <p:blipFill>
          <a:blip r:embed="rId2"/>
          <a:stretch/>
        </p:blipFill>
        <p:spPr>
          <a:xfrm>
            <a:off x="4083120" y="30240"/>
            <a:ext cx="1914480" cy="12160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434880" y="1197000"/>
            <a:ext cx="91407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Os tipos de relacionamentos estão relacionados à um conceito denominado cardinalidade.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Cardinalidade:</a:t>
            </a: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 indica um número ao qual uma entidade pode estar associada a outra via um relacionamento.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Cardinalidade nos RELACIONAMENTOS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7560" lvl="1" indent="-228600">
              <a:lnSpc>
                <a:spcPct val="100000"/>
              </a:lnSpc>
              <a:spcBef>
                <a:spcPts val="388"/>
              </a:spcBef>
              <a:spcAft>
                <a:spcPts val="11"/>
              </a:spcAft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1:1 (um para um)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7560" lvl="1" indent="-228600">
              <a:lnSpc>
                <a:spcPct val="100000"/>
              </a:lnSpc>
              <a:spcBef>
                <a:spcPts val="388"/>
              </a:spcBef>
              <a:spcAft>
                <a:spcPts val="11"/>
              </a:spcAft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1:N (uma para muitos)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7560" lvl="1" indent="-228600">
              <a:lnSpc>
                <a:spcPct val="100000"/>
              </a:lnSpc>
              <a:spcBef>
                <a:spcPts val="388"/>
              </a:spcBef>
              <a:spcAft>
                <a:spcPts val="11"/>
              </a:spcAft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N:M ou N:N (muitos para muitos)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1:1 (lê-se UM PARA UM)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 relacionamento GERENCIA,  relaciona uma entidade DEPARTAMENTO com outra entidade EMPREGADO que gerencia esse departamento. Este relacionamento é 1:1, pois sabe-se que um empregado pode gerenciar apenas um departamento e que um departamento pode ter apenas um gerente.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34880" y="3787920"/>
            <a:ext cx="2065320" cy="952200"/>
          </a:xfrm>
          <a:prstGeom prst="rect">
            <a:avLst/>
          </a:prstGeom>
          <a:solidFill>
            <a:srgbClr val="243748"/>
          </a:solidFill>
          <a:ln w="12600">
            <a:solidFill>
              <a:srgbClr val="1726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EMPREGADO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786720" y="3787920"/>
            <a:ext cx="2619360" cy="952200"/>
          </a:xfrm>
          <a:prstGeom prst="rect">
            <a:avLst/>
          </a:prstGeom>
          <a:solidFill>
            <a:srgbClr val="243748"/>
          </a:solidFill>
          <a:ln w="12600">
            <a:solidFill>
              <a:srgbClr val="1726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DEPARTAMENTO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371760" y="3787920"/>
            <a:ext cx="2381400" cy="952200"/>
          </a:xfrm>
          <a:prstGeom prst="diamond">
            <a:avLst/>
          </a:prstGeom>
          <a:solidFill>
            <a:srgbClr val="C8E5D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gerencia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500200" y="4264200"/>
            <a:ext cx="87156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675400" y="4264200"/>
            <a:ext cx="111132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657520" y="3905280"/>
            <a:ext cx="318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310440" y="3905280"/>
            <a:ext cx="317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1:1 (lê-se UM PARA UM)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595440" y="1822320"/>
            <a:ext cx="8637480" cy="33339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1:N (lê-se UM PARA MUITOS)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 relacionamento TRABALHA-PARA existe entre as entidades EMPREGADO e DEPARTAMENTO. Este relacionamento associa cada empregado com o departamento em que este trabalha.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Muitos empregados podem trabalhar para um departamento mas um departamento pode ter vários empregados trabalhando nele.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34880" y="3787920"/>
            <a:ext cx="2065320" cy="952200"/>
          </a:xfrm>
          <a:prstGeom prst="rect">
            <a:avLst/>
          </a:prstGeom>
          <a:solidFill>
            <a:srgbClr val="243748"/>
          </a:solidFill>
          <a:ln w="12600">
            <a:solidFill>
              <a:srgbClr val="1726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EMPREGADO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786720" y="3787920"/>
            <a:ext cx="2619360" cy="952200"/>
          </a:xfrm>
          <a:prstGeom prst="rect">
            <a:avLst/>
          </a:prstGeom>
          <a:solidFill>
            <a:srgbClr val="243748"/>
          </a:solidFill>
          <a:ln w="12600">
            <a:solidFill>
              <a:srgbClr val="1726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DEPARTAMENTO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371760" y="3787920"/>
            <a:ext cx="2381400" cy="952200"/>
          </a:xfrm>
          <a:prstGeom prst="diamond">
            <a:avLst/>
          </a:prstGeom>
          <a:solidFill>
            <a:srgbClr val="C8E5D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trabalha_para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500200" y="4264200"/>
            <a:ext cx="87156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675400" y="4264200"/>
            <a:ext cx="111132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657520" y="3905280"/>
            <a:ext cx="318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310440" y="3905280"/>
            <a:ext cx="317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1:N (lê-se UM PARA MUITOS)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1149480" y="1763640"/>
            <a:ext cx="7991280" cy="35481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N:M (lê-se MUITOS PARA MUITOS)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 relacionamento TRABALHA-EM entre EMPREGADO e PROJETO tem a razão de cardinalidade M:N, considerando que um empregado pode trabalhar em diversos projetos e que um projeto pode ter  vários empregados trabalhando nele.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34880" y="3787920"/>
            <a:ext cx="2065320" cy="952200"/>
          </a:xfrm>
          <a:prstGeom prst="rect">
            <a:avLst/>
          </a:prstGeom>
          <a:solidFill>
            <a:srgbClr val="243748"/>
          </a:solidFill>
          <a:ln w="12600">
            <a:solidFill>
              <a:srgbClr val="1726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EMPREGADO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786720" y="3787920"/>
            <a:ext cx="2619360" cy="952200"/>
          </a:xfrm>
          <a:prstGeom prst="rect">
            <a:avLst/>
          </a:prstGeom>
          <a:solidFill>
            <a:srgbClr val="243748"/>
          </a:solidFill>
          <a:ln w="12600">
            <a:solidFill>
              <a:srgbClr val="1726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1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PROJETO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371760" y="3787920"/>
            <a:ext cx="2381400" cy="952200"/>
          </a:xfrm>
          <a:prstGeom prst="diamond">
            <a:avLst/>
          </a:prstGeom>
          <a:solidFill>
            <a:srgbClr val="C8E5D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trabalha _em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2500200" y="4264200"/>
            <a:ext cx="87156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675400" y="4264200"/>
            <a:ext cx="111132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657520" y="3905280"/>
            <a:ext cx="318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310440" y="3905280"/>
            <a:ext cx="317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RELACIONAMENTO N:M (lê-se MUITOS PARA MUITOS)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1387440" y="2060640"/>
            <a:ext cx="7236000" cy="32194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357120" y="1197000"/>
            <a:ext cx="944568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sng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NOTAÇÃO DE PAR DE CARDINALIDADES (MÍN, MÁX)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Alguns livros trazem a notação de par de cardinalidade, que se define através da atribuição de um valor mínimo e um valor máximo para os tipos de relacionamentos existentes.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654120" y="2928960"/>
            <a:ext cx="8771040" cy="232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8136000" y="3673440"/>
            <a:ext cx="476280" cy="41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8136000" y="3728880"/>
            <a:ext cx="1440" cy="363600"/>
          </a:xfrm>
          <a:prstGeom prst="line">
            <a:avLst/>
          </a:prstGeom>
          <a:ln w="28440">
            <a:solidFill>
              <a:srgbClr val="7F7F7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515880" y="1197000"/>
            <a:ext cx="92059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AUTO RELACIONAMENTO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Também chamados de </a:t>
            </a:r>
            <a:r>
              <a:rPr lang="pt-BR" sz="2600" b="0" u="sng" strike="noStrike">
                <a:solidFill>
                  <a:srgbClr val="FF0000"/>
                </a:solidFill>
                <a:effectLst/>
                <a:uFillTx/>
                <a:latin typeface="Perpetua"/>
                <a:ea typeface="Arial Unicode MS"/>
              </a:rPr>
              <a:t>relacionamentos recursivos</a:t>
            </a: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No auto relacionamento </a:t>
            </a: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uma entidade relaciona com ela mesma </a:t>
            </a: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e também possui cardinalidades.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Cada tipo de entidade que participa de um tipo de relacionamento recursivo possui um </a:t>
            </a: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 Unicode MS"/>
              </a:rPr>
              <a:t>papel</a:t>
            </a: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 </a:t>
            </a: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específico. O </a:t>
            </a: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nome do papel </a:t>
            </a: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indica a participação de uma entidade no relacionamento.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96920" y="0"/>
            <a:ext cx="96854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TIPOS DE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/>
          <p:cNvPicPr/>
          <p:nvPr/>
        </p:nvPicPr>
        <p:blipFill>
          <a:blip r:embed="rId1"/>
          <a:stretch/>
        </p:blipFill>
        <p:spPr>
          <a:xfrm>
            <a:off x="515880" y="2954160"/>
            <a:ext cx="4500720" cy="255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196920" y="0"/>
            <a:ext cx="988200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AUTO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15880" y="1047600"/>
            <a:ext cx="92059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AUTO RELACIONAMENTO (1:N)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 relacionamento SUPERVISIONA relaciona um empregado com o seu supervisor, onde ambas entidades são membros do mesmo tipo de entidade EMPREGADO. Assim, o tipo de entidade EMPREGADO participa duas vezes: uma vez no papel de supervisor e outra no papel de supervisionado. Assim, e1 supervisiona e2, e2 supervisiona e3 e e1 supervisiona e4.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2"/>
          <a:stretch/>
        </p:blipFill>
        <p:spPr>
          <a:xfrm>
            <a:off x="5040360" y="3003480"/>
            <a:ext cx="4048200" cy="245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8929800" y="5095800"/>
            <a:ext cx="476280" cy="41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"/>
          <p:cNvPicPr/>
          <p:nvPr/>
        </p:nvPicPr>
        <p:blipFill>
          <a:blip r:embed="rId1"/>
          <a:stretch/>
        </p:blipFill>
        <p:spPr>
          <a:xfrm>
            <a:off x="2103480" y="1801800"/>
            <a:ext cx="6051600" cy="111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"/>
          <p:cNvSpPr/>
          <p:nvPr/>
        </p:nvSpPr>
        <p:spPr>
          <a:xfrm>
            <a:off x="434880" y="0"/>
            <a:ext cx="920916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AUTO RELACIONAMENTO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34880" y="1197000"/>
            <a:ext cx="920916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AUTO RELACIONAMENTOS (N:M) e (1:1)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    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possui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              </a:t>
            </a: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	</a:t>
            </a: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      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casa                   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   é_casada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/>
          <p:cNvPicPr/>
          <p:nvPr/>
        </p:nvPicPr>
        <p:blipFill>
          <a:blip r:embed="rId2"/>
          <a:srcRect l="59054" t="0" r="10996" b="4604"/>
          <a:stretch/>
        </p:blipFill>
        <p:spPr>
          <a:xfrm>
            <a:off x="3770280" y="3370320"/>
            <a:ext cx="2263680" cy="21430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593640" y="1197000"/>
            <a:ext cx="89805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ATRIBUTOS EM RELACIONAMENTOS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Os relacionamentos também podem ter atributos.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3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Ex. 1: Pode haver a necessidade de se representar a quantidade de </a:t>
            </a:r>
            <a:r>
              <a:rPr lang="pt-BR" sz="23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horas semanais</a:t>
            </a:r>
            <a:r>
              <a:rPr lang="pt-BR" sz="23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 trabalhadas por um empregado em um dado projeto. Isto pode ser representado no relacionamento TRABALHA-EM na forma do atributo denominado Horas. 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34880" y="0"/>
            <a:ext cx="920916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OBSERVAÇÃO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rcRect l="30413" t="38017" r="28246" b="46497"/>
          <a:stretch/>
        </p:blipFill>
        <p:spPr>
          <a:xfrm>
            <a:off x="595440" y="3629160"/>
            <a:ext cx="9151920" cy="16081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515880" y="1197000"/>
            <a:ext cx="91281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1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ATRIBUTOS EM RELACIONAMENTOS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880" indent="-272880">
              <a:lnSpc>
                <a:spcPct val="100000"/>
              </a:lnSpc>
              <a:spcBef>
                <a:spcPts val="587"/>
              </a:spcBef>
              <a:spcAft>
                <a:spcPts val="11"/>
              </a:spcAft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Perpetua"/>
                <a:ea typeface="Arial Unicode MS"/>
              </a:rPr>
              <a:t>Outro exemplo é o caso de representar a data em que um gerente começou a gerenciar um departamento através de um atributo DataInício para o tipo de relacionamento GERENCIA, pois pode ser necessário trocar de gerente a cada 2 anos, por exemplo.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34880" y="0"/>
            <a:ext cx="920916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45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MER – OBSERVAÇÃO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rcRect l="30413" t="53508" r="28246" b="28540"/>
          <a:stretch/>
        </p:blipFill>
        <p:spPr>
          <a:xfrm>
            <a:off x="833400" y="3311640"/>
            <a:ext cx="8413920" cy="17128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"/>
          <p:cNvPicPr/>
          <p:nvPr/>
        </p:nvPicPr>
        <p:blipFill>
          <a:blip r:embed="rId1"/>
          <a:srcRect l="0" t="0" r="0" b="9727"/>
          <a:stretch/>
        </p:blipFill>
        <p:spPr>
          <a:xfrm>
            <a:off x="1944720" y="95400"/>
            <a:ext cx="7710480" cy="535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357120" y="1584360"/>
            <a:ext cx="397080" cy="31402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>
            <a:off x="276120" y="274680"/>
            <a:ext cx="9606240" cy="42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Exercícios - Modelo Entidade Relacionamento (MER)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OBS.: Identificar os </a:t>
            </a:r>
            <a:r>
              <a:rPr lang="pt-BR" sz="1500" b="0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atributos chaves e as cardinalidades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em todos os diagramas.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Uma 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cia de seguros de automóveis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que tem um conjunto de clientes (tendo nome, CPF, endereço e telefone(s)), cada um deles proprietário de um ou mais carros (fabricante, modelo, ano, placa, estado). Cada carro está associado a nenhum ou vários registros de acidentes (data, número do BO). Um acidente pode envolver não apenas um, mas vários carros. Identifique os atributos chaves de todas as entidades do modelo.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Uma prefeitura deseja ter os seguintes dados a respeito dos condomínios da cidade: os dados de cada 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empresa administradora de condomínios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que possui, por exemplo, um nome, endereço e uma descrição. Cada administradora administra condomínios (cada um com um nome e endereço) formados por unidades condominiais (cada uma com um nome). Cada unidade condominial é de propriedade de uma ou mais pessoas (nome e CPF). Uma pessoa pode possuir ou alugar diversas unidades. Cada unidade pode estar alugada para no máximo uma pessoa.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357120" y="393840"/>
            <a:ext cx="9445680" cy="42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Exercícios - Modelo Entidade Relacionamento (MER)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OBS.: Identificar os </a:t>
            </a:r>
            <a:r>
              <a:rPr lang="pt-BR" sz="1500" b="0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atributos chaves e as cardinalidades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em todos os diagramas.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Numa </a:t>
            </a:r>
            <a:r>
              <a:rPr lang="pt-BR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empresa</a:t>
            </a:r>
            <a:r>
              <a: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os funcionários são descritos por um nome, número do CPF, salário, endereço (logradouro, número, bairro, cidade), data de nascimento e sexo. Tanto o número do CPF possui valor exclusivo para cada funcionário. Os funcionários pertencem a departamentos da empresa. Cada departamento possui um nome, um número, uma localização e uma sigla que o identifica. Esta sigla é exclusiva de cada departamento. Cada departamento é supervisionado por um funcionário da empresa. É necessário saber a data de início da supervisão, para que a cada dois anos haja substituições. Os departamentos possuem projetos associados. Cada projeto é identificado por um nome, um código e um número de funcionários alocados. O código do projeto é exclusivo para cada um deles. Os funcionários da empresa trabalham em projetos, e o número de horas dedicadas a um determinado projeto deve ser armazenado no BD.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2012-03-07T22:04:59Z</dcterms:created>
  <dc:creator>Luciana</dc:creator>
  <dc:description/>
  <dc:language>en-US</dc:language>
  <cp:lastModifiedBy/>
  <dcterms:modified xsi:type="dcterms:W3CDTF">2026-08-10T13:10:57Z</dcterms:modified>
  <cp:revision>128</cp:revision>
  <dc:subject/>
  <dc:title>Universidade Federal de Viçosa/ Campus Florestal Tecnologia em Análise e Desenvolvimento de Sistemas Disciplina: Banco de Dados – TDS 320 – 1º semestre 2012 Profa: Luciana Mara Freitas Diniz</dc:title>
</cp:coreProperties>
</file>