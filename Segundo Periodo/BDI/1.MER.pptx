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8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22.xml" ContentType="application/vnd.openxmlformats-officedocument.presentationml.slide+xml"/>
  <Override PartName="/ppt/slides/slide40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34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6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31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35.xml" ContentType="application/vnd.openxmlformats-officedocument.presentationml.slide+xml"/>
  <Override PartName="/ppt/slides/slide29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52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1219320">
              <a:lnSpc>
                <a:spcPct val="86000"/>
              </a:lnSpc>
            </a:pPr>
            <a:r>
              <a:rPr lang="en-US" sz="5400" b="0" u="none" spc="-54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Click to move the slide</a:t>
            </a:r>
            <a:endParaRPr lang="en-US" sz="5400" b="0" u="none" spc="-54" strike="noStrike">
              <a:solidFill>
                <a:schemeClr val="dk1"/>
              </a:solidFill>
              <a:effectLst/>
              <a:uFillTx/>
              <a:latin typeface="Open Sans Light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1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1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1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DBC1D6F-8B98-432F-B9A0-BAA6C06F1033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Object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8"/>
          <p:cNvSpPr/>
          <p:nvPr/>
        </p:nvSpPr>
        <p:spPr>
          <a:xfrm>
            <a:off x="0" y="0"/>
            <a:ext cx="1219068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Retângulo de cantos arredondados 7"/>
          <p:cNvSpPr/>
          <p:nvPr/>
        </p:nvSpPr>
        <p:spPr>
          <a:xfrm>
            <a:off x="84240" y="69840"/>
            <a:ext cx="12017160" cy="6692040"/>
          </a:xfrm>
          <a:prstGeom prst="roundRect">
            <a:avLst>
              <a:gd name="adj" fmla="val 4929"/>
            </a:avLst>
          </a:prstGeom>
          <a:noFill/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8960" y="27468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000" b="0" u="none" strike="noStrike">
                <a:solidFill>
                  <a:schemeClr val="dk2"/>
                </a:solidFill>
                <a:effectLst/>
                <a:uFillTx/>
                <a:latin typeface="Franklin Gothic Book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000" b="0" u="none" strike="noStrike">
                <a:solidFill>
                  <a:schemeClr val="dk2"/>
                </a:solidFill>
                <a:effectLst/>
                <a:uFillTx/>
                <a:latin typeface="Franklin Gothic Book"/>
                <a:ea typeface="Arial"/>
              </a:rPr>
              <a:t>Clique para editar o estilo do título mestre</a:t>
            </a:r>
            <a:endParaRPr lang="pt-BR" sz="40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218960" y="1447920"/>
            <a:ext cx="1036188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def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1pPr>
            <a:lvl2pPr lvl="1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2pPr>
            <a:lvl3pPr lvl="2" algn="l" defTabSz="914400">
              <a:lnSpc>
                <a:spcPct val="100000"/>
              </a:lnSpc>
              <a:spcBef>
                <a:spcPts val="374"/>
              </a:spcBef>
              <a:buClr>
                <a:srgbClr val="D4C3CF"/>
              </a:buClr>
              <a:buSzPct val="85000"/>
              <a:buFont typeface="Wingdings 2" charset="2"/>
              <a:buChar char="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3pPr>
            <a:lvl4pPr lvl="3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Wingdings 2" charset="2"/>
              <a:buChar char="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4pPr>
            <a:lvl5pPr lvl="4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OpenSymbol"/>
              <a:buChar char="o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5pPr>
          </a:lstStyle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Clique para editar os estilos do texto mestre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822240" lvl="2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D4C3CF"/>
              </a:buClr>
              <a:buSzPct val="85000"/>
              <a:buFont typeface="Wingdings 2" charset="2"/>
              <a:buChar char="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1096920" lvl="3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Wingdings 2" charset="2"/>
              <a:buChar char="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1371600" lvl="4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OpenSymbol"/>
              <a:buChar char="o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1"/>
          </p:nvPr>
        </p:nvSpPr>
        <p:spPr>
          <a:xfrm>
            <a:off x="8229240" y="6191280"/>
            <a:ext cx="3300840" cy="47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2"/>
          </p:nvPr>
        </p:nvSpPr>
        <p:spPr>
          <a:xfrm>
            <a:off x="1218960" y="6172200"/>
            <a:ext cx="52822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3"/>
          </p:nvPr>
        </p:nvSpPr>
        <p:spPr>
          <a:xfrm>
            <a:off x="195120" y="6210360"/>
            <a:ext cx="608400" cy="4564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37083FFF-55A6-4A8D-95EB-6BC293ECF89D}" type="slidenum"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  <a:ea typeface="Arial"/>
              </a:rPr>
              <a:t>26</a:t>
            </a:fld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Patrimônio Líquid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 hidden="1"/>
          <p:cNvSpPr/>
          <p:nvPr/>
        </p:nvSpPr>
        <p:spPr>
          <a:xfrm>
            <a:off x="0" y="0"/>
            <a:ext cx="1219068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Retângulo de cantos arredondados 7" hidden="1"/>
          <p:cNvSpPr/>
          <p:nvPr/>
        </p:nvSpPr>
        <p:spPr>
          <a:xfrm>
            <a:off x="84240" y="69840"/>
            <a:ext cx="12017160" cy="6692040"/>
          </a:xfrm>
          <a:prstGeom prst="roundRect">
            <a:avLst>
              <a:gd name="adj" fmla="val 4929"/>
            </a:avLst>
          </a:prstGeom>
          <a:noFill/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Retângulo 1"/>
          <p:cNvSpPr/>
          <p:nvPr/>
        </p:nvSpPr>
        <p:spPr>
          <a:xfrm>
            <a:off x="0" y="0"/>
            <a:ext cx="1219068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Retângulo de cantos arredondados 10"/>
          <p:cNvSpPr/>
          <p:nvPr/>
        </p:nvSpPr>
        <p:spPr>
          <a:xfrm>
            <a:off x="86400" y="69840"/>
            <a:ext cx="12017160" cy="6690600"/>
          </a:xfrm>
          <a:prstGeom prst="roundRect">
            <a:avLst>
              <a:gd name="adj" fmla="val 4929"/>
            </a:avLst>
          </a:prstGeom>
          <a:noFill/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Retângulo 4"/>
          <p:cNvSpPr/>
          <p:nvPr/>
        </p:nvSpPr>
        <p:spPr>
          <a:xfrm>
            <a:off x="84240" y="1449360"/>
            <a:ext cx="12025800" cy="15264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Retângulo 5"/>
          <p:cNvSpPr/>
          <p:nvPr/>
        </p:nvSpPr>
        <p:spPr>
          <a:xfrm>
            <a:off x="84240" y="1397160"/>
            <a:ext cx="12025800" cy="119880"/>
          </a:xfrm>
          <a:prstGeom prst="rect">
            <a:avLst/>
          </a:prstGeom>
          <a:solidFill>
            <a:srgbClr val="ACAEB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Retângulo 6"/>
          <p:cNvSpPr/>
          <p:nvPr/>
        </p:nvSpPr>
        <p:spPr>
          <a:xfrm>
            <a:off x="84240" y="2976480"/>
            <a:ext cx="12025800" cy="110520"/>
          </a:xfrm>
          <a:prstGeom prst="rect">
            <a:avLst/>
          </a:prstGeom>
          <a:solidFill>
            <a:srgbClr val="84AC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218960" y="27468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000" b="0" u="none" strike="noStrike">
                <a:solidFill>
                  <a:schemeClr val="dk2"/>
                </a:solidFill>
                <a:effectLst/>
                <a:uFillTx/>
                <a:latin typeface="Franklin Gothic Book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000" b="0" u="none" strike="noStrike">
                <a:solidFill>
                  <a:schemeClr val="dk2"/>
                </a:solidFill>
                <a:effectLst/>
                <a:uFillTx/>
                <a:latin typeface="Franklin Gothic Book"/>
                <a:ea typeface="Arial"/>
              </a:rPr>
              <a:t>Clique para editar o estilo do título mestre</a:t>
            </a:r>
            <a:endParaRPr lang="pt-BR" sz="40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218960" y="1447920"/>
            <a:ext cx="1036188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def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1pPr>
            <a:lvl2pPr lvl="1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2pPr>
            <a:lvl3pPr lvl="2" algn="l" defTabSz="914400">
              <a:lnSpc>
                <a:spcPct val="100000"/>
              </a:lnSpc>
              <a:spcBef>
                <a:spcPts val="374"/>
              </a:spcBef>
              <a:buClr>
                <a:srgbClr val="D4C3CF"/>
              </a:buClr>
              <a:buSzPct val="85000"/>
              <a:buFont typeface="Wingdings 2" charset="2"/>
              <a:buChar char="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3pPr>
            <a:lvl4pPr lvl="3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Wingdings 2" charset="2"/>
              <a:buChar char="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4pPr>
            <a:lvl5pPr lvl="4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OpenSymbol"/>
              <a:buChar char="o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5pPr>
          </a:lstStyle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Clique para editar os estilos do texto mestre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822240" lvl="2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D4C3CF"/>
              </a:buClr>
              <a:buSzPct val="85000"/>
              <a:buFont typeface="Wingdings 2" charset="2"/>
              <a:buChar char="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1096920" lvl="3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Wingdings 2" charset="2"/>
              <a:buChar char="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1371600" lvl="4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OpenSymbol"/>
              <a:buChar char="o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8229240" y="6191280"/>
            <a:ext cx="3300840" cy="47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chemeClr val="dk2"/>
                </a:solidFill>
                <a:effectLst/>
                <a:uFillTx/>
                <a:latin typeface="Perpetua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Perpetua"/>
                <a:ea typeface="Arial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1218960" y="6172200"/>
            <a:ext cx="52822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195120" y="6210360"/>
            <a:ext cx="608400" cy="4564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24B6692C-77EA-4931-8222-324F1F8B82EC}" type="slidenum"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  <a:ea typeface="Arial"/>
              </a:rPr>
              <a:t>26</a:t>
            </a:fld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Patrimônio Líquid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8" hidden="1"/>
          <p:cNvSpPr/>
          <p:nvPr/>
        </p:nvSpPr>
        <p:spPr>
          <a:xfrm>
            <a:off x="0" y="0"/>
            <a:ext cx="1219068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Retângulo de cantos arredondados 7" hidden="1"/>
          <p:cNvSpPr/>
          <p:nvPr/>
        </p:nvSpPr>
        <p:spPr>
          <a:xfrm>
            <a:off x="84240" y="69840"/>
            <a:ext cx="12017160" cy="6692040"/>
          </a:xfrm>
          <a:prstGeom prst="roundRect">
            <a:avLst>
              <a:gd name="adj" fmla="val 4929"/>
            </a:avLst>
          </a:prstGeom>
          <a:noFill/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Retângulo 1"/>
          <p:cNvSpPr/>
          <p:nvPr/>
        </p:nvSpPr>
        <p:spPr>
          <a:xfrm>
            <a:off x="0" y="0"/>
            <a:ext cx="1219068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4" name="Retângulo de cantos arredondados 10"/>
          <p:cNvGrpSpPr/>
          <p:nvPr/>
        </p:nvGrpSpPr>
        <p:grpSpPr>
          <a:xfrm>
            <a:off x="88560" y="66600"/>
            <a:ext cx="12021480" cy="6698520"/>
            <a:chOff x="88560" y="66600"/>
            <a:chExt cx="12021480" cy="6698520"/>
          </a:xfrm>
        </p:grpSpPr>
        <p:pic>
          <p:nvPicPr>
            <p:cNvPr id="25" name="Retângulo de cantos arredondados 10"/>
            <p:cNvPicPr/>
            <p:nvPr/>
          </p:nvPicPr>
          <p:blipFill>
            <a:blip r:embed="rId3"/>
            <a:stretch/>
          </p:blipFill>
          <p:spPr>
            <a:xfrm>
              <a:off x="88560" y="66600"/>
              <a:ext cx="12021480" cy="6698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" name="Shape 3076"/>
            <p:cNvSpPr/>
            <p:nvPr/>
          </p:nvSpPr>
          <p:spPr>
            <a:xfrm>
              <a:off x="215640" y="166680"/>
              <a:ext cx="11759040" cy="649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45000" rIns="2520" bIns="45000" anchor="ctr">
              <a:noAutofit/>
            </a:bodyPr>
            <a:p>
              <a:endParaRPr lang="pt-BR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" name="Retângulo 4"/>
          <p:cNvSpPr/>
          <p:nvPr/>
        </p:nvSpPr>
        <p:spPr>
          <a:xfrm flipV="1">
            <a:off x="92880" y="2374920"/>
            <a:ext cx="12017160" cy="914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Retângulo 5"/>
          <p:cNvSpPr/>
          <p:nvPr/>
        </p:nvSpPr>
        <p:spPr>
          <a:xfrm>
            <a:off x="92880" y="2341440"/>
            <a:ext cx="12017160" cy="45360"/>
          </a:xfrm>
          <a:prstGeom prst="rect">
            <a:avLst/>
          </a:prstGeom>
          <a:solidFill>
            <a:srgbClr val="ACAEB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Retângulo 6"/>
          <p:cNvSpPr/>
          <p:nvPr/>
        </p:nvSpPr>
        <p:spPr>
          <a:xfrm>
            <a:off x="90720" y="2468520"/>
            <a:ext cx="12019680" cy="45360"/>
          </a:xfrm>
          <a:prstGeom prst="rect">
            <a:avLst/>
          </a:prstGeom>
          <a:solidFill>
            <a:srgbClr val="84AC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218960" y="27468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000" b="0" u="none" strike="noStrike">
                <a:solidFill>
                  <a:schemeClr val="dk2"/>
                </a:solidFill>
                <a:effectLst/>
                <a:uFillTx/>
                <a:latin typeface="Franklin Gothic Book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000" b="0" u="none" strike="noStrike">
                <a:solidFill>
                  <a:schemeClr val="dk2"/>
                </a:solidFill>
                <a:effectLst/>
                <a:uFillTx/>
                <a:latin typeface="Franklin Gothic Book"/>
                <a:ea typeface="Arial"/>
              </a:rPr>
              <a:t>Clique para editar o estilo do título mestre</a:t>
            </a:r>
            <a:endParaRPr lang="pt-BR" sz="40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218960" y="1447920"/>
            <a:ext cx="1036188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def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1pPr>
            <a:lvl2pPr lvl="1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2pPr>
            <a:lvl3pPr lvl="2" algn="l" defTabSz="914400">
              <a:lnSpc>
                <a:spcPct val="100000"/>
              </a:lnSpc>
              <a:spcBef>
                <a:spcPts val="374"/>
              </a:spcBef>
              <a:buClr>
                <a:srgbClr val="D4C3CF"/>
              </a:buClr>
              <a:buSzPct val="85000"/>
              <a:buFont typeface="Wingdings 2" charset="2"/>
              <a:buChar char="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3pPr>
            <a:lvl4pPr lvl="3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Wingdings 2" charset="2"/>
              <a:buChar char="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4pPr>
            <a:lvl5pPr lvl="4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OpenSymbol"/>
              <a:buChar char="o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5pPr>
          </a:lstStyle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Clique para editar os estilos do texto mestre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822240" lvl="2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D4C3CF"/>
              </a:buClr>
              <a:buSzPct val="85000"/>
              <a:buFont typeface="Wingdings 2" charset="2"/>
              <a:buChar char="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1096920" lvl="3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Wingdings 2" charset="2"/>
              <a:buChar char="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1371600" lvl="4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OpenSymbol"/>
              <a:buChar char="o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7"/>
          </p:nvPr>
        </p:nvSpPr>
        <p:spPr>
          <a:xfrm>
            <a:off x="8229240" y="6191280"/>
            <a:ext cx="3300840" cy="47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chemeClr val="dk2"/>
                </a:solidFill>
                <a:effectLst/>
                <a:uFillTx/>
                <a:latin typeface="Perpetua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Perpetua"/>
                <a:ea typeface="Arial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8"/>
          </p:nvPr>
        </p:nvSpPr>
        <p:spPr>
          <a:xfrm>
            <a:off x="1066680" y="6172200"/>
            <a:ext cx="53330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9"/>
          </p:nvPr>
        </p:nvSpPr>
        <p:spPr>
          <a:xfrm>
            <a:off x="195120" y="6208560"/>
            <a:ext cx="608400" cy="4564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21807F60-083F-42E7-949E-A6A69BA924C5}" type="slidenum"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  <a:ea typeface="Arial"/>
              </a:rPr>
              <a:t>26</a:t>
            </a:fld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3_Patrimônio Líqui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ângulo 8" hidden="1"/>
          <p:cNvSpPr/>
          <p:nvPr/>
        </p:nvSpPr>
        <p:spPr>
          <a:xfrm>
            <a:off x="0" y="0"/>
            <a:ext cx="1219068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Retângulo de cantos arredondados 7" hidden="1"/>
          <p:cNvSpPr/>
          <p:nvPr/>
        </p:nvSpPr>
        <p:spPr>
          <a:xfrm>
            <a:off x="84240" y="69840"/>
            <a:ext cx="12017160" cy="6692040"/>
          </a:xfrm>
          <a:prstGeom prst="roundRect">
            <a:avLst>
              <a:gd name="adj" fmla="val 4929"/>
            </a:avLst>
          </a:prstGeom>
          <a:noFill/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Retângulo 8"/>
          <p:cNvSpPr/>
          <p:nvPr/>
        </p:nvSpPr>
        <p:spPr>
          <a:xfrm>
            <a:off x="0" y="0"/>
            <a:ext cx="1219068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Retângulo de cantos arredondados 7"/>
          <p:cNvSpPr/>
          <p:nvPr/>
        </p:nvSpPr>
        <p:spPr>
          <a:xfrm>
            <a:off x="84240" y="69840"/>
            <a:ext cx="12017160" cy="6692040"/>
          </a:xfrm>
          <a:prstGeom prst="roundRect">
            <a:avLst>
              <a:gd name="adj" fmla="val 4929"/>
            </a:avLst>
          </a:prstGeom>
          <a:noFill/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Retângulo 1"/>
          <p:cNvSpPr/>
          <p:nvPr/>
        </p:nvSpPr>
        <p:spPr>
          <a:xfrm>
            <a:off x="0" y="0"/>
            <a:ext cx="1219068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Retângulo de cantos arredondados 10"/>
          <p:cNvSpPr/>
          <p:nvPr/>
        </p:nvSpPr>
        <p:spPr>
          <a:xfrm>
            <a:off x="84240" y="69840"/>
            <a:ext cx="12017160" cy="6692040"/>
          </a:xfrm>
          <a:prstGeom prst="roundRect">
            <a:avLst>
              <a:gd name="adj" fmla="val 4929"/>
            </a:avLst>
          </a:prstGeom>
          <a:noFill/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218960" y="27468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000" b="0" u="none" strike="noStrike">
                <a:solidFill>
                  <a:schemeClr val="dk2"/>
                </a:solidFill>
                <a:effectLst/>
                <a:uFillTx/>
                <a:latin typeface="Franklin Gothic Book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000" b="0" u="none" strike="noStrike">
                <a:solidFill>
                  <a:schemeClr val="dk2"/>
                </a:solidFill>
                <a:effectLst/>
                <a:uFillTx/>
                <a:latin typeface="Franklin Gothic Book"/>
                <a:ea typeface="Arial"/>
              </a:rPr>
              <a:t>Clique para editar o estilo do título mestre</a:t>
            </a:r>
            <a:endParaRPr lang="pt-BR" sz="40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218960" y="1447920"/>
            <a:ext cx="1036188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def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1pPr>
            <a:lvl2pPr lvl="1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2pPr>
            <a:lvl3pPr lvl="2" algn="l" defTabSz="914400">
              <a:lnSpc>
                <a:spcPct val="100000"/>
              </a:lnSpc>
              <a:spcBef>
                <a:spcPts val="374"/>
              </a:spcBef>
              <a:buClr>
                <a:srgbClr val="D4C3CF"/>
              </a:buClr>
              <a:buSzPct val="85000"/>
              <a:buFont typeface="Wingdings 2" charset="2"/>
              <a:buChar char="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3pPr>
            <a:lvl4pPr lvl="3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Wingdings 2" charset="2"/>
              <a:buChar char="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4pPr>
            <a:lvl5pPr lvl="4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OpenSymbol"/>
              <a:buChar char="o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5pPr>
          </a:lstStyle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Clique para editar os estilos do texto mestre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822240" lvl="2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D4C3CF"/>
              </a:buClr>
              <a:buSzPct val="85000"/>
              <a:buFont typeface="Wingdings 2" charset="2"/>
              <a:buChar char="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1096920" lvl="3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Wingdings 2" charset="2"/>
              <a:buChar char="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1371600" lvl="4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OpenSymbol"/>
              <a:buChar char="o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10"/>
          </p:nvPr>
        </p:nvSpPr>
        <p:spPr>
          <a:xfrm>
            <a:off x="8229240" y="6191280"/>
            <a:ext cx="3300840" cy="47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chemeClr val="dk2"/>
                </a:solidFill>
                <a:effectLst/>
                <a:uFillTx/>
                <a:latin typeface="Perpetua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Perpetua"/>
                <a:ea typeface="Arial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11"/>
          </p:nvPr>
        </p:nvSpPr>
        <p:spPr>
          <a:xfrm>
            <a:off x="1218960" y="6172200"/>
            <a:ext cx="52822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12"/>
          </p:nvPr>
        </p:nvSpPr>
        <p:spPr>
          <a:xfrm>
            <a:off x="195120" y="6210360"/>
            <a:ext cx="608400" cy="4564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42F5A71E-8891-4D0B-9055-4DE878B2FEA1}" type="slidenum"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  <a:ea typeface="Arial"/>
              </a:rPr>
              <a:t>26</a:t>
            </a:fld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4_Patrimônio Líqui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8" hidden="1"/>
          <p:cNvSpPr/>
          <p:nvPr/>
        </p:nvSpPr>
        <p:spPr>
          <a:xfrm>
            <a:off x="0" y="0"/>
            <a:ext cx="1219068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Retângulo de cantos arredondados 7" hidden="1"/>
          <p:cNvSpPr/>
          <p:nvPr/>
        </p:nvSpPr>
        <p:spPr>
          <a:xfrm>
            <a:off x="84240" y="69840"/>
            <a:ext cx="12017160" cy="6692040"/>
          </a:xfrm>
          <a:prstGeom prst="roundRect">
            <a:avLst>
              <a:gd name="adj" fmla="val 4929"/>
            </a:avLst>
          </a:prstGeom>
          <a:noFill/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Retângulo 8"/>
          <p:cNvSpPr/>
          <p:nvPr/>
        </p:nvSpPr>
        <p:spPr>
          <a:xfrm>
            <a:off x="0" y="0"/>
            <a:ext cx="1219068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Retângulo de cantos arredondados 7"/>
          <p:cNvSpPr/>
          <p:nvPr/>
        </p:nvSpPr>
        <p:spPr>
          <a:xfrm>
            <a:off x="84240" y="69840"/>
            <a:ext cx="12017160" cy="6692040"/>
          </a:xfrm>
          <a:prstGeom prst="roundRect">
            <a:avLst>
              <a:gd name="adj" fmla="val 4929"/>
            </a:avLst>
          </a:prstGeom>
          <a:noFill/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Retângulo 1"/>
          <p:cNvSpPr/>
          <p:nvPr/>
        </p:nvSpPr>
        <p:spPr>
          <a:xfrm flipV="1">
            <a:off x="90720" y="4681800"/>
            <a:ext cx="12008880" cy="914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Retângulo 3"/>
          <p:cNvSpPr/>
          <p:nvPr/>
        </p:nvSpPr>
        <p:spPr>
          <a:xfrm>
            <a:off x="90720" y="4649760"/>
            <a:ext cx="12008880" cy="45360"/>
          </a:xfrm>
          <a:prstGeom prst="rect">
            <a:avLst/>
          </a:prstGeom>
          <a:solidFill>
            <a:srgbClr val="ACAEB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Retângulo 4"/>
          <p:cNvSpPr/>
          <p:nvPr/>
        </p:nvSpPr>
        <p:spPr>
          <a:xfrm>
            <a:off x="90720" y="4773600"/>
            <a:ext cx="12008880" cy="46800"/>
          </a:xfrm>
          <a:prstGeom prst="rect">
            <a:avLst/>
          </a:prstGeom>
          <a:solidFill>
            <a:srgbClr val="84AC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3400" rIns="90000" bIns="234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218960" y="27468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000" b="0" u="none" strike="noStrike">
                <a:solidFill>
                  <a:schemeClr val="dk2"/>
                </a:solidFill>
                <a:effectLst/>
                <a:uFillTx/>
                <a:latin typeface="Franklin Gothic Book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000" b="0" u="none" strike="noStrike">
                <a:solidFill>
                  <a:schemeClr val="dk2"/>
                </a:solidFill>
                <a:effectLst/>
                <a:uFillTx/>
                <a:latin typeface="Franklin Gothic Book"/>
                <a:ea typeface="Arial"/>
              </a:rPr>
              <a:t>Clique para editar o estilo do título mestre</a:t>
            </a:r>
            <a:endParaRPr lang="pt-BR" sz="40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218960" y="1447920"/>
            <a:ext cx="1036188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def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1pPr>
            <a:lvl2pPr lvl="1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2pPr>
            <a:lvl3pPr lvl="2" algn="l" defTabSz="914400">
              <a:lnSpc>
                <a:spcPct val="100000"/>
              </a:lnSpc>
              <a:spcBef>
                <a:spcPts val="374"/>
              </a:spcBef>
              <a:buClr>
                <a:srgbClr val="D4C3CF"/>
              </a:buClr>
              <a:buSzPct val="85000"/>
              <a:buFont typeface="Wingdings 2" charset="2"/>
              <a:buChar char="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3pPr>
            <a:lvl4pPr lvl="3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Wingdings 2" charset="2"/>
              <a:buChar char="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4pPr>
            <a:lvl5pPr lvl="4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OpenSymbol"/>
              <a:buChar char="o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defRPr>
            </a:lvl5pPr>
          </a:lstStyle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Clique para editar os estilos do texto mestre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822240" lvl="2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D4C3CF"/>
              </a:buClr>
              <a:buSzPct val="85000"/>
              <a:buFont typeface="Wingdings 2" charset="2"/>
              <a:buChar char="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1096920" lvl="3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Wingdings 2" charset="2"/>
              <a:buChar char="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1371600" lvl="4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B32C16"/>
              </a:buClr>
              <a:buSzPct val="80000"/>
              <a:buFont typeface="OpenSymbol"/>
              <a:buChar char="o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13"/>
          </p:nvPr>
        </p:nvSpPr>
        <p:spPr>
          <a:xfrm>
            <a:off x="8229240" y="6191280"/>
            <a:ext cx="3300840" cy="47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chemeClr val="dk2"/>
                </a:solidFill>
                <a:effectLst/>
                <a:uFillTx/>
                <a:latin typeface="Perpetua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Perpetua"/>
                <a:ea typeface="Arial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14"/>
          </p:nvPr>
        </p:nvSpPr>
        <p:spPr>
          <a:xfrm>
            <a:off x="1218960" y="6172200"/>
            <a:ext cx="518040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15"/>
          </p:nvPr>
        </p:nvSpPr>
        <p:spPr>
          <a:xfrm>
            <a:off x="195120" y="6208560"/>
            <a:ext cx="608400" cy="4564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FCF86713-9A88-40C9-9840-CA248005F552}" type="slidenum"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  <a:ea typeface="Arial"/>
              </a:rPr>
              <a:t>26</a:t>
            </a:fld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tângulo 8"/>
          <p:cNvSpPr/>
          <p:nvPr/>
        </p:nvSpPr>
        <p:spPr>
          <a:xfrm>
            <a:off x="0" y="0"/>
            <a:ext cx="1219068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" name="Retângulo de cantos arredondados 7"/>
          <p:cNvSpPr/>
          <p:nvPr/>
        </p:nvSpPr>
        <p:spPr>
          <a:xfrm>
            <a:off x="84240" y="69840"/>
            <a:ext cx="12017160" cy="6692040"/>
          </a:xfrm>
          <a:prstGeom prst="roundRect">
            <a:avLst>
              <a:gd name="adj" fmla="val 4929"/>
            </a:avLst>
          </a:prstGeom>
          <a:noFill/>
          <a:ln w="63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0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0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Click to edit the title text format</a:t>
            </a:r>
            <a:endParaRPr lang="pt-BR" sz="40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def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</a:defRPr>
            </a:lvl1pPr>
            <a:lvl2pPr lvl="1" algn="l" defTabSz="91440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</a:defRPr>
            </a:lvl2pPr>
            <a:lvl3pPr lvl="2" algn="l" defTabSz="91440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</a:defRPr>
            </a:lvl3pPr>
            <a:lvl4pPr lvl="3" algn="l" defTabSz="91440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</a:defRPr>
            </a:lvl4pPr>
            <a:lvl5pPr lvl="4" algn="l" defTabSz="91440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</a:defRPr>
            </a:lvl7pPr>
          </a:lstStyle>
          <a:p>
            <a:pPr marL="272880" indent="-32400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</a:rPr>
              <a:t>Click to edit the outline text format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</a:rPr>
              <a:t>Second Outline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</a:rPr>
              <a:t>Third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</a:rPr>
              <a:t>Fourth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</a:rPr>
              <a:t>Fifth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</a:rPr>
              <a:t>Sixth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Perpetua"/>
              </a:rPr>
              <a:t>Seventh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pt-BR" sz="40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www.facebook.com/rommelcarneiro" TargetMode="External"/><Relationship Id="rId3" Type="http://schemas.openxmlformats.org/officeDocument/2006/relationships/hyperlink" Target="https://www.facebook.com/rommelcarneiro" TargetMode="External"/><Relationship Id="rId4" Type="http://schemas.openxmlformats.org/officeDocument/2006/relationships/hyperlink" Target="https://www.facebook.com/rommelcarneiro" TargetMode="External"/><Relationship Id="rId5" Type="http://schemas.openxmlformats.org/officeDocument/2006/relationships/hyperlink" Target="https://www.linkedin.com/in/rommelcarneiro/" TargetMode="External"/><Relationship Id="rId6" Type="http://schemas.openxmlformats.org/officeDocument/2006/relationships/hyperlink" Target="https://www.linkedin.com/in/rommelcarneiro/" TargetMode="External"/><Relationship Id="rId7" Type="http://schemas.openxmlformats.org/officeDocument/2006/relationships/hyperlink" Target="https://www.linkedin.com/in/rommelcarneiro/" TargetMode="External"/><Relationship Id="rId8" Type="http://schemas.openxmlformats.org/officeDocument/2006/relationships/hyperlink" Target="https://twitter.com/rommelcarneiro" TargetMode="External"/><Relationship Id="rId9" Type="http://schemas.openxmlformats.org/officeDocument/2006/relationships/hyperlink" Target="https://twitter.com/rommelcarneiro" TargetMode="External"/><Relationship Id="rId10" Type="http://schemas.openxmlformats.org/officeDocument/2006/relationships/hyperlink" Target="https://twitter.com/rommelcarneiro" TargetMode="External"/><Relationship Id="rId11" Type="http://schemas.openxmlformats.org/officeDocument/2006/relationships/hyperlink" Target="https://twitter.com/rommelcarneiro" TargetMode="External"/><Relationship Id="rId12" Type="http://schemas.openxmlformats.org/officeDocument/2006/relationships/hyperlink" Target="https://twitter.com/rommelcarneiro" TargetMode="External"/><Relationship Id="rId13" Type="http://schemas.openxmlformats.org/officeDocument/2006/relationships/hyperlink" Target="mailto:rommelcarneiro@gmail.com" TargetMode="External"/><Relationship Id="rId14" Type="http://schemas.openxmlformats.org/officeDocument/2006/relationships/hyperlink" Target="https://twitter.com/rommelcarneiro" TargetMode="External"/><Relationship Id="rId15" Type="http://schemas.openxmlformats.org/officeDocument/2006/relationships/hyperlink" Target="https://twitter.com/rommelcarneiro" TargetMode="External"/><Relationship Id="rId16" Type="http://schemas.openxmlformats.org/officeDocument/2006/relationships/hyperlink" Target="http://rommelcarneiro.me/" TargetMode="External"/><Relationship Id="rId17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5"/>
          <p:cNvSpPr/>
          <p:nvPr/>
        </p:nvSpPr>
        <p:spPr>
          <a:xfrm>
            <a:off x="814320" y="6293160"/>
            <a:ext cx="138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9480" tIns="60840" rIns="69480" bIns="60840" anchor="ctr">
            <a:noAutofit/>
          </a:bodyPr>
          <a:p>
            <a:pPr algn="ctr" defTabSz="914400">
              <a:lnSpc>
                <a:spcPct val="100000"/>
              </a:lnSpc>
            </a:pPr>
            <a:fld id="{7008E287-CF87-41D3-9CB9-D25E40A846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&lt;number&gt;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Oval 9"/>
          <p:cNvSpPr/>
          <p:nvPr/>
        </p:nvSpPr>
        <p:spPr>
          <a:xfrm>
            <a:off x="717840" y="6290640"/>
            <a:ext cx="332640" cy="333000"/>
          </a:xfrm>
          <a:prstGeom prst="ellipse">
            <a:avLst/>
          </a:prstGeom>
          <a:noFill/>
          <a:ln w="63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Open Sans Light"/>
            </a:endParaRPr>
          </a:p>
        </p:txBody>
      </p:sp>
      <p:sp>
        <p:nvSpPr>
          <p:cNvPr id="64" name="Oval 15"/>
          <p:cNvSpPr/>
          <p:nvPr/>
        </p:nvSpPr>
        <p:spPr>
          <a:xfrm>
            <a:off x="281520" y="6290640"/>
            <a:ext cx="332640" cy="333000"/>
          </a:xfrm>
          <a:prstGeom prst="ellipse">
            <a:avLst/>
          </a:prstGeom>
          <a:noFill/>
          <a:ln w="63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Open Sans Light"/>
            </a:endParaRPr>
          </a:p>
        </p:txBody>
      </p:sp>
      <p:sp>
        <p:nvSpPr>
          <p:cNvPr id="65" name="Rectangle 9"/>
          <p:cNvSpPr/>
          <p:nvPr/>
        </p:nvSpPr>
        <p:spPr>
          <a:xfrm rot="2700000">
            <a:off x="425880" y="6411960"/>
            <a:ext cx="89640" cy="89640"/>
          </a:xfrm>
          <a:custGeom>
            <a:avLst/>
            <a:gdLst>
              <a:gd name="textAreaLeft" fmla="*/ 0 w 89640"/>
              <a:gd name="textAreaRight" fmla="*/ 90000 w 89640"/>
              <a:gd name="textAreaTop" fmla="*/ 0 h 89640"/>
              <a:gd name="textAreaBottom" fmla="*/ 90000 h 89640"/>
              <a:gd name="GluePoint1X" fmla="*/ 531091 w 531091"/>
              <a:gd name="GluePoint1Y" fmla="*/ 531091 h 531091"/>
              <a:gd name="GluePoint2X" fmla="*/ 0 w 531091"/>
              <a:gd name="GluePoint2Y" fmla="*/ 531091 h 531091"/>
              <a:gd name="GluePoint3X" fmla="*/ 0 w 531091"/>
              <a:gd name="GluePoint3Y" fmla="*/ 0 h 5310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531091" h="531091">
                <a:moveTo>
                  <a:pt x="531091" y="531091"/>
                </a:moveTo>
                <a:lnTo>
                  <a:pt x="0" y="531091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Open Sans Light"/>
            </a:endParaRPr>
          </a:p>
        </p:txBody>
      </p:sp>
      <p:sp>
        <p:nvSpPr>
          <p:cNvPr id="66" name="Oval 13"/>
          <p:cNvSpPr/>
          <p:nvPr/>
        </p:nvSpPr>
        <p:spPr>
          <a:xfrm rot="10800000">
            <a:off x="1154160" y="6291000"/>
            <a:ext cx="332640" cy="333000"/>
          </a:xfrm>
          <a:prstGeom prst="ellipse">
            <a:avLst/>
          </a:prstGeom>
          <a:noFill/>
          <a:ln w="63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Open Sans Light"/>
            </a:endParaRPr>
          </a:p>
        </p:txBody>
      </p:sp>
      <p:sp>
        <p:nvSpPr>
          <p:cNvPr id="67" name="Rectangle 9"/>
          <p:cNvSpPr/>
          <p:nvPr/>
        </p:nvSpPr>
        <p:spPr>
          <a:xfrm rot="13500000">
            <a:off x="1252080" y="6412680"/>
            <a:ext cx="89640" cy="89640"/>
          </a:xfrm>
          <a:custGeom>
            <a:avLst/>
            <a:gdLst>
              <a:gd name="textAreaLeft" fmla="*/ 0 w 89640"/>
              <a:gd name="textAreaRight" fmla="*/ 90000 w 89640"/>
              <a:gd name="textAreaTop" fmla="*/ 0 h 89640"/>
              <a:gd name="textAreaBottom" fmla="*/ 90000 h 89640"/>
              <a:gd name="GluePoint1X" fmla="*/ 531091 w 531091"/>
              <a:gd name="GluePoint1Y" fmla="*/ 531091 h 531091"/>
              <a:gd name="GluePoint2X" fmla="*/ 0 w 531091"/>
              <a:gd name="GluePoint2Y" fmla="*/ 531091 h 531091"/>
              <a:gd name="GluePoint3X" fmla="*/ 0 w 531091"/>
              <a:gd name="GluePoint3Y" fmla="*/ 0 h 5310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531091" h="531091">
                <a:moveTo>
                  <a:pt x="531091" y="531091"/>
                </a:moveTo>
                <a:lnTo>
                  <a:pt x="0" y="531091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chemeClr val="lt1"/>
              </a:solidFill>
              <a:effectLst/>
              <a:uFillTx/>
              <a:latin typeface="Open Sans Light"/>
            </a:endParaRPr>
          </a:p>
        </p:txBody>
      </p:sp>
      <p:sp>
        <p:nvSpPr>
          <p:cNvPr id="68" name="Action Button: Forward or Next 26">
            <a:hlinkClick r:id="" action="ppaction://hlinkshowjump?jump=nextslide"/>
          </p:cNvPr>
          <p:cNvSpPr/>
          <p:nvPr/>
        </p:nvSpPr>
        <p:spPr>
          <a:xfrm>
            <a:off x="1126800" y="6258960"/>
            <a:ext cx="402120" cy="402120"/>
          </a:xfrm>
          <a:prstGeom prst="actionButtonForwardNex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Open Sans Light"/>
            </a:endParaRPr>
          </a:p>
        </p:txBody>
      </p:sp>
      <p:sp>
        <p:nvSpPr>
          <p:cNvPr id="69" name="Action Button: Back or Previous 27">
            <a:hlinkClick r:id="" action="ppaction://hlinkshowjump?jump=previousslide"/>
          </p:cNvPr>
          <p:cNvSpPr/>
          <p:nvPr/>
        </p:nvSpPr>
        <p:spPr>
          <a:xfrm>
            <a:off x="249480" y="6251400"/>
            <a:ext cx="402120" cy="402120"/>
          </a:xfrm>
          <a:prstGeom prst="actionButtonBackPrevious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Open Sans Light"/>
            </a:endParaRPr>
          </a:p>
        </p:txBody>
      </p:sp>
      <p:sp>
        <p:nvSpPr>
          <p:cNvPr id="70" name="Slide Number Placeholder 5"/>
          <p:cNvSpPr/>
          <p:nvPr/>
        </p:nvSpPr>
        <p:spPr>
          <a:xfrm>
            <a:off x="7051320" y="7088040"/>
            <a:ext cx="243468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60840" rIns="122040" bIns="60840" anchor="ctr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Prof. Rommel Vieira Carneiro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1" name="Agrupar 5"/>
          <p:cNvGrpSpPr/>
          <p:nvPr/>
        </p:nvGrpSpPr>
        <p:grpSpPr>
          <a:xfrm>
            <a:off x="10659600" y="7041240"/>
            <a:ext cx="402120" cy="402120"/>
            <a:chOff x="10659600" y="7041240"/>
            <a:chExt cx="402120" cy="402120"/>
          </a:xfrm>
        </p:grpSpPr>
        <p:sp>
          <p:nvSpPr>
            <p:cNvPr id="72" name="Rectangle 17">
              <a:hlinkClick r:id="rId2"/>
            </p:cNvPr>
            <p:cNvSpPr/>
            <p:nvPr/>
          </p:nvSpPr>
          <p:spPr>
            <a:xfrm>
              <a:off x="10659600" y="7041240"/>
              <a:ext cx="402120" cy="402120"/>
            </a:xfrm>
            <a:prstGeom prst="rect">
              <a:avLst/>
            </a:prstGeom>
            <a:noFill/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Open Sans Light"/>
              </a:endParaRPr>
            </a:p>
          </p:txBody>
        </p:sp>
        <p:sp>
          <p:nvSpPr>
            <p:cNvPr id="73" name="Oval 22">
              <a:hlinkClick r:id="rId3"/>
            </p:cNvPr>
            <p:cNvSpPr/>
            <p:nvPr/>
          </p:nvSpPr>
          <p:spPr>
            <a:xfrm>
              <a:off x="10699560" y="7077600"/>
              <a:ext cx="333000" cy="333000"/>
            </a:xfrm>
            <a:prstGeom prst="ellipse">
              <a:avLst/>
            </a:prstGeom>
            <a:noFill/>
            <a:ln w="6350">
              <a:solidFill>
                <a:srgbClr val="FFFFFF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070" b="0" u="none" strike="noStrike">
                <a:solidFill>
                  <a:schemeClr val="lt1"/>
                </a:solidFill>
                <a:effectLst/>
                <a:uFillTx/>
                <a:latin typeface="Open Sans Light"/>
              </a:endParaRPr>
            </a:p>
          </p:txBody>
        </p:sp>
        <p:sp>
          <p:nvSpPr>
            <p:cNvPr id="74" name="Freeform 6">
              <a:hlinkClick r:id="rId4"/>
            </p:cNvPr>
            <p:cNvSpPr/>
            <p:nvPr/>
          </p:nvSpPr>
          <p:spPr>
            <a:xfrm>
              <a:off x="10834200" y="7177320"/>
              <a:ext cx="63360" cy="13752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137520"/>
                <a:gd name="textAreaBottom" fmla="*/ 137880 h 137520"/>
                <a:gd name="GluePoint1X" fmla="*/ 573 w 704"/>
                <a:gd name="GluePoint1Y" fmla="*/ 255 h 1506"/>
                <a:gd name="GluePoint2X" fmla="*/ 573 w 704"/>
                <a:gd name="GluePoint2Y" fmla="*/ 255 h 1506"/>
                <a:gd name="GluePoint3X" fmla="*/ 704 w 704"/>
                <a:gd name="GluePoint3Y" fmla="*/ 255 h 1506"/>
                <a:gd name="GluePoint4X" fmla="*/ 704 w 704"/>
                <a:gd name="GluePoint4Y" fmla="*/ 0 h 1506"/>
                <a:gd name="GluePoint5X" fmla="*/ 492 w 704"/>
                <a:gd name="GluePoint5Y" fmla="*/ 0 h 1506"/>
                <a:gd name="GluePoint6X" fmla="*/ 155 w 704"/>
                <a:gd name="GluePoint6Y" fmla="*/ 336 h 1506"/>
                <a:gd name="GluePoint7X" fmla="*/ 155 w 704"/>
                <a:gd name="GluePoint7Y" fmla="*/ 493 h 1506"/>
                <a:gd name="GluePoint8X" fmla="*/ 0 w 704"/>
                <a:gd name="GluePoint8Y" fmla="*/ 493 h 1506"/>
                <a:gd name="GluePoint9X" fmla="*/ 0 w 704"/>
                <a:gd name="GluePoint9Y" fmla="*/ 749 h 1506"/>
                <a:gd name="GluePoint10X" fmla="*/ 155 w 704"/>
                <a:gd name="GluePoint10Y" fmla="*/ 749 h 1506"/>
                <a:gd name="GluePoint11X" fmla="*/ 155 w 704"/>
                <a:gd name="GluePoint11Y" fmla="*/ 1506 h 1506"/>
                <a:gd name="GluePoint12X" fmla="*/ 467 w 704"/>
                <a:gd name="GluePoint12Y" fmla="*/ 1506 h 1506"/>
                <a:gd name="GluePoint13X" fmla="*/ 467 w 704"/>
                <a:gd name="GluePoint13Y" fmla="*/ 749 h 1506"/>
                <a:gd name="GluePoint14X" fmla="*/ 679 w 704"/>
                <a:gd name="GluePoint14Y" fmla="*/ 749 h 1506"/>
                <a:gd name="GluePoint15X" fmla="*/ 704 w 704"/>
                <a:gd name="GluePoint15Y" fmla="*/ 493 h 1506"/>
                <a:gd name="GluePoint16X" fmla="*/ 467 w 704"/>
                <a:gd name="GluePoint16Y" fmla="*/ 493 h 1506"/>
                <a:gd name="GluePoint17X" fmla="*/ 467 w 704"/>
                <a:gd name="GluePoint17Y" fmla="*/ 362 h 1506"/>
                <a:gd name="GluePoint18X" fmla="*/ 573 w 704"/>
                <a:gd name="GluePoint18Y" fmla="*/ 255 h 150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704" h="1506">
                  <a:moveTo>
                    <a:pt x="573" y="255"/>
                  </a:moveTo>
                  <a:lnTo>
                    <a:pt x="573" y="255"/>
                  </a:lnTo>
                  <a:lnTo>
                    <a:pt x="704" y="255"/>
                  </a:lnTo>
                  <a:lnTo>
                    <a:pt x="704" y="0"/>
                  </a:lnTo>
                  <a:lnTo>
                    <a:pt x="492" y="0"/>
                  </a:lnTo>
                  <a:cubicBezTo>
                    <a:pt x="243" y="0"/>
                    <a:pt x="155" y="124"/>
                    <a:pt x="155" y="336"/>
                  </a:cubicBezTo>
                  <a:lnTo>
                    <a:pt x="155" y="493"/>
                  </a:lnTo>
                  <a:lnTo>
                    <a:pt x="0" y="493"/>
                  </a:lnTo>
                  <a:lnTo>
                    <a:pt x="0" y="749"/>
                  </a:lnTo>
                  <a:lnTo>
                    <a:pt x="155" y="749"/>
                  </a:lnTo>
                  <a:lnTo>
                    <a:pt x="155" y="1506"/>
                  </a:lnTo>
                  <a:lnTo>
                    <a:pt x="467" y="1506"/>
                  </a:lnTo>
                  <a:lnTo>
                    <a:pt x="467" y="749"/>
                  </a:lnTo>
                  <a:lnTo>
                    <a:pt x="679" y="749"/>
                  </a:lnTo>
                  <a:lnTo>
                    <a:pt x="704" y="493"/>
                  </a:lnTo>
                  <a:lnTo>
                    <a:pt x="467" y="493"/>
                  </a:lnTo>
                  <a:lnTo>
                    <a:pt x="467" y="362"/>
                  </a:lnTo>
                  <a:cubicBezTo>
                    <a:pt x="467" y="293"/>
                    <a:pt x="473" y="255"/>
                    <a:pt x="573" y="25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2040" tIns="60840" rIns="32040" bIns="60840" anchor="t">
              <a:noAutofit/>
            </a:bodyPr>
            <a:p>
              <a:endParaRPr lang="en-US" sz="3200" b="0" u="none" strike="noStrike">
                <a:solidFill>
                  <a:schemeClr val="dk1"/>
                </a:solidFill>
                <a:effectLst/>
                <a:uFillTx/>
                <a:latin typeface="Open Sans Light"/>
              </a:endParaRPr>
            </a:p>
          </p:txBody>
        </p:sp>
      </p:grpSp>
      <p:grpSp>
        <p:nvGrpSpPr>
          <p:cNvPr id="75" name="Agrupar 4"/>
          <p:cNvGrpSpPr/>
          <p:nvPr/>
        </p:nvGrpSpPr>
        <p:grpSpPr>
          <a:xfrm>
            <a:off x="11097720" y="7041240"/>
            <a:ext cx="402120" cy="402120"/>
            <a:chOff x="11097720" y="7041240"/>
            <a:chExt cx="402120" cy="402120"/>
          </a:xfrm>
        </p:grpSpPr>
        <p:sp>
          <p:nvSpPr>
            <p:cNvPr id="76" name="Rectangle 24">
              <a:hlinkClick r:id="rId5"/>
            </p:cNvPr>
            <p:cNvSpPr/>
            <p:nvPr/>
          </p:nvSpPr>
          <p:spPr>
            <a:xfrm>
              <a:off x="11097720" y="7041240"/>
              <a:ext cx="402120" cy="402120"/>
            </a:xfrm>
            <a:prstGeom prst="rect">
              <a:avLst/>
            </a:prstGeom>
            <a:noFill/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Open Sans Light"/>
              </a:endParaRPr>
            </a:p>
          </p:txBody>
        </p:sp>
        <p:sp>
          <p:nvSpPr>
            <p:cNvPr id="77" name="Freeform 7">
              <a:hlinkClick r:id="rId6"/>
            </p:cNvPr>
            <p:cNvSpPr/>
            <p:nvPr/>
          </p:nvSpPr>
          <p:spPr>
            <a:xfrm>
              <a:off x="11235600" y="7174440"/>
              <a:ext cx="141840" cy="13608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136080"/>
                <a:gd name="textAreaBottom" fmla="*/ 136440 h 136080"/>
                <a:gd name="GluePoint1X" fmla="*/ 1176 w 1562"/>
                <a:gd name="GluePoint1Y" fmla="*/ 466 h 1491"/>
                <a:gd name="GluePoint2X" fmla="*/ 1176 w 1562"/>
                <a:gd name="GluePoint2Y" fmla="*/ 466 h 1491"/>
                <a:gd name="GluePoint3X" fmla="*/ 871 w 1562"/>
                <a:gd name="GluePoint3Y" fmla="*/ 636 h 1491"/>
                <a:gd name="GluePoint4X" fmla="*/ 871 w 1562"/>
                <a:gd name="GluePoint4Y" fmla="*/ 488 h 1491"/>
                <a:gd name="GluePoint5X" fmla="*/ 538 w 1562"/>
                <a:gd name="GluePoint5Y" fmla="*/ 488 h 1491"/>
                <a:gd name="GluePoint6X" fmla="*/ 538 w 1562"/>
                <a:gd name="GluePoint6Y" fmla="*/ 1491 h 1491"/>
                <a:gd name="GluePoint7X" fmla="*/ 871 w 1562"/>
                <a:gd name="GluePoint7Y" fmla="*/ 1491 h 1491"/>
                <a:gd name="GluePoint8X" fmla="*/ 871 w 1562"/>
                <a:gd name="GluePoint8Y" fmla="*/ 931 h 1491"/>
                <a:gd name="GluePoint9X" fmla="*/ 886 w 1562"/>
                <a:gd name="GluePoint9Y" fmla="*/ 850 h 1491"/>
                <a:gd name="GluePoint10X" fmla="*/ 1057 w 1562"/>
                <a:gd name="GluePoint10Y" fmla="*/ 724 h 1491"/>
                <a:gd name="GluePoint11X" fmla="*/ 1228 w 1562"/>
                <a:gd name="GluePoint11Y" fmla="*/ 953 h 1491"/>
                <a:gd name="GluePoint12X" fmla="*/ 1228 w 1562"/>
                <a:gd name="GluePoint12Y" fmla="*/ 1491 h 1491"/>
                <a:gd name="GluePoint13X" fmla="*/ 1562 w 1562"/>
                <a:gd name="GluePoint13Y" fmla="*/ 1491 h 1491"/>
                <a:gd name="GluePoint14X" fmla="*/ 1562 w 1562"/>
                <a:gd name="GluePoint14Y" fmla="*/ 916 h 1491"/>
                <a:gd name="GluePoint15X" fmla="*/ 1176 w 1562"/>
                <a:gd name="GluePoint15Y" fmla="*/ 466 h 1491"/>
                <a:gd name="GluePoint16X" fmla="*/ 22 w 1562"/>
                <a:gd name="GluePoint16Y" fmla="*/ 1491 h 1491"/>
                <a:gd name="GluePoint17X" fmla="*/ 22 w 1562"/>
                <a:gd name="GluePoint17Y" fmla="*/ 1491 h 1491"/>
                <a:gd name="GluePoint18X" fmla="*/ 357 w 1562"/>
                <a:gd name="GluePoint18Y" fmla="*/ 1491 h 1491"/>
                <a:gd name="GluePoint19X" fmla="*/ 357 w 1562"/>
                <a:gd name="GluePoint19Y" fmla="*/ 487 h 1491"/>
                <a:gd name="GluePoint20X" fmla="*/ 22 w 1562"/>
                <a:gd name="GluePoint20Y" fmla="*/ 487 h 1491"/>
                <a:gd name="GluePoint21X" fmla="*/ 22 w 1562"/>
                <a:gd name="GluePoint21Y" fmla="*/ 1491 h 1491"/>
                <a:gd name="GluePoint22X" fmla="*/ 193 w 1562"/>
                <a:gd name="GluePoint22Y" fmla="*/ 0 h 1491"/>
                <a:gd name="GluePoint23X" fmla="*/ 193 w 1562"/>
                <a:gd name="GluePoint23Y" fmla="*/ 0 h 1491"/>
                <a:gd name="GluePoint24X" fmla="*/ 0 w 1562"/>
                <a:gd name="GluePoint24Y" fmla="*/ 178 h 1491"/>
                <a:gd name="GluePoint25X" fmla="*/ 186 w 1562"/>
                <a:gd name="GluePoint25Y" fmla="*/ 347 h 1491"/>
                <a:gd name="GluePoint26X" fmla="*/ 379 w 1562"/>
                <a:gd name="GluePoint26Y" fmla="*/ 178 h 1491"/>
                <a:gd name="GluePoint27X" fmla="*/ 193 w 1562"/>
                <a:gd name="GluePoint27Y" fmla="*/ 0 h 14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1562" h="1491">
                  <a:moveTo>
                    <a:pt x="1176" y="466"/>
                  </a:moveTo>
                  <a:lnTo>
                    <a:pt x="1176" y="466"/>
                  </a:lnTo>
                  <a:cubicBezTo>
                    <a:pt x="990" y="466"/>
                    <a:pt x="916" y="562"/>
                    <a:pt x="871" y="636"/>
                  </a:cubicBezTo>
                  <a:lnTo>
                    <a:pt x="871" y="488"/>
                  </a:lnTo>
                  <a:lnTo>
                    <a:pt x="538" y="488"/>
                  </a:lnTo>
                  <a:cubicBezTo>
                    <a:pt x="545" y="584"/>
                    <a:pt x="538" y="1491"/>
                    <a:pt x="538" y="1491"/>
                  </a:cubicBezTo>
                  <a:lnTo>
                    <a:pt x="871" y="1491"/>
                  </a:lnTo>
                  <a:lnTo>
                    <a:pt x="871" y="931"/>
                  </a:lnTo>
                  <a:cubicBezTo>
                    <a:pt x="871" y="901"/>
                    <a:pt x="871" y="872"/>
                    <a:pt x="886" y="850"/>
                  </a:cubicBezTo>
                  <a:cubicBezTo>
                    <a:pt x="909" y="791"/>
                    <a:pt x="961" y="724"/>
                    <a:pt x="1057" y="724"/>
                  </a:cubicBezTo>
                  <a:cubicBezTo>
                    <a:pt x="1176" y="724"/>
                    <a:pt x="1228" y="820"/>
                    <a:pt x="1228" y="953"/>
                  </a:cubicBezTo>
                  <a:lnTo>
                    <a:pt x="1228" y="1491"/>
                  </a:lnTo>
                  <a:lnTo>
                    <a:pt x="1562" y="1491"/>
                  </a:lnTo>
                  <a:lnTo>
                    <a:pt x="1562" y="916"/>
                  </a:lnTo>
                  <a:cubicBezTo>
                    <a:pt x="1562" y="606"/>
                    <a:pt x="1398" y="466"/>
                    <a:pt x="1176" y="466"/>
                  </a:cubicBezTo>
                  <a:close/>
                  <a:moveTo>
                    <a:pt x="22" y="1491"/>
                  </a:moveTo>
                  <a:lnTo>
                    <a:pt x="22" y="1491"/>
                  </a:lnTo>
                  <a:lnTo>
                    <a:pt x="357" y="1491"/>
                  </a:lnTo>
                  <a:lnTo>
                    <a:pt x="357" y="487"/>
                  </a:lnTo>
                  <a:lnTo>
                    <a:pt x="22" y="487"/>
                  </a:lnTo>
                  <a:lnTo>
                    <a:pt x="22" y="1491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cubicBezTo>
                    <a:pt x="74" y="0"/>
                    <a:pt x="0" y="82"/>
                    <a:pt x="0" y="178"/>
                  </a:cubicBezTo>
                  <a:cubicBezTo>
                    <a:pt x="0" y="273"/>
                    <a:pt x="74" y="347"/>
                    <a:pt x="186" y="347"/>
                  </a:cubicBezTo>
                  <a:cubicBezTo>
                    <a:pt x="305" y="347"/>
                    <a:pt x="379" y="273"/>
                    <a:pt x="379" y="178"/>
                  </a:cubicBezTo>
                  <a:cubicBezTo>
                    <a:pt x="379" y="82"/>
                    <a:pt x="305" y="0"/>
                    <a:pt x="193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70920" tIns="60840" rIns="70920" bIns="60840" anchor="t">
              <a:noAutofit/>
            </a:bodyPr>
            <a:p>
              <a:endParaRPr lang="en-US" sz="3200" b="0" u="none" strike="noStrike">
                <a:solidFill>
                  <a:schemeClr val="dk1"/>
                </a:solidFill>
                <a:effectLst/>
                <a:uFillTx/>
                <a:latin typeface="Open Sans Light"/>
              </a:endParaRPr>
            </a:p>
          </p:txBody>
        </p:sp>
        <p:sp>
          <p:nvSpPr>
            <p:cNvPr id="78" name="Oval 21">
              <a:hlinkClick r:id="rId7"/>
            </p:cNvPr>
            <p:cNvSpPr/>
            <p:nvPr/>
          </p:nvSpPr>
          <p:spPr>
            <a:xfrm>
              <a:off x="11139840" y="7077600"/>
              <a:ext cx="332640" cy="333000"/>
            </a:xfrm>
            <a:prstGeom prst="ellipse">
              <a:avLst/>
            </a:prstGeom>
            <a:noFill/>
            <a:ln w="6350">
              <a:solidFill>
                <a:srgbClr val="FFFFFF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070" b="0" u="none" strike="noStrike">
                <a:solidFill>
                  <a:schemeClr val="lt1"/>
                </a:solidFill>
                <a:effectLst/>
                <a:uFillTx/>
                <a:latin typeface="Open Sans Light"/>
              </a:endParaRPr>
            </a:p>
          </p:txBody>
        </p:sp>
      </p:grpSp>
      <p:grpSp>
        <p:nvGrpSpPr>
          <p:cNvPr id="79" name="Agrupar 3"/>
          <p:cNvGrpSpPr/>
          <p:nvPr/>
        </p:nvGrpSpPr>
        <p:grpSpPr>
          <a:xfrm>
            <a:off x="11536560" y="7041240"/>
            <a:ext cx="402120" cy="402120"/>
            <a:chOff x="11536560" y="7041240"/>
            <a:chExt cx="402120" cy="402120"/>
          </a:xfrm>
        </p:grpSpPr>
        <p:sp>
          <p:nvSpPr>
            <p:cNvPr id="80" name="Rectangle 25">
              <a:hlinkClick r:id="rId8"/>
            </p:cNvPr>
            <p:cNvSpPr/>
            <p:nvPr/>
          </p:nvSpPr>
          <p:spPr>
            <a:xfrm>
              <a:off x="11536560" y="7041240"/>
              <a:ext cx="402120" cy="402120"/>
            </a:xfrm>
            <a:prstGeom prst="rect">
              <a:avLst/>
            </a:prstGeom>
            <a:noFill/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Open Sans Light"/>
              </a:endParaRPr>
            </a:p>
          </p:txBody>
        </p:sp>
        <p:sp>
          <p:nvSpPr>
            <p:cNvPr id="81" name="Freeform 8">
              <a:hlinkClick r:id="rId9"/>
            </p:cNvPr>
            <p:cNvSpPr/>
            <p:nvPr/>
          </p:nvSpPr>
          <p:spPr>
            <a:xfrm>
              <a:off x="11660760" y="7186680"/>
              <a:ext cx="153720" cy="125280"/>
            </a:xfrm>
            <a:custGeom>
              <a:avLst/>
              <a:gdLst>
                <a:gd name="textAreaLeft" fmla="*/ 0 w 153720"/>
                <a:gd name="textAreaRight" fmla="*/ 154080 w 153720"/>
                <a:gd name="textAreaTop" fmla="*/ 0 h 125280"/>
                <a:gd name="textAreaBottom" fmla="*/ 125640 h 125280"/>
                <a:gd name="GluePoint1X" fmla="*/ 1491 w 1690"/>
                <a:gd name="GluePoint1Y" fmla="*/ 223 h 1374"/>
                <a:gd name="GluePoint2X" fmla="*/ 1491 w 1690"/>
                <a:gd name="GluePoint2Y" fmla="*/ 223 h 1374"/>
                <a:gd name="GluePoint3X" fmla="*/ 1647 w 1690"/>
                <a:gd name="GluePoint3Y" fmla="*/ 30 h 1374"/>
                <a:gd name="GluePoint4X" fmla="*/ 1424 w 1690"/>
                <a:gd name="GluePoint4Y" fmla="*/ 108 h 1374"/>
                <a:gd name="GluePoint5X" fmla="*/ 1171 w 1690"/>
                <a:gd name="GluePoint5Y" fmla="*/ 0 h 1374"/>
                <a:gd name="GluePoint6X" fmla="*/ 821 w 1690"/>
                <a:gd name="GluePoint6Y" fmla="*/ 356 h 1374"/>
                <a:gd name="GluePoint7X" fmla="*/ 827 w 1690"/>
                <a:gd name="GluePoint7Y" fmla="*/ 428 h 1374"/>
                <a:gd name="GluePoint8X" fmla="*/ 114 w 1690"/>
                <a:gd name="GluePoint8Y" fmla="*/ 66 h 1374"/>
                <a:gd name="GluePoint9X" fmla="*/ 72 w 1690"/>
                <a:gd name="GluePoint9Y" fmla="*/ 241 h 1374"/>
                <a:gd name="GluePoint10X" fmla="*/ 223 w 1690"/>
                <a:gd name="GluePoint10Y" fmla="*/ 530 h 1374"/>
                <a:gd name="GluePoint11X" fmla="*/ 66 w 1690"/>
                <a:gd name="GluePoint11Y" fmla="*/ 488 h 1374"/>
                <a:gd name="GluePoint12X" fmla="*/ 66 w 1690"/>
                <a:gd name="GluePoint12Y" fmla="*/ 494 h 1374"/>
                <a:gd name="GluePoint13X" fmla="*/ 344 w 1690"/>
                <a:gd name="GluePoint13Y" fmla="*/ 832 h 1374"/>
                <a:gd name="GluePoint14X" fmla="*/ 253 w 1690"/>
                <a:gd name="GluePoint14Y" fmla="*/ 844 h 1374"/>
                <a:gd name="GluePoint15X" fmla="*/ 187 w 1690"/>
                <a:gd name="GluePoint15Y" fmla="*/ 838 h 1374"/>
                <a:gd name="GluePoint16X" fmla="*/ 513 w 1690"/>
                <a:gd name="GluePoint16Y" fmla="*/ 1079 h 1374"/>
                <a:gd name="GluePoint17X" fmla="*/ 78 w 1690"/>
                <a:gd name="GluePoint17Y" fmla="*/ 1230 h 1374"/>
                <a:gd name="GluePoint18X" fmla="*/ 0 w 1690"/>
                <a:gd name="GluePoint18Y" fmla="*/ 1224 h 1374"/>
                <a:gd name="GluePoint19X" fmla="*/ 525 w 1690"/>
                <a:gd name="GluePoint19Y" fmla="*/ 1374 h 1374"/>
                <a:gd name="GluePoint20X" fmla="*/ 1521 w 1690"/>
                <a:gd name="GluePoint20Y" fmla="*/ 392 h 1374"/>
                <a:gd name="GluePoint21X" fmla="*/ 1521 w 1690"/>
                <a:gd name="GluePoint21Y" fmla="*/ 344 h 1374"/>
                <a:gd name="GluePoint22X" fmla="*/ 1690 w 1690"/>
                <a:gd name="GluePoint22Y" fmla="*/ 163 h 1374"/>
                <a:gd name="GluePoint23X" fmla="*/ 1491 w 1690"/>
                <a:gd name="GluePoint23Y" fmla="*/ 223 h 13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1690" h="1374">
                  <a:moveTo>
                    <a:pt x="1491" y="223"/>
                  </a:moveTo>
                  <a:lnTo>
                    <a:pt x="1491" y="223"/>
                  </a:lnTo>
                  <a:cubicBezTo>
                    <a:pt x="1569" y="175"/>
                    <a:pt x="1617" y="108"/>
                    <a:pt x="1647" y="30"/>
                  </a:cubicBezTo>
                  <a:cubicBezTo>
                    <a:pt x="1581" y="66"/>
                    <a:pt x="1509" y="96"/>
                    <a:pt x="1424" y="108"/>
                  </a:cubicBezTo>
                  <a:cubicBezTo>
                    <a:pt x="1358" y="42"/>
                    <a:pt x="1273" y="0"/>
                    <a:pt x="1171" y="0"/>
                  </a:cubicBezTo>
                  <a:cubicBezTo>
                    <a:pt x="977" y="0"/>
                    <a:pt x="821" y="157"/>
                    <a:pt x="821" y="356"/>
                  </a:cubicBezTo>
                  <a:cubicBezTo>
                    <a:pt x="821" y="374"/>
                    <a:pt x="827" y="404"/>
                    <a:pt x="827" y="428"/>
                  </a:cubicBezTo>
                  <a:cubicBezTo>
                    <a:pt x="543" y="410"/>
                    <a:pt x="283" y="277"/>
                    <a:pt x="114" y="66"/>
                  </a:cubicBezTo>
                  <a:cubicBezTo>
                    <a:pt x="84" y="120"/>
                    <a:pt x="72" y="175"/>
                    <a:pt x="72" y="241"/>
                  </a:cubicBezTo>
                  <a:cubicBezTo>
                    <a:pt x="72" y="362"/>
                    <a:pt x="132" y="470"/>
                    <a:pt x="223" y="530"/>
                  </a:cubicBezTo>
                  <a:cubicBezTo>
                    <a:pt x="169" y="530"/>
                    <a:pt x="114" y="512"/>
                    <a:pt x="66" y="488"/>
                  </a:cubicBezTo>
                  <a:lnTo>
                    <a:pt x="66" y="494"/>
                  </a:lnTo>
                  <a:cubicBezTo>
                    <a:pt x="66" y="663"/>
                    <a:pt x="187" y="802"/>
                    <a:pt x="344" y="832"/>
                  </a:cubicBezTo>
                  <a:cubicBezTo>
                    <a:pt x="313" y="838"/>
                    <a:pt x="283" y="844"/>
                    <a:pt x="253" y="844"/>
                  </a:cubicBezTo>
                  <a:cubicBezTo>
                    <a:pt x="235" y="844"/>
                    <a:pt x="211" y="838"/>
                    <a:pt x="187" y="838"/>
                  </a:cubicBezTo>
                  <a:cubicBezTo>
                    <a:pt x="235" y="977"/>
                    <a:pt x="356" y="1073"/>
                    <a:pt x="513" y="1079"/>
                  </a:cubicBezTo>
                  <a:cubicBezTo>
                    <a:pt x="392" y="1170"/>
                    <a:pt x="241" y="1230"/>
                    <a:pt x="78" y="1230"/>
                  </a:cubicBezTo>
                  <a:cubicBezTo>
                    <a:pt x="54" y="1230"/>
                    <a:pt x="24" y="1230"/>
                    <a:pt x="0" y="1224"/>
                  </a:cubicBezTo>
                  <a:cubicBezTo>
                    <a:pt x="151" y="1326"/>
                    <a:pt x="338" y="1374"/>
                    <a:pt x="525" y="1374"/>
                  </a:cubicBezTo>
                  <a:cubicBezTo>
                    <a:pt x="1171" y="1374"/>
                    <a:pt x="1521" y="844"/>
                    <a:pt x="1521" y="392"/>
                  </a:cubicBezTo>
                  <a:lnTo>
                    <a:pt x="1521" y="344"/>
                  </a:lnTo>
                  <a:cubicBezTo>
                    <a:pt x="1587" y="295"/>
                    <a:pt x="1647" y="235"/>
                    <a:pt x="1690" y="163"/>
                  </a:cubicBezTo>
                  <a:cubicBezTo>
                    <a:pt x="1635" y="193"/>
                    <a:pt x="1569" y="211"/>
                    <a:pt x="1491" y="2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77040" tIns="60840" rIns="77040" bIns="60840" anchor="t">
              <a:noAutofit/>
            </a:bodyPr>
            <a:p>
              <a:endParaRPr lang="en-US" sz="3200" b="0" u="none" strike="noStrike">
                <a:solidFill>
                  <a:schemeClr val="dk1"/>
                </a:solidFill>
                <a:effectLst/>
                <a:uFillTx/>
                <a:latin typeface="Open Sans Light"/>
              </a:endParaRPr>
            </a:p>
          </p:txBody>
        </p:sp>
        <p:sp>
          <p:nvSpPr>
            <p:cNvPr id="82" name="Oval 23">
              <a:hlinkClick r:id="rId10"/>
            </p:cNvPr>
            <p:cNvSpPr/>
            <p:nvPr/>
          </p:nvSpPr>
          <p:spPr>
            <a:xfrm rot="10800000">
              <a:off x="11571120" y="7077600"/>
              <a:ext cx="333000" cy="333000"/>
            </a:xfrm>
            <a:prstGeom prst="ellipse">
              <a:avLst/>
            </a:prstGeom>
            <a:noFill/>
            <a:ln w="6350">
              <a:solidFill>
                <a:srgbClr val="FFFFFF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070" b="0" u="none" strike="noStrike">
                <a:solidFill>
                  <a:schemeClr val="lt1"/>
                </a:solidFill>
                <a:effectLst/>
                <a:uFillTx/>
                <a:latin typeface="Open Sans Light"/>
              </a:endParaRPr>
            </a:p>
          </p:txBody>
        </p:sp>
      </p:grpSp>
      <p:grpSp>
        <p:nvGrpSpPr>
          <p:cNvPr id="83" name="Agrupar 41"/>
          <p:cNvGrpSpPr/>
          <p:nvPr/>
        </p:nvGrpSpPr>
        <p:grpSpPr>
          <a:xfrm>
            <a:off x="10220760" y="7041240"/>
            <a:ext cx="402120" cy="402120"/>
            <a:chOff x="10220760" y="7041240"/>
            <a:chExt cx="402120" cy="402120"/>
          </a:xfrm>
        </p:grpSpPr>
        <p:sp>
          <p:nvSpPr>
            <p:cNvPr id="84" name="Rectangle 25">
              <a:hlinkClick r:id="rId11"/>
            </p:cNvPr>
            <p:cNvSpPr/>
            <p:nvPr/>
          </p:nvSpPr>
          <p:spPr>
            <a:xfrm>
              <a:off x="10220760" y="7041240"/>
              <a:ext cx="402120" cy="402120"/>
            </a:xfrm>
            <a:prstGeom prst="rect">
              <a:avLst/>
            </a:prstGeom>
            <a:noFill/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Open Sans Light"/>
              </a:endParaRPr>
            </a:p>
          </p:txBody>
        </p:sp>
        <p:sp>
          <p:nvSpPr>
            <p:cNvPr id="85" name="Oval 23">
              <a:hlinkClick r:id="rId12"/>
            </p:cNvPr>
            <p:cNvSpPr/>
            <p:nvPr/>
          </p:nvSpPr>
          <p:spPr>
            <a:xfrm rot="10800000">
              <a:off x="10255320" y="7077600"/>
              <a:ext cx="333000" cy="333000"/>
            </a:xfrm>
            <a:prstGeom prst="ellipse">
              <a:avLst/>
            </a:prstGeom>
            <a:noFill/>
            <a:ln w="6350">
              <a:solidFill>
                <a:srgbClr val="FFFFFF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070" b="0" u="none" strike="noStrike">
                <a:solidFill>
                  <a:schemeClr val="lt1"/>
                </a:solidFill>
                <a:effectLst/>
                <a:uFillTx/>
                <a:latin typeface="Open Sans Light"/>
              </a:endParaRPr>
            </a:p>
          </p:txBody>
        </p:sp>
        <p:sp>
          <p:nvSpPr>
            <p:cNvPr id="86" name="Freeform 160">
              <a:hlinkClick r:id="rId13"/>
            </p:cNvPr>
            <p:cNvSpPr/>
            <p:nvPr/>
          </p:nvSpPr>
          <p:spPr>
            <a:xfrm>
              <a:off x="10329120" y="7187040"/>
              <a:ext cx="176400" cy="122760"/>
            </a:xfrm>
            <a:custGeom>
              <a:avLst/>
              <a:gdLst>
                <a:gd name="textAreaLeft" fmla="*/ 0 w 176400"/>
                <a:gd name="textAreaRight" fmla="*/ 176760 w 176400"/>
                <a:gd name="textAreaTop" fmla="*/ 0 h 122760"/>
                <a:gd name="textAreaBottom" fmla="*/ 123120 h 122760"/>
                <a:gd name="GluePoint1X" fmla="*/ 410 w 601"/>
                <a:gd name="GluePoint1Y" fmla="*/ 191 h 418"/>
                <a:gd name="GluePoint2X" fmla="*/ 410 w 601"/>
                <a:gd name="GluePoint2Y" fmla="*/ 191 h 418"/>
                <a:gd name="GluePoint3X" fmla="*/ 593 w 601"/>
                <a:gd name="GluePoint3Y" fmla="*/ 7 h 418"/>
                <a:gd name="GluePoint4X" fmla="*/ 600 w 601"/>
                <a:gd name="GluePoint4Y" fmla="*/ 28 h 418"/>
                <a:gd name="GluePoint5X" fmla="*/ 600 w 601"/>
                <a:gd name="GluePoint5Y" fmla="*/ 388 h 418"/>
                <a:gd name="GluePoint6X" fmla="*/ 593 w 601"/>
                <a:gd name="GluePoint6Y" fmla="*/ 410 h 418"/>
                <a:gd name="GluePoint7X" fmla="*/ 410 w 601"/>
                <a:gd name="GluePoint7Y" fmla="*/ 191 h 418"/>
                <a:gd name="GluePoint8X" fmla="*/ 7 w 601"/>
                <a:gd name="GluePoint8Y" fmla="*/ 7 h 418"/>
                <a:gd name="GluePoint9X" fmla="*/ 7 w 601"/>
                <a:gd name="GluePoint9Y" fmla="*/ 7 h 418"/>
                <a:gd name="GluePoint10X" fmla="*/ 28 w 601"/>
                <a:gd name="GluePoint10Y" fmla="*/ 0 h 418"/>
                <a:gd name="GluePoint11X" fmla="*/ 572 w 601"/>
                <a:gd name="GluePoint11Y" fmla="*/ 0 h 418"/>
                <a:gd name="GluePoint12X" fmla="*/ 593 w 601"/>
                <a:gd name="GluePoint12Y" fmla="*/ 7 h 418"/>
                <a:gd name="GluePoint13X" fmla="*/ 297 w 601"/>
                <a:gd name="GluePoint13Y" fmla="*/ 240 h 418"/>
                <a:gd name="GluePoint14X" fmla="*/ 7 w 601"/>
                <a:gd name="GluePoint14Y" fmla="*/ 7 h 418"/>
                <a:gd name="GluePoint15X" fmla="*/ 7 w 601"/>
                <a:gd name="GluePoint15Y" fmla="*/ 410 h 418"/>
                <a:gd name="GluePoint16X" fmla="*/ 7 w 601"/>
                <a:gd name="GluePoint16Y" fmla="*/ 410 h 418"/>
                <a:gd name="GluePoint17X" fmla="*/ 0 w 601"/>
                <a:gd name="GluePoint17Y" fmla="*/ 388 h 418"/>
                <a:gd name="GluePoint18X" fmla="*/ 0 w 601"/>
                <a:gd name="GluePoint18Y" fmla="*/ 28 h 418"/>
                <a:gd name="GluePoint19X" fmla="*/ 7 w 601"/>
                <a:gd name="GluePoint19Y" fmla="*/ 7 h 418"/>
                <a:gd name="GluePoint20X" fmla="*/ 191 w 601"/>
                <a:gd name="GluePoint20Y" fmla="*/ 191 h 418"/>
                <a:gd name="GluePoint21X" fmla="*/ 7 w 601"/>
                <a:gd name="GluePoint21Y" fmla="*/ 410 h 418"/>
                <a:gd name="GluePoint22X" fmla="*/ 297 w 601"/>
                <a:gd name="GluePoint22Y" fmla="*/ 297 h 418"/>
                <a:gd name="GluePoint23X" fmla="*/ 297 w 601"/>
                <a:gd name="GluePoint23Y" fmla="*/ 297 h 418"/>
                <a:gd name="GluePoint24X" fmla="*/ 374 w 601"/>
                <a:gd name="GluePoint24Y" fmla="*/ 219 h 418"/>
                <a:gd name="GluePoint25X" fmla="*/ 593 w 601"/>
                <a:gd name="GluePoint25Y" fmla="*/ 410 h 418"/>
                <a:gd name="GluePoint26X" fmla="*/ 572 w 601"/>
                <a:gd name="GluePoint26Y" fmla="*/ 417 h 418"/>
                <a:gd name="GluePoint27X" fmla="*/ 28 w 601"/>
                <a:gd name="GluePoint27Y" fmla="*/ 417 h 418"/>
                <a:gd name="GluePoint28X" fmla="*/ 7 w 601"/>
                <a:gd name="GluePoint28Y" fmla="*/ 410 h 418"/>
                <a:gd name="GluePoint29X" fmla="*/ 219 w 601"/>
                <a:gd name="GluePoint29Y" fmla="*/ 219 h 418"/>
                <a:gd name="GluePoint30X" fmla="*/ 297 w 601"/>
                <a:gd name="GluePoint30Y" fmla="*/ 297 h 4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601" h="418">
                  <a:moveTo>
                    <a:pt x="410" y="191"/>
                  </a:moveTo>
                  <a:lnTo>
                    <a:pt x="410" y="191"/>
                  </a:lnTo>
                  <a:cubicBezTo>
                    <a:pt x="593" y="7"/>
                    <a:pt x="593" y="7"/>
                    <a:pt x="593" y="7"/>
                  </a:cubicBezTo>
                  <a:cubicBezTo>
                    <a:pt x="600" y="14"/>
                    <a:pt x="600" y="21"/>
                    <a:pt x="600" y="28"/>
                  </a:cubicBezTo>
                  <a:cubicBezTo>
                    <a:pt x="600" y="388"/>
                    <a:pt x="600" y="388"/>
                    <a:pt x="600" y="388"/>
                  </a:cubicBezTo>
                  <a:cubicBezTo>
                    <a:pt x="600" y="395"/>
                    <a:pt x="600" y="403"/>
                    <a:pt x="593" y="410"/>
                  </a:cubicBezTo>
                  <a:lnTo>
                    <a:pt x="410" y="191"/>
                  </a:lnTo>
                  <a:close/>
                  <a:moveTo>
                    <a:pt x="7" y="7"/>
                  </a:moveTo>
                  <a:lnTo>
                    <a:pt x="7" y="7"/>
                  </a:lnTo>
                  <a:cubicBezTo>
                    <a:pt x="14" y="7"/>
                    <a:pt x="21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79" y="0"/>
                    <a:pt x="586" y="7"/>
                    <a:pt x="593" y="7"/>
                  </a:cubicBezTo>
                  <a:cubicBezTo>
                    <a:pt x="297" y="240"/>
                    <a:pt x="297" y="240"/>
                    <a:pt x="297" y="240"/>
                  </a:cubicBezTo>
                  <a:lnTo>
                    <a:pt x="7" y="7"/>
                  </a:lnTo>
                  <a:close/>
                  <a:moveTo>
                    <a:pt x="7" y="410"/>
                  </a:moveTo>
                  <a:lnTo>
                    <a:pt x="7" y="410"/>
                  </a:lnTo>
                  <a:cubicBezTo>
                    <a:pt x="0" y="403"/>
                    <a:pt x="0" y="395"/>
                    <a:pt x="0" y="38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1"/>
                    <a:pt x="0" y="14"/>
                    <a:pt x="7" y="7"/>
                  </a:cubicBezTo>
                  <a:cubicBezTo>
                    <a:pt x="191" y="191"/>
                    <a:pt x="191" y="191"/>
                    <a:pt x="191" y="191"/>
                  </a:cubicBezTo>
                  <a:lnTo>
                    <a:pt x="7" y="410"/>
                  </a:lnTo>
                  <a:close/>
                  <a:moveTo>
                    <a:pt x="297" y="297"/>
                  </a:moveTo>
                  <a:lnTo>
                    <a:pt x="297" y="297"/>
                  </a:lnTo>
                  <a:cubicBezTo>
                    <a:pt x="374" y="219"/>
                    <a:pt x="374" y="219"/>
                    <a:pt x="374" y="219"/>
                  </a:cubicBezTo>
                  <a:cubicBezTo>
                    <a:pt x="593" y="410"/>
                    <a:pt x="593" y="410"/>
                    <a:pt x="593" y="410"/>
                  </a:cubicBezTo>
                  <a:cubicBezTo>
                    <a:pt x="586" y="417"/>
                    <a:pt x="579" y="417"/>
                    <a:pt x="572" y="417"/>
                  </a:cubicBezTo>
                  <a:cubicBezTo>
                    <a:pt x="28" y="417"/>
                    <a:pt x="28" y="417"/>
                    <a:pt x="28" y="417"/>
                  </a:cubicBezTo>
                  <a:cubicBezTo>
                    <a:pt x="21" y="417"/>
                    <a:pt x="14" y="417"/>
                    <a:pt x="7" y="410"/>
                  </a:cubicBezTo>
                  <a:cubicBezTo>
                    <a:pt x="219" y="219"/>
                    <a:pt x="219" y="219"/>
                    <a:pt x="219" y="219"/>
                  </a:cubicBezTo>
                  <a:lnTo>
                    <a:pt x="297" y="29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Open Sans Light"/>
              </a:endParaRPr>
            </a:p>
          </p:txBody>
        </p:sp>
      </p:grpSp>
      <p:grpSp>
        <p:nvGrpSpPr>
          <p:cNvPr id="87" name="Agrupar 45"/>
          <p:cNvGrpSpPr/>
          <p:nvPr/>
        </p:nvGrpSpPr>
        <p:grpSpPr>
          <a:xfrm>
            <a:off x="9782640" y="7041240"/>
            <a:ext cx="402120" cy="402120"/>
            <a:chOff x="9782640" y="7041240"/>
            <a:chExt cx="402120" cy="402120"/>
          </a:xfrm>
        </p:grpSpPr>
        <p:sp>
          <p:nvSpPr>
            <p:cNvPr id="88" name="Rectangle 25">
              <a:hlinkClick r:id="rId14"/>
            </p:cNvPr>
            <p:cNvSpPr/>
            <p:nvPr/>
          </p:nvSpPr>
          <p:spPr>
            <a:xfrm>
              <a:off x="9782640" y="7041240"/>
              <a:ext cx="402120" cy="402120"/>
            </a:xfrm>
            <a:prstGeom prst="rect">
              <a:avLst/>
            </a:prstGeom>
            <a:noFill/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Open Sans Light"/>
              </a:endParaRPr>
            </a:p>
          </p:txBody>
        </p:sp>
        <p:sp>
          <p:nvSpPr>
            <p:cNvPr id="89" name="Oval 23">
              <a:hlinkClick r:id="rId15"/>
            </p:cNvPr>
            <p:cNvSpPr/>
            <p:nvPr/>
          </p:nvSpPr>
          <p:spPr>
            <a:xfrm rot="10800000">
              <a:off x="9817200" y="7077600"/>
              <a:ext cx="333000" cy="333000"/>
            </a:xfrm>
            <a:prstGeom prst="ellipse">
              <a:avLst/>
            </a:prstGeom>
            <a:noFill/>
            <a:ln w="6350">
              <a:solidFill>
                <a:srgbClr val="FFFFFF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070" b="0" u="none" strike="noStrike">
                <a:solidFill>
                  <a:schemeClr val="lt1"/>
                </a:solidFill>
                <a:effectLst/>
                <a:uFillTx/>
                <a:latin typeface="Open Sans Light"/>
              </a:endParaRPr>
            </a:p>
          </p:txBody>
        </p:sp>
      </p:grpSp>
      <p:sp>
        <p:nvSpPr>
          <p:cNvPr id="90" name="Freeform 153">
            <a:hlinkClick r:id="rId16"/>
          </p:cNvPr>
          <p:cNvSpPr/>
          <p:nvPr/>
        </p:nvSpPr>
        <p:spPr>
          <a:xfrm>
            <a:off x="9897840" y="7157880"/>
            <a:ext cx="169920" cy="172440"/>
          </a:xfrm>
          <a:custGeom>
            <a:avLst/>
            <a:gdLst>
              <a:gd name="textAreaLeft" fmla="*/ 0 w 169920"/>
              <a:gd name="textAreaRight" fmla="*/ 170280 w 169920"/>
              <a:gd name="textAreaTop" fmla="*/ 0 h 172440"/>
              <a:gd name="textAreaBottom" fmla="*/ 172800 h 172440"/>
              <a:gd name="GluePoint1X" fmla="*/ 0 w 118"/>
              <a:gd name="GluePoint1Y" fmla="*/ 2147483646 h 119"/>
              <a:gd name="GluePoint2X" fmla="*/ 2147483646 w 118"/>
              <a:gd name="GluePoint2Y" fmla="*/ 2147483646 h 119"/>
              <a:gd name="GluePoint3X" fmla="*/ 2147483646 w 118"/>
              <a:gd name="GluePoint3Y" fmla="*/ 2147483646 h 119"/>
              <a:gd name="GluePoint4X" fmla="*/ 2147483646 w 118"/>
              <a:gd name="GluePoint4Y" fmla="*/ 2147483646 h 119"/>
              <a:gd name="GluePoint5X" fmla="*/ 2147483646 w 118"/>
              <a:gd name="GluePoint5Y" fmla="*/ 2147483646 h 119"/>
              <a:gd name="GluePoint6X" fmla="*/ 2147483646 w 118"/>
              <a:gd name="GluePoint6Y" fmla="*/ 2147483646 h 119"/>
              <a:gd name="GluePoint7X" fmla="*/ 2147483646 w 118"/>
              <a:gd name="GluePoint7Y" fmla="*/ 2147483646 h 119"/>
              <a:gd name="GluePoint8X" fmla="*/ 2147483646 w 118"/>
              <a:gd name="GluePoint8Y" fmla="*/ 2147483646 h 119"/>
              <a:gd name="GluePoint9X" fmla="*/ 2147483646 w 118"/>
              <a:gd name="GluePoint9Y" fmla="*/ 2147483646 h 119"/>
              <a:gd name="GluePoint10X" fmla="*/ 2147483646 w 118"/>
              <a:gd name="GluePoint10Y" fmla="*/ 2147483646 h 119"/>
              <a:gd name="GluePoint11X" fmla="*/ 2147483646 w 118"/>
              <a:gd name="GluePoint11Y" fmla="*/ 2147483646 h 119"/>
              <a:gd name="GluePoint12X" fmla="*/ 2147483646 w 118"/>
              <a:gd name="GluePoint12Y" fmla="*/ 2147483646 h 119"/>
              <a:gd name="GluePoint13X" fmla="*/ 2147483646 w 118"/>
              <a:gd name="GluePoint13Y" fmla="*/ 2147483646 h 119"/>
              <a:gd name="GluePoint14X" fmla="*/ 2147483646 w 118"/>
              <a:gd name="GluePoint14Y" fmla="*/ 2147483646 h 119"/>
              <a:gd name="GluePoint15X" fmla="*/ 2147483646 w 118"/>
              <a:gd name="GluePoint15Y" fmla="*/ 2147483646 h 119"/>
              <a:gd name="GluePoint16X" fmla="*/ 2147483646 w 118"/>
              <a:gd name="GluePoint16Y" fmla="*/ 2147483646 h 119"/>
              <a:gd name="GluePoint17X" fmla="*/ 2147483646 w 118"/>
              <a:gd name="GluePoint17Y" fmla="*/ 2147483646 h 119"/>
              <a:gd name="GluePoint18X" fmla="*/ 2147483646 w 118"/>
              <a:gd name="GluePoint18Y" fmla="*/ 2147483646 h 119"/>
              <a:gd name="GluePoint19X" fmla="*/ 2147483646 w 118"/>
              <a:gd name="GluePoint19Y" fmla="*/ 2147483646 h 119"/>
              <a:gd name="GluePoint20X" fmla="*/ 2147483646 w 118"/>
              <a:gd name="GluePoint20Y" fmla="*/ 2147483646 h 119"/>
              <a:gd name="GluePoint21X" fmla="*/ 2147483646 w 118"/>
              <a:gd name="GluePoint21Y" fmla="*/ 2147483646 h 119"/>
              <a:gd name="GluePoint22X" fmla="*/ 2147483646 w 118"/>
              <a:gd name="GluePoint22Y" fmla="*/ 2147483646 h 119"/>
              <a:gd name="GluePoint23X" fmla="*/ 2147483646 w 118"/>
              <a:gd name="GluePoint23Y" fmla="*/ 2147483646 h 119"/>
              <a:gd name="GluePoint24X" fmla="*/ 2147483646 w 118"/>
              <a:gd name="GluePoint24Y" fmla="*/ 2147483646 h 119"/>
              <a:gd name="GluePoint25X" fmla="*/ 2147483646 w 118"/>
              <a:gd name="GluePoint25Y" fmla="*/ 2147483646 h 119"/>
              <a:gd name="GluePoint26X" fmla="*/ 2147483646 w 118"/>
              <a:gd name="GluePoint26Y" fmla="*/ 2147483646 h 119"/>
              <a:gd name="GluePoint27X" fmla="*/ 2147483646 w 118"/>
              <a:gd name="GluePoint27Y" fmla="*/ 2147483646 h 119"/>
              <a:gd name="GluePoint28X" fmla="*/ 2147483646 w 118"/>
              <a:gd name="GluePoint28Y" fmla="*/ 2147483646 h 119"/>
              <a:gd name="GluePoint29X" fmla="*/ 2147483646 w 118"/>
              <a:gd name="GluePoint29Y" fmla="*/ 2147483646 h 119"/>
              <a:gd name="GluePoint30X" fmla="*/ 2147483646 w 118"/>
              <a:gd name="GluePoint30Y" fmla="*/ 2147483646 h 119"/>
              <a:gd name="GluePoint31X" fmla="*/ 2147483646 w 118"/>
              <a:gd name="GluePoint31Y" fmla="*/ 2147483646 h 119"/>
              <a:gd name="GluePoint32X" fmla="*/ 2147483646 w 118"/>
              <a:gd name="GluePoint32Y" fmla="*/ 2147483646 h 119"/>
              <a:gd name="GluePoint33X" fmla="*/ 2147483646 w 118"/>
              <a:gd name="GluePoint33Y" fmla="*/ 2147483646 h 119"/>
              <a:gd name="GluePoint34X" fmla="*/ 2147483646 w 118"/>
              <a:gd name="GluePoint34Y" fmla="*/ 2147483646 h 119"/>
              <a:gd name="GluePoint35X" fmla="*/ 2147483646 w 118"/>
              <a:gd name="GluePoint35Y" fmla="*/ 2147483646 h 119"/>
              <a:gd name="GluePoint36X" fmla="*/ 2147483646 w 118"/>
              <a:gd name="GluePoint36Y" fmla="*/ 2147483646 h 119"/>
              <a:gd name="GluePoint37X" fmla="*/ 2147483646 w 118"/>
              <a:gd name="GluePoint37Y" fmla="*/ 2147483646 h 119"/>
              <a:gd name="GluePoint38X" fmla="*/ 2147483646 w 118"/>
              <a:gd name="GluePoint38Y" fmla="*/ 2147483646 h 119"/>
              <a:gd name="GluePoint39X" fmla="*/ 2147483646 w 118"/>
              <a:gd name="GluePoint39Y" fmla="*/ 2147483646 h 119"/>
              <a:gd name="GluePoint40X" fmla="*/ 2147483646 w 118"/>
              <a:gd name="GluePoint40Y" fmla="*/ 2147483646 h 119"/>
              <a:gd name="GluePoint41X" fmla="*/ 2147483646 w 118"/>
              <a:gd name="GluePoint41Y" fmla="*/ 2147483646 h 1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</a:cxnLst>
            <a:rect l="textAreaLeft" t="textAreaTop" r="textAreaRight" b="textAreaBottom"/>
            <a:pathLst>
              <a:path w="118" h="119">
                <a:moveTo>
                  <a:pt x="59" y="0"/>
                </a:moveTo>
                <a:cubicBezTo>
                  <a:pt x="26" y="0"/>
                  <a:pt x="0" y="27"/>
                  <a:pt x="0" y="59"/>
                </a:cubicBezTo>
                <a:cubicBezTo>
                  <a:pt x="0" y="92"/>
                  <a:pt x="26" y="119"/>
                  <a:pt x="59" y="119"/>
                </a:cubicBezTo>
                <a:cubicBezTo>
                  <a:pt x="92" y="119"/>
                  <a:pt x="118" y="92"/>
                  <a:pt x="118" y="59"/>
                </a:cubicBezTo>
                <a:cubicBezTo>
                  <a:pt x="118" y="27"/>
                  <a:pt x="92" y="0"/>
                  <a:pt x="59" y="0"/>
                </a:cubicBezTo>
                <a:close/>
                <a:moveTo>
                  <a:pt x="111" y="57"/>
                </a:moveTo>
                <a:cubicBezTo>
                  <a:pt x="88" y="57"/>
                  <a:pt x="88" y="57"/>
                  <a:pt x="88" y="57"/>
                </a:cubicBezTo>
                <a:cubicBezTo>
                  <a:pt x="87" y="49"/>
                  <a:pt x="86" y="41"/>
                  <a:pt x="83" y="33"/>
                </a:cubicBezTo>
                <a:cubicBezTo>
                  <a:pt x="88" y="31"/>
                  <a:pt x="93" y="28"/>
                  <a:pt x="98" y="25"/>
                </a:cubicBezTo>
                <a:cubicBezTo>
                  <a:pt x="105" y="34"/>
                  <a:pt x="110" y="45"/>
                  <a:pt x="111" y="57"/>
                </a:cubicBezTo>
                <a:close/>
                <a:moveTo>
                  <a:pt x="57" y="111"/>
                </a:moveTo>
                <a:cubicBezTo>
                  <a:pt x="50" y="106"/>
                  <a:pt x="45" y="99"/>
                  <a:pt x="41" y="91"/>
                </a:cubicBezTo>
                <a:cubicBezTo>
                  <a:pt x="46" y="89"/>
                  <a:pt x="52" y="88"/>
                  <a:pt x="57" y="88"/>
                </a:cubicBezTo>
                <a:cubicBezTo>
                  <a:pt x="57" y="111"/>
                  <a:pt x="57" y="111"/>
                  <a:pt x="57" y="111"/>
                </a:cubicBezTo>
                <a:cubicBezTo>
                  <a:pt x="57" y="111"/>
                  <a:pt x="57" y="111"/>
                  <a:pt x="57" y="111"/>
                </a:cubicBezTo>
                <a:close/>
                <a:moveTo>
                  <a:pt x="61" y="8"/>
                </a:moveTo>
                <a:cubicBezTo>
                  <a:pt x="68" y="14"/>
                  <a:pt x="74" y="22"/>
                  <a:pt x="78" y="31"/>
                </a:cubicBezTo>
                <a:cubicBezTo>
                  <a:pt x="73" y="33"/>
                  <a:pt x="67" y="34"/>
                  <a:pt x="61" y="34"/>
                </a:cubicBezTo>
                <a:cubicBezTo>
                  <a:pt x="61" y="8"/>
                  <a:pt x="61" y="8"/>
                  <a:pt x="61" y="8"/>
                </a:cubicBezTo>
                <a:cubicBezTo>
                  <a:pt x="61" y="8"/>
                  <a:pt x="61" y="8"/>
                  <a:pt x="61" y="8"/>
                </a:cubicBezTo>
                <a:close/>
                <a:moveTo>
                  <a:pt x="67" y="8"/>
                </a:moveTo>
                <a:cubicBezTo>
                  <a:pt x="78" y="10"/>
                  <a:pt x="88" y="15"/>
                  <a:pt x="95" y="22"/>
                </a:cubicBezTo>
                <a:cubicBezTo>
                  <a:pt x="91" y="25"/>
                  <a:pt x="87" y="28"/>
                  <a:pt x="82" y="30"/>
                </a:cubicBezTo>
                <a:cubicBezTo>
                  <a:pt x="78" y="22"/>
                  <a:pt x="73" y="14"/>
                  <a:pt x="67" y="8"/>
                </a:cubicBezTo>
                <a:close/>
                <a:moveTo>
                  <a:pt x="57" y="8"/>
                </a:moveTo>
                <a:cubicBezTo>
                  <a:pt x="57" y="34"/>
                  <a:pt x="57" y="34"/>
                  <a:pt x="57" y="34"/>
                </a:cubicBezTo>
                <a:cubicBezTo>
                  <a:pt x="51" y="34"/>
                  <a:pt x="45" y="33"/>
                  <a:pt x="40" y="31"/>
                </a:cubicBezTo>
                <a:cubicBezTo>
                  <a:pt x="44" y="22"/>
                  <a:pt x="50" y="14"/>
                  <a:pt x="57" y="8"/>
                </a:cubicBezTo>
                <a:cubicBezTo>
                  <a:pt x="57" y="8"/>
                  <a:pt x="57" y="8"/>
                  <a:pt x="57" y="8"/>
                </a:cubicBezTo>
                <a:close/>
                <a:moveTo>
                  <a:pt x="36" y="30"/>
                </a:moveTo>
                <a:cubicBezTo>
                  <a:pt x="31" y="28"/>
                  <a:pt x="27" y="25"/>
                  <a:pt x="23" y="22"/>
                </a:cubicBezTo>
                <a:cubicBezTo>
                  <a:pt x="30" y="15"/>
                  <a:pt x="40" y="10"/>
                  <a:pt x="50" y="8"/>
                </a:cubicBezTo>
                <a:cubicBezTo>
                  <a:pt x="45" y="14"/>
                  <a:pt x="40" y="22"/>
                  <a:pt x="36" y="30"/>
                </a:cubicBezTo>
                <a:close/>
                <a:moveTo>
                  <a:pt x="38" y="35"/>
                </a:moveTo>
                <a:cubicBezTo>
                  <a:pt x="44" y="37"/>
                  <a:pt x="50" y="38"/>
                  <a:pt x="57" y="38"/>
                </a:cubicBezTo>
                <a:cubicBezTo>
                  <a:pt x="57" y="57"/>
                  <a:pt x="57" y="57"/>
                  <a:pt x="57" y="57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49"/>
                  <a:pt x="36" y="42"/>
                  <a:pt x="38" y="35"/>
                </a:cubicBezTo>
                <a:close/>
                <a:moveTo>
                  <a:pt x="57" y="61"/>
                </a:moveTo>
                <a:cubicBezTo>
                  <a:pt x="57" y="84"/>
                  <a:pt x="57" y="84"/>
                  <a:pt x="57" y="84"/>
                </a:cubicBezTo>
                <a:cubicBezTo>
                  <a:pt x="51" y="85"/>
                  <a:pt x="45" y="86"/>
                  <a:pt x="40" y="87"/>
                </a:cubicBezTo>
                <a:cubicBezTo>
                  <a:pt x="36" y="79"/>
                  <a:pt x="34" y="71"/>
                  <a:pt x="34" y="61"/>
                </a:cubicBezTo>
                <a:lnTo>
                  <a:pt x="57" y="61"/>
                </a:lnTo>
                <a:close/>
                <a:moveTo>
                  <a:pt x="50" y="110"/>
                </a:moveTo>
                <a:cubicBezTo>
                  <a:pt x="41" y="109"/>
                  <a:pt x="32" y="105"/>
                  <a:pt x="25" y="99"/>
                </a:cubicBezTo>
                <a:cubicBezTo>
                  <a:pt x="29" y="96"/>
                  <a:pt x="33" y="94"/>
                  <a:pt x="38" y="92"/>
                </a:cubicBezTo>
                <a:cubicBezTo>
                  <a:pt x="41" y="99"/>
                  <a:pt x="45" y="105"/>
                  <a:pt x="50" y="110"/>
                </a:cubicBezTo>
                <a:close/>
                <a:moveTo>
                  <a:pt x="61" y="111"/>
                </a:moveTo>
                <a:cubicBezTo>
                  <a:pt x="61" y="88"/>
                  <a:pt x="61" y="88"/>
                  <a:pt x="61" y="88"/>
                </a:cubicBezTo>
                <a:cubicBezTo>
                  <a:pt x="66" y="88"/>
                  <a:pt x="72" y="89"/>
                  <a:pt x="77" y="91"/>
                </a:cubicBezTo>
                <a:cubicBezTo>
                  <a:pt x="73" y="99"/>
                  <a:pt x="67" y="106"/>
                  <a:pt x="61" y="111"/>
                </a:cubicBezTo>
                <a:cubicBezTo>
                  <a:pt x="61" y="111"/>
                  <a:pt x="61" y="111"/>
                  <a:pt x="61" y="111"/>
                </a:cubicBezTo>
                <a:close/>
                <a:moveTo>
                  <a:pt x="80" y="92"/>
                </a:moveTo>
                <a:cubicBezTo>
                  <a:pt x="85" y="94"/>
                  <a:pt x="89" y="96"/>
                  <a:pt x="93" y="99"/>
                </a:cubicBezTo>
                <a:cubicBezTo>
                  <a:pt x="86" y="105"/>
                  <a:pt x="77" y="109"/>
                  <a:pt x="67" y="110"/>
                </a:cubicBezTo>
                <a:cubicBezTo>
                  <a:pt x="73" y="105"/>
                  <a:pt x="77" y="99"/>
                  <a:pt x="80" y="92"/>
                </a:cubicBezTo>
                <a:close/>
                <a:moveTo>
                  <a:pt x="78" y="87"/>
                </a:moveTo>
                <a:cubicBezTo>
                  <a:pt x="73" y="86"/>
                  <a:pt x="67" y="85"/>
                  <a:pt x="61" y="84"/>
                </a:cubicBezTo>
                <a:cubicBezTo>
                  <a:pt x="61" y="61"/>
                  <a:pt x="61" y="61"/>
                  <a:pt x="61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71"/>
                  <a:pt x="82" y="79"/>
                  <a:pt x="78" y="87"/>
                </a:cubicBezTo>
                <a:close/>
                <a:moveTo>
                  <a:pt x="61" y="57"/>
                </a:moveTo>
                <a:cubicBezTo>
                  <a:pt x="61" y="38"/>
                  <a:pt x="61" y="38"/>
                  <a:pt x="61" y="38"/>
                </a:cubicBezTo>
                <a:cubicBezTo>
                  <a:pt x="67" y="38"/>
                  <a:pt x="74" y="37"/>
                  <a:pt x="80" y="35"/>
                </a:cubicBezTo>
                <a:cubicBezTo>
                  <a:pt x="82" y="42"/>
                  <a:pt x="84" y="49"/>
                  <a:pt x="84" y="57"/>
                </a:cubicBezTo>
                <a:lnTo>
                  <a:pt x="61" y="57"/>
                </a:lnTo>
                <a:close/>
                <a:moveTo>
                  <a:pt x="20" y="25"/>
                </a:moveTo>
                <a:cubicBezTo>
                  <a:pt x="25" y="28"/>
                  <a:pt x="30" y="31"/>
                  <a:pt x="35" y="33"/>
                </a:cubicBezTo>
                <a:cubicBezTo>
                  <a:pt x="32" y="41"/>
                  <a:pt x="30" y="49"/>
                  <a:pt x="30" y="57"/>
                </a:cubicBezTo>
                <a:cubicBezTo>
                  <a:pt x="7" y="57"/>
                  <a:pt x="7" y="57"/>
                  <a:pt x="7" y="57"/>
                </a:cubicBezTo>
                <a:cubicBezTo>
                  <a:pt x="8" y="45"/>
                  <a:pt x="13" y="34"/>
                  <a:pt x="20" y="25"/>
                </a:cubicBezTo>
                <a:close/>
                <a:moveTo>
                  <a:pt x="7" y="61"/>
                </a:moveTo>
                <a:cubicBezTo>
                  <a:pt x="30" y="61"/>
                  <a:pt x="30" y="61"/>
                  <a:pt x="30" y="61"/>
                </a:cubicBezTo>
                <a:cubicBezTo>
                  <a:pt x="31" y="71"/>
                  <a:pt x="33" y="80"/>
                  <a:pt x="36" y="89"/>
                </a:cubicBezTo>
                <a:cubicBezTo>
                  <a:pt x="31" y="91"/>
                  <a:pt x="27" y="93"/>
                  <a:pt x="22" y="96"/>
                </a:cubicBezTo>
                <a:cubicBezTo>
                  <a:pt x="13" y="87"/>
                  <a:pt x="8" y="75"/>
                  <a:pt x="7" y="61"/>
                </a:cubicBezTo>
                <a:close/>
                <a:moveTo>
                  <a:pt x="95" y="96"/>
                </a:moveTo>
                <a:cubicBezTo>
                  <a:pt x="91" y="93"/>
                  <a:pt x="87" y="91"/>
                  <a:pt x="82" y="89"/>
                </a:cubicBezTo>
                <a:cubicBezTo>
                  <a:pt x="85" y="80"/>
                  <a:pt x="87" y="71"/>
                  <a:pt x="88" y="61"/>
                </a:cubicBezTo>
                <a:cubicBezTo>
                  <a:pt x="111" y="61"/>
                  <a:pt x="111" y="61"/>
                  <a:pt x="111" y="61"/>
                </a:cubicBezTo>
                <a:cubicBezTo>
                  <a:pt x="110" y="75"/>
                  <a:pt x="104" y="87"/>
                  <a:pt x="95" y="96"/>
                </a:cubicBezTo>
                <a:close/>
                <a:moveTo>
                  <a:pt x="95" y="96"/>
                </a:moveTo>
                <a:cubicBezTo>
                  <a:pt x="95" y="96"/>
                  <a:pt x="95" y="96"/>
                  <a:pt x="95" y="9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Open Sans Light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3680" y="2130480"/>
            <a:ext cx="10362600" cy="146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 defTabSz="1219320">
              <a:lnSpc>
                <a:spcPct val="86000"/>
              </a:lnSpc>
              <a:buNone/>
              <a:defRPr lang="en-US" sz="5400" b="0" u="none" spc="-54" strike="noStrike">
                <a:solidFill>
                  <a:schemeClr val="dk1"/>
                </a:solidFill>
                <a:effectLst/>
                <a:uFillTx/>
                <a:latin typeface="Open Sans Light"/>
              </a:defRPr>
            </a:lvl1pPr>
          </a:lstStyle>
          <a:p>
            <a:pPr indent="0" algn="ctr" defTabSz="1219320">
              <a:lnSpc>
                <a:spcPct val="86000"/>
              </a:lnSpc>
              <a:buNone/>
            </a:pPr>
            <a:r>
              <a:rPr lang="en-US" sz="5400" b="0" u="none" spc="-54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Click to edit Master title style</a:t>
            </a:r>
            <a:endParaRPr lang="en-US" sz="5400" b="0" u="none" spc="-54" strike="noStrike">
              <a:solidFill>
                <a:schemeClr val="dk1"/>
              </a:solidFill>
              <a:effectLst/>
              <a:uFillTx/>
              <a:latin typeface="Open Sans Light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1219320">
              <a:spcBef>
                <a:spcPts val="400"/>
              </a:spcBef>
              <a:buClr>
                <a:srgbClr val="4DB3C7"/>
              </a:buClr>
              <a:buFont typeface="Arial"/>
              <a:buChar char="•"/>
              <a:defRPr lang="en-US" sz="2000" b="0" u="none" spc="-14" strike="noStrike">
                <a:solidFill>
                  <a:schemeClr val="dk1"/>
                </a:solidFill>
                <a:effectLst/>
                <a:uFillTx/>
                <a:latin typeface="Open Sans Light"/>
              </a:defRPr>
            </a:lvl1pPr>
            <a:lvl2pPr lvl="1" algn="l" defTabSz="1219320">
              <a:spcBef>
                <a:spcPts val="320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Open Sans Light"/>
              </a:defRPr>
            </a:lvl2pPr>
            <a:lvl3pPr lvl="2" algn="l" defTabSz="1219320"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Open Sans Light"/>
              </a:defRPr>
            </a:lvl3pPr>
            <a:lvl4pPr lvl="3" algn="l" defTabSz="1219320">
              <a:spcBef>
                <a:spcPts val="320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Open Sans Light"/>
              </a:defRPr>
            </a:lvl4pPr>
            <a:lvl5pPr lvl="4" algn="l" defTabSz="1219320"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Open Sans Light"/>
              </a:defRPr>
            </a:lvl5pPr>
            <a:lvl6pPr lvl="5" algn="l" defTabSz="121932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Open Sans Light"/>
              </a:defRPr>
            </a:lvl6pPr>
            <a:lvl7pPr lvl="6" algn="l" defTabSz="121932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Open Sans Light"/>
              </a:defRPr>
            </a:lvl7pPr>
          </a:lstStyle>
          <a:p>
            <a:pPr marL="228600" indent="-228600" algn="l" defTabSz="1219320">
              <a:spcBef>
                <a:spcPts val="400"/>
              </a:spcBef>
              <a:buClr>
                <a:srgbClr val="4DB3C7"/>
              </a:buClr>
              <a:buFont typeface="Arial"/>
              <a:buChar char="•"/>
            </a:pPr>
            <a:r>
              <a:rPr lang="en-US" sz="2000" b="0" u="none" spc="-14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Click to edit the outline text format</a:t>
            </a:r>
            <a:endParaRPr lang="en-US" sz="2000" b="0" u="none" spc="-14" strike="noStrike">
              <a:solidFill>
                <a:schemeClr val="dk1"/>
              </a:solidFill>
              <a:effectLst/>
              <a:uFillTx/>
              <a:latin typeface="Open Sans Light"/>
            </a:endParaRPr>
          </a:p>
          <a:p>
            <a:pPr marL="864000" lvl="1" indent="-324000" algn="l" defTabSz="1219320">
              <a:spcBef>
                <a:spcPts val="320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Second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Open Sans Light"/>
            </a:endParaRPr>
          </a:p>
          <a:p>
            <a:pPr marL="1296000" lvl="2" indent="-288000" algn="l" defTabSz="1219320"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Third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Open Sans Light"/>
            </a:endParaRPr>
          </a:p>
          <a:p>
            <a:pPr marL="1728000" lvl="3" indent="-216000" algn="l" defTabSz="1219320">
              <a:spcBef>
                <a:spcPts val="320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Fourth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Open Sans Light"/>
            </a:endParaRPr>
          </a:p>
          <a:p>
            <a:pPr marL="2160000" lvl="4" indent="-216000" algn="l" defTabSz="1219320">
              <a:spcBef>
                <a:spcPts val="32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Fifth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Open Sans Light"/>
            </a:endParaRPr>
          </a:p>
          <a:p>
            <a:pPr marL="2592000" lvl="5" indent="-216000" algn="l" defTabSz="121932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Open Sans Light"/>
            </a:endParaRPr>
          </a:p>
          <a:p>
            <a:pPr marL="3024000" lvl="6" indent="-216000" algn="l" defTabSz="121932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Open Sans Ligh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www.linkedin.com/in/rommelcarneiro/" TargetMode="External"/><Relationship Id="rId2" Type="http://schemas.openxmlformats.org/officeDocument/2006/relationships/hyperlink" Target="https://www.linkedin.com/in/rommelcarneiro/" TargetMode="External"/><Relationship Id="rId3" Type="http://schemas.openxmlformats.org/officeDocument/2006/relationships/hyperlink" Target="https://www.linkedin.com/in/rommelcarneiro/" TargetMode="External"/><Relationship Id="rId4" Type="http://schemas.openxmlformats.org/officeDocument/2006/relationships/hyperlink" Target="https://twitter.com/rommelcarneiro" TargetMode="External"/><Relationship Id="rId5" Type="http://schemas.openxmlformats.org/officeDocument/2006/relationships/hyperlink" Target="https://twitter.com/rommelcarneiro" TargetMode="External"/><Relationship Id="rId6" Type="http://schemas.openxmlformats.org/officeDocument/2006/relationships/hyperlink" Target="http://rommelcarneiro.me/" TargetMode="External"/><Relationship Id="rId7" Type="http://schemas.openxmlformats.org/officeDocument/2006/relationships/image" Target="../media/image4.png"/><Relationship Id="rId8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913680" y="2130480"/>
            <a:ext cx="10362600" cy="146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1219320">
              <a:lnSpc>
                <a:spcPct val="86000"/>
              </a:lnSpc>
              <a:buNone/>
            </a:pPr>
            <a:r>
              <a:rPr lang="pt-BR" sz="5400" b="0" u="none" spc="-54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BANCO DE DADOS I</a:t>
            </a:r>
            <a:endParaRPr lang="en-US" sz="5400" b="0" u="none" spc="-54" strike="noStrike">
              <a:solidFill>
                <a:schemeClr val="dk1"/>
              </a:solidFill>
              <a:effectLst/>
              <a:uFillTx/>
              <a:latin typeface="Open Sans Light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1828080" y="3886200"/>
            <a:ext cx="7593120" cy="175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ctr" defTabSz="121932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pt-BR" sz="2800" b="0" u="none" spc="-14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Open Sans Light"/>
              </a:rPr>
              <a:t>Prof. Hayala Curto </a:t>
            </a:r>
            <a:endParaRPr lang="pt-BR" sz="2800" b="0" u="none" spc="-14" strike="noStrike">
              <a:solidFill>
                <a:schemeClr val="dk1">
                  <a:tint val="75000"/>
                </a:schemeClr>
              </a:solidFill>
              <a:effectLst/>
              <a:uFillTx/>
              <a:latin typeface="Open Sans Light"/>
            </a:endParaRPr>
          </a:p>
        </p:txBody>
      </p:sp>
      <p:grpSp>
        <p:nvGrpSpPr>
          <p:cNvPr id="103" name="Agrupar 3"/>
          <p:cNvGrpSpPr/>
          <p:nvPr/>
        </p:nvGrpSpPr>
        <p:grpSpPr>
          <a:xfrm>
            <a:off x="8082720" y="3902400"/>
            <a:ext cx="402120" cy="402120"/>
            <a:chOff x="8082720" y="3902400"/>
            <a:chExt cx="402120" cy="402120"/>
          </a:xfrm>
        </p:grpSpPr>
        <p:sp>
          <p:nvSpPr>
            <p:cNvPr id="104" name="Rectangle 3">
              <a:hlinkClick r:id="rId1"/>
            </p:cNvPr>
            <p:cNvSpPr/>
            <p:nvPr/>
          </p:nvSpPr>
          <p:spPr>
            <a:xfrm>
              <a:off x="8082720" y="3902400"/>
              <a:ext cx="402120" cy="402120"/>
            </a:xfrm>
            <a:prstGeom prst="rect">
              <a:avLst/>
            </a:prstGeom>
            <a:noFill/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Open Sans Light"/>
              </a:endParaRPr>
            </a:p>
          </p:txBody>
        </p:sp>
        <p:sp>
          <p:nvSpPr>
            <p:cNvPr id="105" name="Freeform 3">
              <a:hlinkClick r:id="rId2"/>
            </p:cNvPr>
            <p:cNvSpPr/>
            <p:nvPr/>
          </p:nvSpPr>
          <p:spPr>
            <a:xfrm>
              <a:off x="8220600" y="4035600"/>
              <a:ext cx="141840" cy="13608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136080"/>
                <a:gd name="textAreaBottom" fmla="*/ 136440 h 136080"/>
                <a:gd name="GluePoint1X" fmla="*/ 1176 w 1562"/>
                <a:gd name="GluePoint1Y" fmla="*/ 466 h 1491"/>
                <a:gd name="GluePoint2X" fmla="*/ 1176 w 1562"/>
                <a:gd name="GluePoint2Y" fmla="*/ 466 h 1491"/>
                <a:gd name="GluePoint3X" fmla="*/ 871 w 1562"/>
                <a:gd name="GluePoint3Y" fmla="*/ 636 h 1491"/>
                <a:gd name="GluePoint4X" fmla="*/ 871 w 1562"/>
                <a:gd name="GluePoint4Y" fmla="*/ 488 h 1491"/>
                <a:gd name="GluePoint5X" fmla="*/ 538 w 1562"/>
                <a:gd name="GluePoint5Y" fmla="*/ 488 h 1491"/>
                <a:gd name="GluePoint6X" fmla="*/ 538 w 1562"/>
                <a:gd name="GluePoint6Y" fmla="*/ 1491 h 1491"/>
                <a:gd name="GluePoint7X" fmla="*/ 871 w 1562"/>
                <a:gd name="GluePoint7Y" fmla="*/ 1491 h 1491"/>
                <a:gd name="GluePoint8X" fmla="*/ 871 w 1562"/>
                <a:gd name="GluePoint8Y" fmla="*/ 931 h 1491"/>
                <a:gd name="GluePoint9X" fmla="*/ 886 w 1562"/>
                <a:gd name="GluePoint9Y" fmla="*/ 850 h 1491"/>
                <a:gd name="GluePoint10X" fmla="*/ 1057 w 1562"/>
                <a:gd name="GluePoint10Y" fmla="*/ 724 h 1491"/>
                <a:gd name="GluePoint11X" fmla="*/ 1228 w 1562"/>
                <a:gd name="GluePoint11Y" fmla="*/ 953 h 1491"/>
                <a:gd name="GluePoint12X" fmla="*/ 1228 w 1562"/>
                <a:gd name="GluePoint12Y" fmla="*/ 1491 h 1491"/>
                <a:gd name="GluePoint13X" fmla="*/ 1562 w 1562"/>
                <a:gd name="GluePoint13Y" fmla="*/ 1491 h 1491"/>
                <a:gd name="GluePoint14X" fmla="*/ 1562 w 1562"/>
                <a:gd name="GluePoint14Y" fmla="*/ 916 h 1491"/>
                <a:gd name="GluePoint15X" fmla="*/ 1176 w 1562"/>
                <a:gd name="GluePoint15Y" fmla="*/ 466 h 1491"/>
                <a:gd name="GluePoint16X" fmla="*/ 22 w 1562"/>
                <a:gd name="GluePoint16Y" fmla="*/ 1491 h 1491"/>
                <a:gd name="GluePoint17X" fmla="*/ 22 w 1562"/>
                <a:gd name="GluePoint17Y" fmla="*/ 1491 h 1491"/>
                <a:gd name="GluePoint18X" fmla="*/ 357 w 1562"/>
                <a:gd name="GluePoint18Y" fmla="*/ 1491 h 1491"/>
                <a:gd name="GluePoint19X" fmla="*/ 357 w 1562"/>
                <a:gd name="GluePoint19Y" fmla="*/ 487 h 1491"/>
                <a:gd name="GluePoint20X" fmla="*/ 22 w 1562"/>
                <a:gd name="GluePoint20Y" fmla="*/ 487 h 1491"/>
                <a:gd name="GluePoint21X" fmla="*/ 22 w 1562"/>
                <a:gd name="GluePoint21Y" fmla="*/ 1491 h 1491"/>
                <a:gd name="GluePoint22X" fmla="*/ 193 w 1562"/>
                <a:gd name="GluePoint22Y" fmla="*/ 0 h 1491"/>
                <a:gd name="GluePoint23X" fmla="*/ 193 w 1562"/>
                <a:gd name="GluePoint23Y" fmla="*/ 0 h 1491"/>
                <a:gd name="GluePoint24X" fmla="*/ 0 w 1562"/>
                <a:gd name="GluePoint24Y" fmla="*/ 178 h 1491"/>
                <a:gd name="GluePoint25X" fmla="*/ 186 w 1562"/>
                <a:gd name="GluePoint25Y" fmla="*/ 347 h 1491"/>
                <a:gd name="GluePoint26X" fmla="*/ 379 w 1562"/>
                <a:gd name="GluePoint26Y" fmla="*/ 178 h 1491"/>
                <a:gd name="GluePoint27X" fmla="*/ 193 w 1562"/>
                <a:gd name="GluePoint27Y" fmla="*/ 0 h 14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1562" h="1491">
                  <a:moveTo>
                    <a:pt x="1176" y="466"/>
                  </a:moveTo>
                  <a:lnTo>
                    <a:pt x="1176" y="466"/>
                  </a:lnTo>
                  <a:cubicBezTo>
                    <a:pt x="990" y="466"/>
                    <a:pt x="916" y="562"/>
                    <a:pt x="871" y="636"/>
                  </a:cubicBezTo>
                  <a:lnTo>
                    <a:pt x="871" y="488"/>
                  </a:lnTo>
                  <a:lnTo>
                    <a:pt x="538" y="488"/>
                  </a:lnTo>
                  <a:cubicBezTo>
                    <a:pt x="545" y="584"/>
                    <a:pt x="538" y="1491"/>
                    <a:pt x="538" y="1491"/>
                  </a:cubicBezTo>
                  <a:lnTo>
                    <a:pt x="871" y="1491"/>
                  </a:lnTo>
                  <a:lnTo>
                    <a:pt x="871" y="931"/>
                  </a:lnTo>
                  <a:cubicBezTo>
                    <a:pt x="871" y="901"/>
                    <a:pt x="871" y="872"/>
                    <a:pt x="886" y="850"/>
                  </a:cubicBezTo>
                  <a:cubicBezTo>
                    <a:pt x="909" y="791"/>
                    <a:pt x="961" y="724"/>
                    <a:pt x="1057" y="724"/>
                  </a:cubicBezTo>
                  <a:cubicBezTo>
                    <a:pt x="1176" y="724"/>
                    <a:pt x="1228" y="820"/>
                    <a:pt x="1228" y="953"/>
                  </a:cubicBezTo>
                  <a:lnTo>
                    <a:pt x="1228" y="1491"/>
                  </a:lnTo>
                  <a:lnTo>
                    <a:pt x="1562" y="1491"/>
                  </a:lnTo>
                  <a:lnTo>
                    <a:pt x="1562" y="916"/>
                  </a:lnTo>
                  <a:cubicBezTo>
                    <a:pt x="1562" y="606"/>
                    <a:pt x="1398" y="466"/>
                    <a:pt x="1176" y="466"/>
                  </a:cubicBezTo>
                  <a:close/>
                  <a:moveTo>
                    <a:pt x="22" y="1491"/>
                  </a:moveTo>
                  <a:lnTo>
                    <a:pt x="22" y="1491"/>
                  </a:lnTo>
                  <a:lnTo>
                    <a:pt x="357" y="1491"/>
                  </a:lnTo>
                  <a:lnTo>
                    <a:pt x="357" y="487"/>
                  </a:lnTo>
                  <a:lnTo>
                    <a:pt x="22" y="487"/>
                  </a:lnTo>
                  <a:lnTo>
                    <a:pt x="22" y="1491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cubicBezTo>
                    <a:pt x="74" y="0"/>
                    <a:pt x="0" y="82"/>
                    <a:pt x="0" y="178"/>
                  </a:cubicBezTo>
                  <a:cubicBezTo>
                    <a:pt x="0" y="273"/>
                    <a:pt x="74" y="347"/>
                    <a:pt x="186" y="347"/>
                  </a:cubicBezTo>
                  <a:cubicBezTo>
                    <a:pt x="305" y="347"/>
                    <a:pt x="379" y="273"/>
                    <a:pt x="379" y="178"/>
                  </a:cubicBezTo>
                  <a:cubicBezTo>
                    <a:pt x="379" y="82"/>
                    <a:pt x="305" y="0"/>
                    <a:pt x="193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70920" tIns="60840" rIns="70920" bIns="60840" anchor="t">
              <a:noAutofit/>
            </a:bodyPr>
            <a:p>
              <a:endParaRPr lang="en-US" sz="3200" b="0" u="none" strike="noStrike">
                <a:solidFill>
                  <a:schemeClr val="dk1"/>
                </a:solidFill>
                <a:effectLst/>
                <a:uFillTx/>
                <a:latin typeface="Open Sans Light"/>
              </a:endParaRPr>
            </a:p>
          </p:txBody>
        </p:sp>
        <p:sp>
          <p:nvSpPr>
            <p:cNvPr id="106" name="Oval 3">
              <a:hlinkClick r:id="rId3"/>
            </p:cNvPr>
            <p:cNvSpPr/>
            <p:nvPr/>
          </p:nvSpPr>
          <p:spPr>
            <a:xfrm>
              <a:off x="8124840" y="3938760"/>
              <a:ext cx="332640" cy="333000"/>
            </a:xfrm>
            <a:prstGeom prst="ellipse">
              <a:avLst/>
            </a:prstGeom>
            <a:noFill/>
            <a:ln w="6350">
              <a:solidFill>
                <a:srgbClr val="FFFFFF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070" b="0" u="none" strike="noStrike">
                <a:solidFill>
                  <a:schemeClr val="lt1"/>
                </a:solidFill>
                <a:effectLst/>
                <a:uFillTx/>
                <a:latin typeface="Open Sans Light"/>
              </a:endParaRPr>
            </a:p>
          </p:txBody>
        </p:sp>
      </p:grpSp>
      <p:grpSp>
        <p:nvGrpSpPr>
          <p:cNvPr id="107" name="Agrupar 4"/>
          <p:cNvGrpSpPr/>
          <p:nvPr/>
        </p:nvGrpSpPr>
        <p:grpSpPr>
          <a:xfrm>
            <a:off x="7599600" y="3902400"/>
            <a:ext cx="402120" cy="402120"/>
            <a:chOff x="7599600" y="3902400"/>
            <a:chExt cx="402120" cy="402120"/>
          </a:xfrm>
        </p:grpSpPr>
        <p:sp>
          <p:nvSpPr>
            <p:cNvPr id="108" name="Rectangle 4">
              <a:hlinkClick r:id="rId4"/>
            </p:cNvPr>
            <p:cNvSpPr/>
            <p:nvPr/>
          </p:nvSpPr>
          <p:spPr>
            <a:xfrm>
              <a:off x="7599600" y="3902400"/>
              <a:ext cx="402120" cy="402120"/>
            </a:xfrm>
            <a:prstGeom prst="rect">
              <a:avLst/>
            </a:prstGeom>
            <a:noFill/>
            <a:ln>
              <a:noFill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Open Sans Light"/>
              </a:endParaRPr>
            </a:p>
          </p:txBody>
        </p:sp>
        <p:sp>
          <p:nvSpPr>
            <p:cNvPr id="109" name="Oval 4">
              <a:hlinkClick r:id="rId5"/>
            </p:cNvPr>
            <p:cNvSpPr/>
            <p:nvPr/>
          </p:nvSpPr>
          <p:spPr>
            <a:xfrm rot="10800000">
              <a:off x="7634520" y="3938760"/>
              <a:ext cx="332640" cy="333000"/>
            </a:xfrm>
            <a:prstGeom prst="ellipse">
              <a:avLst/>
            </a:prstGeom>
            <a:noFill/>
            <a:ln w="6350">
              <a:solidFill>
                <a:srgbClr val="FFFFFF"/>
              </a:solidFill>
              <a:round/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070" b="0" u="none" strike="noStrike">
                <a:solidFill>
                  <a:schemeClr val="lt1"/>
                </a:solidFill>
                <a:effectLst/>
                <a:uFillTx/>
                <a:latin typeface="Open Sans Light"/>
              </a:endParaRPr>
            </a:p>
          </p:txBody>
        </p:sp>
      </p:grpSp>
      <p:sp>
        <p:nvSpPr>
          <p:cNvPr id="110" name="Freeform 4">
            <a:hlinkClick r:id="rId6"/>
          </p:cNvPr>
          <p:cNvSpPr/>
          <p:nvPr/>
        </p:nvSpPr>
        <p:spPr>
          <a:xfrm>
            <a:off x="7715160" y="4018680"/>
            <a:ext cx="169920" cy="172440"/>
          </a:xfrm>
          <a:custGeom>
            <a:avLst/>
            <a:gdLst>
              <a:gd name="textAreaLeft" fmla="*/ 0 w 169920"/>
              <a:gd name="textAreaRight" fmla="*/ 170280 w 169920"/>
              <a:gd name="textAreaTop" fmla="*/ 0 h 172440"/>
              <a:gd name="textAreaBottom" fmla="*/ 172800 h 172440"/>
              <a:gd name="GluePoint1X" fmla="*/ 0 w 118"/>
              <a:gd name="GluePoint1Y" fmla="*/ 2147483646 h 119"/>
              <a:gd name="GluePoint2X" fmla="*/ 2147483646 w 118"/>
              <a:gd name="GluePoint2Y" fmla="*/ 2147483646 h 119"/>
              <a:gd name="GluePoint3X" fmla="*/ 2147483646 w 118"/>
              <a:gd name="GluePoint3Y" fmla="*/ 2147483646 h 119"/>
              <a:gd name="GluePoint4X" fmla="*/ 2147483646 w 118"/>
              <a:gd name="GluePoint4Y" fmla="*/ 2147483646 h 119"/>
              <a:gd name="GluePoint5X" fmla="*/ 2147483646 w 118"/>
              <a:gd name="GluePoint5Y" fmla="*/ 2147483646 h 119"/>
              <a:gd name="GluePoint6X" fmla="*/ 2147483646 w 118"/>
              <a:gd name="GluePoint6Y" fmla="*/ 2147483646 h 119"/>
              <a:gd name="GluePoint7X" fmla="*/ 2147483646 w 118"/>
              <a:gd name="GluePoint7Y" fmla="*/ 2147483646 h 119"/>
              <a:gd name="GluePoint8X" fmla="*/ 2147483646 w 118"/>
              <a:gd name="GluePoint8Y" fmla="*/ 2147483646 h 119"/>
              <a:gd name="GluePoint9X" fmla="*/ 2147483646 w 118"/>
              <a:gd name="GluePoint9Y" fmla="*/ 2147483646 h 119"/>
              <a:gd name="GluePoint10X" fmla="*/ 2147483646 w 118"/>
              <a:gd name="GluePoint10Y" fmla="*/ 2147483646 h 119"/>
              <a:gd name="GluePoint11X" fmla="*/ 2147483646 w 118"/>
              <a:gd name="GluePoint11Y" fmla="*/ 2147483646 h 119"/>
              <a:gd name="GluePoint12X" fmla="*/ 2147483646 w 118"/>
              <a:gd name="GluePoint12Y" fmla="*/ 2147483646 h 119"/>
              <a:gd name="GluePoint13X" fmla="*/ 2147483646 w 118"/>
              <a:gd name="GluePoint13Y" fmla="*/ 2147483646 h 119"/>
              <a:gd name="GluePoint14X" fmla="*/ 2147483646 w 118"/>
              <a:gd name="GluePoint14Y" fmla="*/ 2147483646 h 119"/>
              <a:gd name="GluePoint15X" fmla="*/ 2147483646 w 118"/>
              <a:gd name="GluePoint15Y" fmla="*/ 2147483646 h 119"/>
              <a:gd name="GluePoint16X" fmla="*/ 2147483646 w 118"/>
              <a:gd name="GluePoint16Y" fmla="*/ 2147483646 h 119"/>
              <a:gd name="GluePoint17X" fmla="*/ 2147483646 w 118"/>
              <a:gd name="GluePoint17Y" fmla="*/ 2147483646 h 119"/>
              <a:gd name="GluePoint18X" fmla="*/ 2147483646 w 118"/>
              <a:gd name="GluePoint18Y" fmla="*/ 2147483646 h 119"/>
              <a:gd name="GluePoint19X" fmla="*/ 2147483646 w 118"/>
              <a:gd name="GluePoint19Y" fmla="*/ 2147483646 h 119"/>
              <a:gd name="GluePoint20X" fmla="*/ 2147483646 w 118"/>
              <a:gd name="GluePoint20Y" fmla="*/ 2147483646 h 119"/>
              <a:gd name="GluePoint21X" fmla="*/ 2147483646 w 118"/>
              <a:gd name="GluePoint21Y" fmla="*/ 2147483646 h 119"/>
              <a:gd name="GluePoint22X" fmla="*/ 2147483646 w 118"/>
              <a:gd name="GluePoint22Y" fmla="*/ 2147483646 h 119"/>
              <a:gd name="GluePoint23X" fmla="*/ 2147483646 w 118"/>
              <a:gd name="GluePoint23Y" fmla="*/ 2147483646 h 119"/>
              <a:gd name="GluePoint24X" fmla="*/ 2147483646 w 118"/>
              <a:gd name="GluePoint24Y" fmla="*/ 2147483646 h 119"/>
              <a:gd name="GluePoint25X" fmla="*/ 2147483646 w 118"/>
              <a:gd name="GluePoint25Y" fmla="*/ 2147483646 h 119"/>
              <a:gd name="GluePoint26X" fmla="*/ 2147483646 w 118"/>
              <a:gd name="GluePoint26Y" fmla="*/ 2147483646 h 119"/>
              <a:gd name="GluePoint27X" fmla="*/ 2147483646 w 118"/>
              <a:gd name="GluePoint27Y" fmla="*/ 2147483646 h 119"/>
              <a:gd name="GluePoint28X" fmla="*/ 2147483646 w 118"/>
              <a:gd name="GluePoint28Y" fmla="*/ 2147483646 h 119"/>
              <a:gd name="GluePoint29X" fmla="*/ 2147483646 w 118"/>
              <a:gd name="GluePoint29Y" fmla="*/ 2147483646 h 119"/>
              <a:gd name="GluePoint30X" fmla="*/ 2147483646 w 118"/>
              <a:gd name="GluePoint30Y" fmla="*/ 2147483646 h 119"/>
              <a:gd name="GluePoint31X" fmla="*/ 2147483646 w 118"/>
              <a:gd name="GluePoint31Y" fmla="*/ 2147483646 h 119"/>
              <a:gd name="GluePoint32X" fmla="*/ 2147483646 w 118"/>
              <a:gd name="GluePoint32Y" fmla="*/ 2147483646 h 119"/>
              <a:gd name="GluePoint33X" fmla="*/ 2147483646 w 118"/>
              <a:gd name="GluePoint33Y" fmla="*/ 2147483646 h 119"/>
              <a:gd name="GluePoint34X" fmla="*/ 2147483646 w 118"/>
              <a:gd name="GluePoint34Y" fmla="*/ 2147483646 h 119"/>
              <a:gd name="GluePoint35X" fmla="*/ 2147483646 w 118"/>
              <a:gd name="GluePoint35Y" fmla="*/ 2147483646 h 119"/>
              <a:gd name="GluePoint36X" fmla="*/ 2147483646 w 118"/>
              <a:gd name="GluePoint36Y" fmla="*/ 2147483646 h 119"/>
              <a:gd name="GluePoint37X" fmla="*/ 2147483646 w 118"/>
              <a:gd name="GluePoint37Y" fmla="*/ 2147483646 h 119"/>
              <a:gd name="GluePoint38X" fmla="*/ 2147483646 w 118"/>
              <a:gd name="GluePoint38Y" fmla="*/ 2147483646 h 119"/>
              <a:gd name="GluePoint39X" fmla="*/ 2147483646 w 118"/>
              <a:gd name="GluePoint39Y" fmla="*/ 2147483646 h 119"/>
              <a:gd name="GluePoint40X" fmla="*/ 2147483646 w 118"/>
              <a:gd name="GluePoint40Y" fmla="*/ 2147483646 h 119"/>
              <a:gd name="GluePoint41X" fmla="*/ 2147483646 w 118"/>
              <a:gd name="GluePoint41Y" fmla="*/ 2147483646 h 1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</a:cxnLst>
            <a:rect l="textAreaLeft" t="textAreaTop" r="textAreaRight" b="textAreaBottom"/>
            <a:pathLst>
              <a:path w="118" h="119">
                <a:moveTo>
                  <a:pt x="59" y="0"/>
                </a:moveTo>
                <a:cubicBezTo>
                  <a:pt x="26" y="0"/>
                  <a:pt x="0" y="27"/>
                  <a:pt x="0" y="59"/>
                </a:cubicBezTo>
                <a:cubicBezTo>
                  <a:pt x="0" y="92"/>
                  <a:pt x="26" y="119"/>
                  <a:pt x="59" y="119"/>
                </a:cubicBezTo>
                <a:cubicBezTo>
                  <a:pt x="92" y="119"/>
                  <a:pt x="118" y="92"/>
                  <a:pt x="118" y="59"/>
                </a:cubicBezTo>
                <a:cubicBezTo>
                  <a:pt x="118" y="27"/>
                  <a:pt x="92" y="0"/>
                  <a:pt x="59" y="0"/>
                </a:cubicBezTo>
                <a:close/>
                <a:moveTo>
                  <a:pt x="111" y="57"/>
                </a:moveTo>
                <a:cubicBezTo>
                  <a:pt x="88" y="57"/>
                  <a:pt x="88" y="57"/>
                  <a:pt x="88" y="57"/>
                </a:cubicBezTo>
                <a:cubicBezTo>
                  <a:pt x="87" y="49"/>
                  <a:pt x="86" y="41"/>
                  <a:pt x="83" y="33"/>
                </a:cubicBezTo>
                <a:cubicBezTo>
                  <a:pt x="88" y="31"/>
                  <a:pt x="93" y="28"/>
                  <a:pt x="98" y="25"/>
                </a:cubicBezTo>
                <a:cubicBezTo>
                  <a:pt x="105" y="34"/>
                  <a:pt x="110" y="45"/>
                  <a:pt x="111" y="57"/>
                </a:cubicBezTo>
                <a:close/>
                <a:moveTo>
                  <a:pt x="57" y="111"/>
                </a:moveTo>
                <a:cubicBezTo>
                  <a:pt x="50" y="106"/>
                  <a:pt x="45" y="99"/>
                  <a:pt x="41" y="91"/>
                </a:cubicBezTo>
                <a:cubicBezTo>
                  <a:pt x="46" y="89"/>
                  <a:pt x="52" y="88"/>
                  <a:pt x="57" y="88"/>
                </a:cubicBezTo>
                <a:cubicBezTo>
                  <a:pt x="57" y="111"/>
                  <a:pt x="57" y="111"/>
                  <a:pt x="57" y="111"/>
                </a:cubicBezTo>
                <a:cubicBezTo>
                  <a:pt x="57" y="111"/>
                  <a:pt x="57" y="111"/>
                  <a:pt x="57" y="111"/>
                </a:cubicBezTo>
                <a:close/>
                <a:moveTo>
                  <a:pt x="61" y="8"/>
                </a:moveTo>
                <a:cubicBezTo>
                  <a:pt x="68" y="14"/>
                  <a:pt x="74" y="22"/>
                  <a:pt x="78" y="31"/>
                </a:cubicBezTo>
                <a:cubicBezTo>
                  <a:pt x="73" y="33"/>
                  <a:pt x="67" y="34"/>
                  <a:pt x="61" y="34"/>
                </a:cubicBezTo>
                <a:cubicBezTo>
                  <a:pt x="61" y="8"/>
                  <a:pt x="61" y="8"/>
                  <a:pt x="61" y="8"/>
                </a:cubicBezTo>
                <a:cubicBezTo>
                  <a:pt x="61" y="8"/>
                  <a:pt x="61" y="8"/>
                  <a:pt x="61" y="8"/>
                </a:cubicBezTo>
                <a:close/>
                <a:moveTo>
                  <a:pt x="67" y="8"/>
                </a:moveTo>
                <a:cubicBezTo>
                  <a:pt x="78" y="10"/>
                  <a:pt x="88" y="15"/>
                  <a:pt x="95" y="22"/>
                </a:cubicBezTo>
                <a:cubicBezTo>
                  <a:pt x="91" y="25"/>
                  <a:pt x="87" y="28"/>
                  <a:pt x="82" y="30"/>
                </a:cubicBezTo>
                <a:cubicBezTo>
                  <a:pt x="78" y="22"/>
                  <a:pt x="73" y="14"/>
                  <a:pt x="67" y="8"/>
                </a:cubicBezTo>
                <a:close/>
                <a:moveTo>
                  <a:pt x="57" y="8"/>
                </a:moveTo>
                <a:cubicBezTo>
                  <a:pt x="57" y="34"/>
                  <a:pt x="57" y="34"/>
                  <a:pt x="57" y="34"/>
                </a:cubicBezTo>
                <a:cubicBezTo>
                  <a:pt x="51" y="34"/>
                  <a:pt x="45" y="33"/>
                  <a:pt x="40" y="31"/>
                </a:cubicBezTo>
                <a:cubicBezTo>
                  <a:pt x="44" y="22"/>
                  <a:pt x="50" y="14"/>
                  <a:pt x="57" y="8"/>
                </a:cubicBezTo>
                <a:cubicBezTo>
                  <a:pt x="57" y="8"/>
                  <a:pt x="57" y="8"/>
                  <a:pt x="57" y="8"/>
                </a:cubicBezTo>
                <a:close/>
                <a:moveTo>
                  <a:pt x="36" y="30"/>
                </a:moveTo>
                <a:cubicBezTo>
                  <a:pt x="31" y="28"/>
                  <a:pt x="27" y="25"/>
                  <a:pt x="23" y="22"/>
                </a:cubicBezTo>
                <a:cubicBezTo>
                  <a:pt x="30" y="15"/>
                  <a:pt x="40" y="10"/>
                  <a:pt x="50" y="8"/>
                </a:cubicBezTo>
                <a:cubicBezTo>
                  <a:pt x="45" y="14"/>
                  <a:pt x="40" y="22"/>
                  <a:pt x="36" y="30"/>
                </a:cubicBezTo>
                <a:close/>
                <a:moveTo>
                  <a:pt x="38" y="35"/>
                </a:moveTo>
                <a:cubicBezTo>
                  <a:pt x="44" y="37"/>
                  <a:pt x="50" y="38"/>
                  <a:pt x="57" y="38"/>
                </a:cubicBezTo>
                <a:cubicBezTo>
                  <a:pt x="57" y="57"/>
                  <a:pt x="57" y="57"/>
                  <a:pt x="57" y="57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49"/>
                  <a:pt x="36" y="42"/>
                  <a:pt x="38" y="35"/>
                </a:cubicBezTo>
                <a:close/>
                <a:moveTo>
                  <a:pt x="57" y="61"/>
                </a:moveTo>
                <a:cubicBezTo>
                  <a:pt x="57" y="84"/>
                  <a:pt x="57" y="84"/>
                  <a:pt x="57" y="84"/>
                </a:cubicBezTo>
                <a:cubicBezTo>
                  <a:pt x="51" y="85"/>
                  <a:pt x="45" y="86"/>
                  <a:pt x="40" y="87"/>
                </a:cubicBezTo>
                <a:cubicBezTo>
                  <a:pt x="36" y="79"/>
                  <a:pt x="34" y="71"/>
                  <a:pt x="34" y="61"/>
                </a:cubicBezTo>
                <a:lnTo>
                  <a:pt x="57" y="61"/>
                </a:lnTo>
                <a:close/>
                <a:moveTo>
                  <a:pt x="50" y="110"/>
                </a:moveTo>
                <a:cubicBezTo>
                  <a:pt x="41" y="109"/>
                  <a:pt x="32" y="105"/>
                  <a:pt x="25" y="99"/>
                </a:cubicBezTo>
                <a:cubicBezTo>
                  <a:pt x="29" y="96"/>
                  <a:pt x="33" y="94"/>
                  <a:pt x="38" y="92"/>
                </a:cubicBezTo>
                <a:cubicBezTo>
                  <a:pt x="41" y="99"/>
                  <a:pt x="45" y="105"/>
                  <a:pt x="50" y="110"/>
                </a:cubicBezTo>
                <a:close/>
                <a:moveTo>
                  <a:pt x="61" y="111"/>
                </a:moveTo>
                <a:cubicBezTo>
                  <a:pt x="61" y="88"/>
                  <a:pt x="61" y="88"/>
                  <a:pt x="61" y="88"/>
                </a:cubicBezTo>
                <a:cubicBezTo>
                  <a:pt x="66" y="88"/>
                  <a:pt x="72" y="89"/>
                  <a:pt x="77" y="91"/>
                </a:cubicBezTo>
                <a:cubicBezTo>
                  <a:pt x="73" y="99"/>
                  <a:pt x="67" y="106"/>
                  <a:pt x="61" y="111"/>
                </a:cubicBezTo>
                <a:cubicBezTo>
                  <a:pt x="61" y="111"/>
                  <a:pt x="61" y="111"/>
                  <a:pt x="61" y="111"/>
                </a:cubicBezTo>
                <a:close/>
                <a:moveTo>
                  <a:pt x="80" y="92"/>
                </a:moveTo>
                <a:cubicBezTo>
                  <a:pt x="85" y="94"/>
                  <a:pt x="89" y="96"/>
                  <a:pt x="93" y="99"/>
                </a:cubicBezTo>
                <a:cubicBezTo>
                  <a:pt x="86" y="105"/>
                  <a:pt x="77" y="109"/>
                  <a:pt x="67" y="110"/>
                </a:cubicBezTo>
                <a:cubicBezTo>
                  <a:pt x="73" y="105"/>
                  <a:pt x="77" y="99"/>
                  <a:pt x="80" y="92"/>
                </a:cubicBezTo>
                <a:close/>
                <a:moveTo>
                  <a:pt x="78" y="87"/>
                </a:moveTo>
                <a:cubicBezTo>
                  <a:pt x="73" y="86"/>
                  <a:pt x="67" y="85"/>
                  <a:pt x="61" y="84"/>
                </a:cubicBezTo>
                <a:cubicBezTo>
                  <a:pt x="61" y="61"/>
                  <a:pt x="61" y="61"/>
                  <a:pt x="61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71"/>
                  <a:pt x="82" y="79"/>
                  <a:pt x="78" y="87"/>
                </a:cubicBezTo>
                <a:close/>
                <a:moveTo>
                  <a:pt x="61" y="57"/>
                </a:moveTo>
                <a:cubicBezTo>
                  <a:pt x="61" y="38"/>
                  <a:pt x="61" y="38"/>
                  <a:pt x="61" y="38"/>
                </a:cubicBezTo>
                <a:cubicBezTo>
                  <a:pt x="67" y="38"/>
                  <a:pt x="74" y="37"/>
                  <a:pt x="80" y="35"/>
                </a:cubicBezTo>
                <a:cubicBezTo>
                  <a:pt x="82" y="42"/>
                  <a:pt x="84" y="49"/>
                  <a:pt x="84" y="57"/>
                </a:cubicBezTo>
                <a:lnTo>
                  <a:pt x="61" y="57"/>
                </a:lnTo>
                <a:close/>
                <a:moveTo>
                  <a:pt x="20" y="25"/>
                </a:moveTo>
                <a:cubicBezTo>
                  <a:pt x="25" y="28"/>
                  <a:pt x="30" y="31"/>
                  <a:pt x="35" y="33"/>
                </a:cubicBezTo>
                <a:cubicBezTo>
                  <a:pt x="32" y="41"/>
                  <a:pt x="30" y="49"/>
                  <a:pt x="30" y="57"/>
                </a:cubicBezTo>
                <a:cubicBezTo>
                  <a:pt x="7" y="57"/>
                  <a:pt x="7" y="57"/>
                  <a:pt x="7" y="57"/>
                </a:cubicBezTo>
                <a:cubicBezTo>
                  <a:pt x="8" y="45"/>
                  <a:pt x="13" y="34"/>
                  <a:pt x="20" y="25"/>
                </a:cubicBezTo>
                <a:close/>
                <a:moveTo>
                  <a:pt x="7" y="61"/>
                </a:moveTo>
                <a:cubicBezTo>
                  <a:pt x="30" y="61"/>
                  <a:pt x="30" y="61"/>
                  <a:pt x="30" y="61"/>
                </a:cubicBezTo>
                <a:cubicBezTo>
                  <a:pt x="31" y="71"/>
                  <a:pt x="33" y="80"/>
                  <a:pt x="36" y="89"/>
                </a:cubicBezTo>
                <a:cubicBezTo>
                  <a:pt x="31" y="91"/>
                  <a:pt x="27" y="93"/>
                  <a:pt x="22" y="96"/>
                </a:cubicBezTo>
                <a:cubicBezTo>
                  <a:pt x="13" y="87"/>
                  <a:pt x="8" y="75"/>
                  <a:pt x="7" y="61"/>
                </a:cubicBezTo>
                <a:close/>
                <a:moveTo>
                  <a:pt x="95" y="96"/>
                </a:moveTo>
                <a:cubicBezTo>
                  <a:pt x="91" y="93"/>
                  <a:pt x="87" y="91"/>
                  <a:pt x="82" y="89"/>
                </a:cubicBezTo>
                <a:cubicBezTo>
                  <a:pt x="85" y="80"/>
                  <a:pt x="87" y="71"/>
                  <a:pt x="88" y="61"/>
                </a:cubicBezTo>
                <a:cubicBezTo>
                  <a:pt x="111" y="61"/>
                  <a:pt x="111" y="61"/>
                  <a:pt x="111" y="61"/>
                </a:cubicBezTo>
                <a:cubicBezTo>
                  <a:pt x="110" y="75"/>
                  <a:pt x="104" y="87"/>
                  <a:pt x="95" y="96"/>
                </a:cubicBezTo>
                <a:close/>
                <a:moveTo>
                  <a:pt x="95" y="96"/>
                </a:moveTo>
                <a:cubicBezTo>
                  <a:pt x="95" y="96"/>
                  <a:pt x="95" y="96"/>
                  <a:pt x="95" y="9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Open Sans Light"/>
            </a:endParaRPr>
          </a:p>
        </p:txBody>
      </p:sp>
      <p:pic>
        <p:nvPicPr>
          <p:cNvPr id="111" name="Imagem 2"/>
          <p:cNvPicPr/>
          <p:nvPr/>
        </p:nvPicPr>
        <p:blipFill>
          <a:blip r:embed="rId7"/>
          <a:stretch/>
        </p:blipFill>
        <p:spPr>
          <a:xfrm>
            <a:off x="9786960" y="274680"/>
            <a:ext cx="2068920" cy="1644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ubTitle"/>
          </p:nvPr>
        </p:nvSpPr>
        <p:spPr>
          <a:xfrm>
            <a:off x="744840" y="3429000"/>
            <a:ext cx="11041560" cy="316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r>
              <a:rPr lang="pt-BR" sz="60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MODELO ENTIDADE </a:t>
            </a:r>
            <a:br>
              <a:rPr sz="6000"/>
            </a:br>
            <a:r>
              <a:rPr lang="pt-BR" sz="60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RELACIONAMENTO </a:t>
            </a:r>
            <a:br>
              <a:rPr sz="6000"/>
            </a:br>
            <a:r>
              <a:rPr lang="pt-BR" sz="60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(MER)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ubtítulo 2"/>
          <p:cNvSpPr/>
          <p:nvPr/>
        </p:nvSpPr>
        <p:spPr>
          <a:xfrm>
            <a:off x="1828440" y="4356000"/>
            <a:ext cx="8533440" cy="10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AutoShape 7" descr="data:image/jpeg;base64,/9j/4AAQSkZJRgABAQAAAQABAAD/2wCEAAkGBxAQDw8NDg0MDA0ODw4PDAwMDA8MDQ0NFBEXFxQRFBUYHCggGBonGxUUIzEhJSkrLi4uFx8zODMtQygvLisBCgoKBQUFDgUFDisZExkrKysrKysrKysrKysrKysrKysrKysrKysrKysrKysrKysrKysrKysrKysrKysrKysrK//AABEIAOEA4QMBIgACEQEDEQH/xAAcAAEAAQUBAQAAAAAAAAAAAAAAAQIDBAcIBQb/xABJEAABAwIBBgkJBAcHBQAAAAAAAQIDBBEFBxIhMUFhBggTNVFxdJGyIiUycnOBsbPEUqHB0RQVIzNCVGKChZOUotLwF0NF0+H/xAAUAQEAAAAAAAAAAAAAAAAAAAAA/8QAFBEBAAAAAAAAAAAAAAAAAAAAAP/aAAwDAQACEQMRAD8A3iAAAAAAAAAAABCqBIIvu79A09IEgi29Rm9feoEgjN6+9RbeoEgjT0/cL7u7SBIIRSQAAAAAAAAAAAAAAAAAAAAAAQqkX6O8ANPV1EogAEggASCCQABAEggAFI/5pJABFJKVF7b0AqAAAAAAAAAAAAAAAAVSjX+Qvf8AAkACCQAAAAAASQa1ytZSlwrMpKVjJK6VnKK6VFdFTxKqojlRPSctnWS+i112IobLIOYcMyzYzFKj5qiKsjv5UEtNDG1zdqI6NrXIu+/uU6H4KcIIsRo4a6C6MmaudG5fKikatnsXqVF07Usu0D1wQLgSCLi4EkEXABFt+RWilsI634gXQEAAAAAAAAAAocuwlylIEgAAAAABiVWJ08TsyWpp4X2RyMlmjjdmrqWyrq0L3AZYPP8A15R/ztH/AJqH/cX6SuhmzuRnhnzbZ/Iyslzb3tfNXRqXuAyTnHjCYZLHijKtWu5Cop40jkt5PKR3R0d+m2avU46NPIx9tBNG6kxB1E+NyI5YKmWNq7bPRFVFauuzk0gcbnT+Q3CZaXB2cs1WOqppKqNipZWxPaxrFXrRmd1OQYbwL4NU8rZ42YesjFuzlsQ/SGIvTmPkVqr1ofdU1THK3PikjlZdUz4ntkbdNaXTQBeuCDHqq+GK3LTwQ5181JpWRZ1tds5dOtO8DJB5368o/wCdov8ANQ/7jLp6lkjc+KSOVi3RHxPbI1VTXpTQBdFyAAVSlVJKHAXIn7O4vGArjLhkzk37QLgAAAAAAUvXQBSq6SCCQJBBIAEACTnHjE87w9gh+dMdGnOXGI53h7BD86YDVxvDi0f+V/u/6g0ebv4tOrFf7v8AqAN33ObeMHzw3sdP4pDpE5u4wfPDex0/ikA1mdNZBuZI+0VPiQ5lOmcg/MkfaKnxIBsQ0dxlfSwv1a34wm8LmjuMp6WF+rW/GEDSh09kNXzHTe1qvnOOYTp3IdzHTe1qvnOA+/uLlIuBJQ4khVAx5FJpJrOsupdBRMYjngfQAtUsucxrt2nrLoAAAC3KupC4WJF0qAuSUXJQCokgASQCAJOc+MRztD2CH50x0Wc58YfnaHsEPzpgNXm7+LTqxXrw/wCoNIG7uLVqxXrw/wCoA3cc38YLnhvY4PFIdHXOcOMDzw3scHikA1odMZB+ZI+0VPiQ5nOl8hC+ZY+0VPiQDYdzR/GT9LDPVrfjCbuuaQ4yXpYZ6tZ8YQNLHTmQ9fMdN7Wq+c45jOm8iC+Y6b2tT85wH31yLkXIuBNyFUi5SqgWZ1POlcZ86nlVDgPYwOa6OZ0Wcn4nqnzGCzWman2kVv3X/A+nAAAAYqrpMpTDuBVclCi5UigVgpJAAgATc504w3O0PYIfnTHRNznXjC87Q9gh+dMBrA3dxa9WK9eH/UGkTdvFs1Yr14f9QBuy5zjxgOeG9jg8Uh0Zc5yy/wDO7exweJ4GtTpXISvmWPtFT4kOajpTIUvmWPtFT4kA2Hc0hxkPSwz1az4wm7LmkuMf6WGerWfGEDTB0zkRXzHTe1qfnOOZjpfIlzJTe0qfnOA+9IuU3FwKrlCqLlKqBYqFPIqnHp1LjxKx4FdDNaWNeh7e659wa4jks5F6FRTYyASAAIUwjOMB2tQJuVIpauVNUC7cXKUUm4EkXIuRcCbnO/GE52h7BD86Y6Huc78YPnaHsEPzpgNYm7OLdqxXroPqDSZuvi36sV66D6gDdVznPL9zu3scHiedE3OdcvnO7exweJ4GtzpLIYvmWPtFR4kObTpDIavmaPtFR4kA2Fc0nxjfSwz1az4wm6bmleMWvlYb6tZ8YQNNHSuRRfMlP7Sp+c45qOk8iq+Zaf2lT81wH3lyLlFyFUCpVKXKQrih7gMWrfrPBrZD1a2Q+erJdIBj9JtBDVlB5UsbftPYne5DagAAADAnSzlM8xK1ulF6QMa5U1S2qhqgZCKTctopVcCbkXIuRcCq5zxxgudYeww/OmOhLmgOMK3zlSrbXQsuttdp5doGrTdXFx1Yp10H1BpU3LxdF8rE02ZtHo2XvN/9A3Xc52y987t7HB4nnQ1znnLzzs3skHieBrg6OyHr5mj7RUeJDnE6MyIczR9oqPEgGwFU0txiV8rDfVrPjEbmVTS3GGemfhzdqMqlVNyrFb4KBp86QyLr5lp/aVPzXHN50dka5lp/aVPznAfdXIVSi5CuAqVSzM/QS5xh1UoGBXzaz56pl0mfiM+s8R8l1A97gtFn1cKdDs9f7KKvxRDZp8Jk9prySzLqYxGJ6zl/Jv3n3YAAACzVMu1elNJeAHjuUpRxcqWZrlTu6jHVQMhri4imM1xca4C7ci5TcXAm5pXjFUy52HT7FbUxOXoVFY5PE7uN0XPgctWErU4TJI1Lvo5GVKImtY0ux6dVn539gDnA2jxf61GV9TAtv29Krm73RyNW3c5y+41celwcxiShq4K2JEV8D87NVbI9qoqPYq7EVquT3gdcqpz1l352b2SDxPN3cHOEFPiFO2qpX5zHaHsWySQybY5E2OTuXWl0U0hl252b2SDxPA10dFZEl8zx+3qPEhzqdEZFF8zx+3qPEgH3yqc+ZccTSbFEha7ObSwRxORNTZXKr3fc5ie42/w04WwYZTumkc107kX9Fpr+XM/Vq2MS+lfxshzJXVb55ZaiVc6WaR8sjtV3vcqqveoFg6cya0vI4PQM2uh5X/Fe6RPuehzhg2GvqqmGli9OeRsbVtdG3XS5dyJdfcdWwRNjYyJiZrI2tYxOhjUsidyAXrlKuKVcW3PAmWSx5FdUazIqp7Hz2IVWvSBiV1QYUS3UszS3U9Xg3hy1FRHD/Cq3kXojTS78vegGx+BtFyVIxVSzpf2rupfR/wBKIe4Q1qIiIiWRNCImxCQAAAAADFrortzk1p8DyXn0B5FfBmrdPRXVu3AYiOLrXmM4lrwMtHFVzGa8rRwF25bnja9jo3tR7JGuZIx2lHMclnNXcqKozhcDlnhvwYkwyskpn5zolVX0sy/92BV8ldH8SalTpRdx8+dVcLODVPiVOtPUtW6XdBM395BIqWzm9KdKLoXuVOfuFnAOuw5znSRLPTIq5tXAivjVv9aa2L1+5VA8XBsZqaOTlqSokp5NqxrocnQ5q6HJuVFQv8JeEM+ITNqark1lbEyJXRs5NHNaqqiqmq+ldVjyQAPr8Dyh1tFRpQ0qU8bUdI7l3RrJMjnrsuuanvRT5AAZWI4hNUyLNUTS1Ertckr1e63Ql9SbtRimRQUMtRIkNPFJPK7VHExXu67Js3m2eBOSpGK2pxTNe5LOZQtVHMRdnKuTQ71U0dKrqAryM8EVjT9a1DFa97VbQse2ypG5PKn3XTQm5VXahtVXFCuKHPArc8xaiexRPPY8itrN4EV9Xr0nztZU3Urrau+08xXXUC9El1NqcAcI5GD9IelpJ0TNRdbYdnfr7j47gVgK1UyK9P2EVnSrscuxnv27jbSJbQmhNiASAAAAAAAAUTRo5FaupfuKwB89VQqxytX3L0oYqqfS1VOkjbLr2LtRT5+qgcxc1ydS7FTcBbR5cbIYjlsEkAzkeTnGGkhWkgGQriFUs54zwPBxbgPhdSquloIEeqqqvgR1M5XLrVeTVLr13PnanI/hrlu2Sui/pZNG5P8AUxV+/affq8pV4Gu/+jmH/wAziH+JB/6z0aLJfhUSoroJahUW6cvUPVNe1GZqL70PsVeUK8C1QUEFOzk6eCGnZrVkMbY0VelbJpXepfVxZdKWJKgDIfIYk9TYxJ6zeeVV128DKrK3eeFWVl9pZqqu+0wHOVQKnvVVPTwHCJKmZsMSaV0ucqeSxm1y7ijBMIlqZUihbnOXSqroaxv2nLsQ3FwewOOji5NnlPdZZZVSzpHfgnQgGRhOGx00LYIk8lqaXL6T3bXLvMwAAAAAAAAAAAABaqIGvTNcl+hdqLuLoA+YxCgdHp9Jmxyfj0HmvU+4VL6F0ptRTx8QwNHXdEqMX7C+ivV0AfOcrYlJymspnxrZ7Fauy6aF6l2mE5wHopUE/pB5KzFK1IHsfpBStQeMtWW3Vm8D2nVJYfVbzxn1u8xpKzeB7EtbvMCeu3nly1amJJMqgZtRW7zzpqhVKVuplYdhU1Q7MhifK7bmpob6y6k94GAjVU+h4NcFpqtyK1OTgRfLncnk9TU/iU+u4P8AABjLSVjkldrSBiryaesut3VoTrPto2I1Ea1qNa1LNa1EREToRAMLBsIhpI0ihbZNb3rpfI7pcpngAAAAAAAAAAAAAAAAAAABRJG1yK1zUc1daORFQ8at4NRPusauhd0J5TO5fzPcAHwlbwZqW3VrWzJ/Q5EXuU8SrpJY/wB5FJH67HNTvNrADTT3Fl7lNxTYfC/04IX+tE134GM7AKRddJB7o0QDUD1LLjcicHqP+Up/fGimRDhlOz0KeBm9sLGr8ANL0+HzS/uoZZfZxueneiHt0HAasksr2Mp29Mr0vb1W3XvsbYAHyGF8AKaOzp3vqXfZ/dR9yLde8+qpqZkTUZFGyJiamsajWp7kLoAAAAAAAAAAAAAAAAAAAAAAAAAAAAAAAAAAAAAAAAAAAAAAAAAAAAAAP//Z"/>
          <p:cNvSpPr/>
          <p:nvPr/>
        </p:nvSpPr>
        <p:spPr>
          <a:xfrm>
            <a:off x="207000" y="-144360"/>
            <a:ext cx="405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Título 1"/>
          <p:cNvSpPr/>
          <p:nvPr/>
        </p:nvSpPr>
        <p:spPr>
          <a:xfrm>
            <a:off x="609480" y="1341360"/>
            <a:ext cx="10971720" cy="14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br>
              <a:rPr sz="2400"/>
            </a:br>
            <a:r>
              <a: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CIÊNCIA DA COMPUTAÇÃO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BANCO DE DADOS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Prof: Hayala Curto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"/>
          <p:cNvPicPr/>
          <p:nvPr/>
        </p:nvPicPr>
        <p:blipFill>
          <a:blip r:embed="rId1"/>
          <a:stretch/>
        </p:blipFill>
        <p:spPr>
          <a:xfrm>
            <a:off x="5168880" y="160200"/>
            <a:ext cx="1853280" cy="114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334440" y="1447920"/>
            <a:ext cx="114246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MER – MODELO ENTIDADE-RELACIONAMENTO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“Baseia-se na percepção de um universo constituído por um grupo básico de objetos chamados </a:t>
            </a: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entidades 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 por</a:t>
            </a: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relacionamentos 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entre estes objetos”. 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(Peter Chen, 1976)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O MER é um modelo de dados conceitual de alto-nível, ou seja, seus conceitos foram projetados para serem compreensíveis a usuários, descartando detalhes de como os dados são armazenados. 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/>
          </p:nvPr>
        </p:nvSpPr>
        <p:spPr>
          <a:xfrm>
            <a:off x="526680" y="1447920"/>
            <a:ext cx="1105416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VANTAGENS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Simplicidade.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Independe do SGBD a ser utilizado.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Mundo real a ser mapeado (mini-mundo) pode ser visto como um conjunto de entidades e de relacionamentos entre as mesmas.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Desenvolvido para facilitar o projeto de banco de dados.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Especifica “</a:t>
            </a: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quais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” os dados serão representados (O QUE) e não “</a:t>
            </a: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como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” os dados serão armazenados.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Elementos do modelo: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</a:pPr>
            <a:r>
              <a:rPr lang="pt-BR" sz="2400" b="0" u="none" strike="noStrike">
                <a:solidFill>
                  <a:srgbClr val="0070C0"/>
                </a:solidFill>
                <a:effectLst/>
                <a:uFillTx/>
                <a:latin typeface="Perpetua"/>
                <a:ea typeface="Arial"/>
              </a:rPr>
              <a:t>Entidades; 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</a:pPr>
            <a:r>
              <a:rPr lang="pt-BR" sz="2400" b="0" u="none" strike="noStrike">
                <a:solidFill>
                  <a:srgbClr val="FF0000"/>
                </a:solidFill>
                <a:effectLst/>
                <a:uFillTx/>
                <a:latin typeface="Perpetua"/>
                <a:ea typeface="Arial"/>
              </a:rPr>
              <a:t>Relacionamentos; 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</a:pPr>
            <a:r>
              <a:rPr lang="pt-BR" sz="2400" b="0" u="none" strike="noStrike">
                <a:solidFill>
                  <a:srgbClr val="00B050"/>
                </a:solidFill>
                <a:effectLst/>
                <a:uFillTx/>
                <a:latin typeface="Perpetua"/>
                <a:ea typeface="Arial"/>
              </a:rPr>
              <a:t>Atributos. 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/>
          </p:nvPr>
        </p:nvSpPr>
        <p:spPr>
          <a:xfrm>
            <a:off x="526680" y="1447920"/>
            <a:ext cx="1105416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Entidade: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qualquer objeto, pessoa, lugar, conceito ou “coisa” no mundo real com uma existência própria/independente e sobre a qual seja necessário armazenar informações ou características.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</a:t>
            </a:r>
            <a:r>
              <a:rPr lang="pt-BR" sz="2600" b="0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Pode ter existência física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: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Ex.: um rio, uma estrada, uma casa, um aluno, um carro, um cantor.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</a:t>
            </a:r>
            <a:r>
              <a:rPr lang="pt-BR" sz="2600" b="0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Ou existência conceitual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: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Ex.: um cargo, um curso, um evento.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1. ENTIDADE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/>
          </p:nvPr>
        </p:nvSpPr>
        <p:spPr>
          <a:xfrm>
            <a:off x="624240" y="1447920"/>
            <a:ext cx="109566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UTILIZA-SE UM RETÂNGULO PARA REPRESENTAR UMA ENTIDADE. Geralmente o nome é escrito no SINGULAR.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pic>
        <p:nvPicPr>
          <p:cNvPr id="124" name="Picture 2"/>
          <p:cNvPicPr/>
          <p:nvPr/>
        </p:nvPicPr>
        <p:blipFill>
          <a:blip r:embed="rId1"/>
          <a:stretch/>
        </p:blipFill>
        <p:spPr>
          <a:xfrm>
            <a:off x="814680" y="2852640"/>
            <a:ext cx="10463760" cy="244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1. ENTIDADE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26" name="Retângulo 1"/>
          <p:cNvSpPr/>
          <p:nvPr/>
        </p:nvSpPr>
        <p:spPr>
          <a:xfrm>
            <a:off x="5903280" y="3048120"/>
            <a:ext cx="718560" cy="17265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/>
          </p:nvPr>
        </p:nvSpPr>
        <p:spPr>
          <a:xfrm>
            <a:off x="334440" y="1447920"/>
            <a:ext cx="11522160" cy="464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ENTIDADE FRACA: 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caracterizada pela sua dependência da existência de outra entidade;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Uma entidade fraca não possui características suficientes para existir “sozinha”. 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UTILIZAMOS UM RETÂNGULO INSCRITO EM OUTRO RETÂNGULO PARA REPRESENTARMOS UMA ENTIDADE FRACA.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Símbolo: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1. ENTIDADE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29" name="Retângulo 6"/>
          <p:cNvSpPr/>
          <p:nvPr/>
        </p:nvSpPr>
        <p:spPr>
          <a:xfrm>
            <a:off x="3983040" y="4941720"/>
            <a:ext cx="3551040" cy="1510560"/>
          </a:xfrm>
          <a:prstGeom prst="rect">
            <a:avLst/>
          </a:prstGeom>
          <a:solidFill>
            <a:srgbClr val="AAA7BC"/>
          </a:solidFill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DEPENDENTE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tângulo 7"/>
          <p:cNvSpPr/>
          <p:nvPr/>
        </p:nvSpPr>
        <p:spPr>
          <a:xfrm>
            <a:off x="3888360" y="4869000"/>
            <a:ext cx="3743280" cy="165492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/>
          </p:nvPr>
        </p:nvSpPr>
        <p:spPr>
          <a:xfrm>
            <a:off x="526680" y="1484280"/>
            <a:ext cx="109566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ENTIDADE FRACA: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Exemplo: 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 ENTIDADE </a:t>
            </a: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EMPREGADO, 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possui um relacionamento com a ENTIDADE </a:t>
            </a: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DEPENDENTE, 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isto é, filhos, cônjuge podem ser dependentes do plano de saúde de um funcionário de uma empresa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1. ENTIDADE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/>
          </p:nvPr>
        </p:nvSpPr>
        <p:spPr>
          <a:xfrm>
            <a:off x="526680" y="1557360"/>
            <a:ext cx="1105416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Relacionamento: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descreve uma associação entre duas ou mais entidades </a:t>
            </a:r>
            <a:r>
              <a:rPr lang="pt-BR" sz="2600" b="1" u="none" strike="noStrike">
                <a:solidFill>
                  <a:srgbClr val="FF0000"/>
                </a:solidFill>
                <a:effectLst/>
                <a:uFillTx/>
                <a:latin typeface="Perpetua"/>
                <a:ea typeface="Arial"/>
              </a:rPr>
              <a:t>(ação).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UTILIZAMOS UM LOSANGO PARA REPRESENTAR UM RELACIONAMENTO.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2. RELACIONAMENTO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pic>
        <p:nvPicPr>
          <p:cNvPr id="135" name="Picture 2"/>
          <p:cNvPicPr/>
          <p:nvPr/>
        </p:nvPicPr>
        <p:blipFill>
          <a:blip r:embed="rId1"/>
          <a:srcRect l="0" t="0" r="50842" b="0"/>
          <a:stretch/>
        </p:blipFill>
        <p:spPr>
          <a:xfrm>
            <a:off x="1487880" y="4221000"/>
            <a:ext cx="7250760" cy="2088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/>
          </p:nvPr>
        </p:nvSpPr>
        <p:spPr>
          <a:xfrm>
            <a:off x="719280" y="1447920"/>
            <a:ext cx="1086156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Relacionamentos também podem conter </a:t>
            </a:r>
            <a:r>
              <a:rPr lang="pt-BR" sz="2600" b="1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atributos</a:t>
            </a: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que os caracterizem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Ex.: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2. RELACIONAMENTO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38" name="Retângulo 4"/>
          <p:cNvSpPr/>
          <p:nvPr/>
        </p:nvSpPr>
        <p:spPr>
          <a:xfrm>
            <a:off x="8112600" y="4581360"/>
            <a:ext cx="3551040" cy="151056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ALUNO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Retângulo 5"/>
          <p:cNvSpPr/>
          <p:nvPr/>
        </p:nvSpPr>
        <p:spPr>
          <a:xfrm>
            <a:off x="431640" y="4581360"/>
            <a:ext cx="3551040" cy="151056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PROFESSOR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Losango 6"/>
          <p:cNvSpPr/>
          <p:nvPr/>
        </p:nvSpPr>
        <p:spPr>
          <a:xfrm>
            <a:off x="4559040" y="4869000"/>
            <a:ext cx="2880000" cy="936000"/>
          </a:xfrm>
          <a:prstGeom prst="diamond">
            <a:avLst/>
          </a:prstGeom>
          <a:solidFill>
            <a:srgbClr val="A6A6A6"/>
          </a:solidFill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orienta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Conector reto 7"/>
          <p:cNvSpPr/>
          <p:nvPr/>
        </p:nvSpPr>
        <p:spPr>
          <a:xfrm>
            <a:off x="3983040" y="5337000"/>
            <a:ext cx="575640" cy="360"/>
          </a:xfrm>
          <a:prstGeom prst="line">
            <a:avLst/>
          </a:prstGeom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2" name="Conector reto 8"/>
          <p:cNvSpPr/>
          <p:nvPr/>
        </p:nvSpPr>
        <p:spPr>
          <a:xfrm>
            <a:off x="7439400" y="5337000"/>
            <a:ext cx="673200" cy="360"/>
          </a:xfrm>
          <a:prstGeom prst="line">
            <a:avLst/>
          </a:prstGeom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3" name="Elipse 9"/>
          <p:cNvSpPr/>
          <p:nvPr/>
        </p:nvSpPr>
        <p:spPr>
          <a:xfrm>
            <a:off x="5376240" y="3506760"/>
            <a:ext cx="2399760" cy="67860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tipo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Conector reto 2"/>
          <p:cNvSpPr/>
          <p:nvPr/>
        </p:nvSpPr>
        <p:spPr>
          <a:xfrm flipH="1">
            <a:off x="6000120" y="4151160"/>
            <a:ext cx="288000" cy="717480"/>
          </a:xfrm>
          <a:prstGeom prst="line">
            <a:avLst/>
          </a:prstGeom>
          <a:ln w="9524">
            <a:solidFill>
              <a:srgbClr val="192A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/>
          </p:nvPr>
        </p:nvSpPr>
        <p:spPr>
          <a:xfrm>
            <a:off x="526680" y="1447920"/>
            <a:ext cx="11329200" cy="493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RELACIONAMENTO DEPENDENTE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UTILIZAMOS UM LOSANGO INSCRITO A OUTRO LOSANGO PARA REPRESENTAR UM RELACIONAMENTO DEPENDENTE, quando há uma entidade ligada à uma entidade fraca.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Símbolo: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2. RELACIONAMENTO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47" name="Retângulo 4"/>
          <p:cNvSpPr/>
          <p:nvPr/>
        </p:nvSpPr>
        <p:spPr>
          <a:xfrm>
            <a:off x="8112600" y="4581360"/>
            <a:ext cx="3551040" cy="151056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DEPENDENTE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etângulo 5"/>
          <p:cNvSpPr/>
          <p:nvPr/>
        </p:nvSpPr>
        <p:spPr>
          <a:xfrm>
            <a:off x="8015760" y="4508640"/>
            <a:ext cx="3743280" cy="165672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9" name="Retângulo 6"/>
          <p:cNvSpPr/>
          <p:nvPr/>
        </p:nvSpPr>
        <p:spPr>
          <a:xfrm>
            <a:off x="431640" y="4581360"/>
            <a:ext cx="3551040" cy="151056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FUNCIONÁRIO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Losango 7"/>
          <p:cNvSpPr/>
          <p:nvPr/>
        </p:nvSpPr>
        <p:spPr>
          <a:xfrm>
            <a:off x="4752000" y="4869000"/>
            <a:ext cx="2494440" cy="936000"/>
          </a:xfrm>
          <a:prstGeom prst="diamond">
            <a:avLst/>
          </a:prstGeom>
          <a:solidFill>
            <a:srgbClr val="A6A6A6"/>
          </a:solidFill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possui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Conector reto 8"/>
          <p:cNvSpPr/>
          <p:nvPr/>
        </p:nvSpPr>
        <p:spPr>
          <a:xfrm>
            <a:off x="3983040" y="5337000"/>
            <a:ext cx="768240" cy="360"/>
          </a:xfrm>
          <a:prstGeom prst="line">
            <a:avLst/>
          </a:prstGeom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2" name="Conector reto 9"/>
          <p:cNvSpPr/>
          <p:nvPr/>
        </p:nvSpPr>
        <p:spPr>
          <a:xfrm>
            <a:off x="7246440" y="5337000"/>
            <a:ext cx="866160" cy="360"/>
          </a:xfrm>
          <a:prstGeom prst="line">
            <a:avLst/>
          </a:prstGeom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3" name="Losango 10"/>
          <p:cNvSpPr/>
          <p:nvPr/>
        </p:nvSpPr>
        <p:spPr>
          <a:xfrm>
            <a:off x="4464000" y="4797360"/>
            <a:ext cx="3070440" cy="1078920"/>
          </a:xfrm>
          <a:prstGeom prst="diamond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4" name="Conector de seta reta 11"/>
          <p:cNvSpPr/>
          <p:nvPr/>
        </p:nvSpPr>
        <p:spPr>
          <a:xfrm flipH="1">
            <a:off x="6190200" y="3708360"/>
            <a:ext cx="1535760" cy="936000"/>
          </a:xfrm>
          <a:custGeom>
            <a:avLst/>
            <a:gdLst>
              <a:gd name="textAreaLeft" fmla="*/ 360 w 1535760"/>
              <a:gd name="textAreaRight" fmla="*/ 1536840 w 1535760"/>
              <a:gd name="textAreaTop" fmla="*/ 0 h 936000"/>
              <a:gd name="textAreaBottom" fmla="*/ 936720 h 936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192A39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334440" y="1628640"/>
            <a:ext cx="1151964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Atributo: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cada característica, propriedade ou qualidade específica que descreve uma entidade e/ou um relacionamento.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8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8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Exemplos: 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 </a:t>
            </a:r>
            <a:r>
              <a:rPr lang="pt-BR" sz="2400" b="0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entidade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EMPREGADO poderia ter os </a:t>
            </a:r>
            <a:r>
              <a:rPr lang="pt-BR" sz="2400" b="0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atributos: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matrícula, CPF, nome, endereço, data de nascimento, salário e profissão.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 </a:t>
            </a:r>
            <a:r>
              <a:rPr lang="pt-BR" sz="2400" b="0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entidade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EMPRESA poderia ter os </a:t>
            </a:r>
            <a:r>
              <a:rPr lang="pt-BR" sz="2400" b="0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atributos: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nome, razão social, CNPJ, matriz, presidente, endereço, telefone.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 </a:t>
            </a:r>
            <a:r>
              <a:rPr lang="pt-BR" sz="2400" b="0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entidade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CARRO poderia ter os </a:t>
            </a:r>
            <a:r>
              <a:rPr lang="pt-BR" sz="2400" b="0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atributos: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fabricante, modelo, ano de fabricação, cor, número de portas, placa, chassi.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3. ATRIBUTO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/>
          </p:nvPr>
        </p:nvSpPr>
        <p:spPr>
          <a:xfrm>
            <a:off x="719280" y="1447920"/>
            <a:ext cx="1086156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UTILIZAMOS UMA ELIPSE (CÍRCULO OVALADO) PARA REPRESENTARMOS UM ATRIBUTO.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3. ATRIBUTO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pic>
        <p:nvPicPr>
          <p:cNvPr id="159" name="Picture 2"/>
          <p:cNvPicPr/>
          <p:nvPr/>
        </p:nvPicPr>
        <p:blipFill>
          <a:blip r:embed="rId1"/>
          <a:stretch/>
        </p:blipFill>
        <p:spPr>
          <a:xfrm>
            <a:off x="2158920" y="2708280"/>
            <a:ext cx="6899400" cy="270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Elipse 5"/>
          <p:cNvSpPr/>
          <p:nvPr/>
        </p:nvSpPr>
        <p:spPr>
          <a:xfrm>
            <a:off x="3214800" y="3429000"/>
            <a:ext cx="2399760" cy="93600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1726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CNPJ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Elipse 6"/>
          <p:cNvSpPr/>
          <p:nvPr/>
        </p:nvSpPr>
        <p:spPr>
          <a:xfrm>
            <a:off x="6478560" y="3500280"/>
            <a:ext cx="2496600" cy="1007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1726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Nome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/>
          </p:nvPr>
        </p:nvSpPr>
        <p:spPr>
          <a:xfrm>
            <a:off x="334440" y="1447920"/>
            <a:ext cx="1152216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1. ATRIBUTO CHAVE ou CHAVE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Atributo ou conjunto de atributos que identifica </a:t>
            </a:r>
            <a:r>
              <a:rPr lang="pt-BR" sz="2600" b="1" u="none" strike="noStrike">
                <a:solidFill>
                  <a:srgbClr val="FF0000"/>
                </a:solidFill>
                <a:effectLst/>
                <a:uFillTx/>
                <a:latin typeface="Perpetua"/>
                <a:ea typeface="Arial"/>
              </a:rPr>
              <a:t>unicamente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e </a:t>
            </a:r>
            <a:r>
              <a:rPr lang="pt-BR" sz="2600" b="1" u="none" strike="noStrike">
                <a:solidFill>
                  <a:srgbClr val="FF0000"/>
                </a:solidFill>
                <a:effectLst/>
                <a:uFillTx/>
                <a:latin typeface="Perpetua"/>
                <a:ea typeface="Arial"/>
              </a:rPr>
              <a:t>exclusivamente 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uma entidade, ou seja, não há valores repetidos deste atributo na entidade. Sendo assim, o seu valor pode ser usado para identificar cada entidade. 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OBSERVAÇÃO: Alguns tipos de entidades podem ter mais que um atributo-chave.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Ex.: CPF, IDENTIDADE, MATRÍCULA, CIU.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3. ATRIBUTO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/>
          </p:nvPr>
        </p:nvSpPr>
        <p:spPr>
          <a:xfrm>
            <a:off x="719280" y="1447920"/>
            <a:ext cx="1086156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1. ATRIBUTO CHAVE ou CHAVE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O atributo chave deve aparecer </a:t>
            </a:r>
            <a:r>
              <a:rPr lang="pt-BR" sz="2600" b="0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sublinhado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em sua simbologia.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Exemplo1: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3. ATRIBUTO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66" name="Elipse 4"/>
          <p:cNvSpPr/>
          <p:nvPr/>
        </p:nvSpPr>
        <p:spPr>
          <a:xfrm>
            <a:off x="1631880" y="4400640"/>
            <a:ext cx="2304000" cy="791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Nome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tângulo 5"/>
          <p:cNvSpPr/>
          <p:nvPr/>
        </p:nvSpPr>
        <p:spPr>
          <a:xfrm>
            <a:off x="4751640" y="4581360"/>
            <a:ext cx="2111760" cy="10072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CLIENTE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Elipse 6"/>
          <p:cNvSpPr/>
          <p:nvPr/>
        </p:nvSpPr>
        <p:spPr>
          <a:xfrm>
            <a:off x="4214160" y="3240000"/>
            <a:ext cx="2302200" cy="7930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CPF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Elipse 7"/>
          <p:cNvSpPr/>
          <p:nvPr/>
        </p:nvSpPr>
        <p:spPr>
          <a:xfrm>
            <a:off x="7439760" y="3500280"/>
            <a:ext cx="2304000" cy="791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Sexo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onector reto 10"/>
          <p:cNvSpPr/>
          <p:nvPr/>
        </p:nvSpPr>
        <p:spPr>
          <a:xfrm>
            <a:off x="3936600" y="4797360"/>
            <a:ext cx="814680" cy="28872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1" name="Conector reto 11"/>
          <p:cNvSpPr/>
          <p:nvPr/>
        </p:nvSpPr>
        <p:spPr>
          <a:xfrm>
            <a:off x="5365080" y="4033800"/>
            <a:ext cx="442800" cy="5475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2" name="Conector reto 13"/>
          <p:cNvSpPr/>
          <p:nvPr/>
        </p:nvSpPr>
        <p:spPr>
          <a:xfrm flipH="1">
            <a:off x="6863400" y="4176360"/>
            <a:ext cx="912600" cy="40500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3" name="Conector de seta reta 23"/>
          <p:cNvSpPr/>
          <p:nvPr/>
        </p:nvSpPr>
        <p:spPr>
          <a:xfrm flipH="1">
            <a:off x="6305760" y="2795760"/>
            <a:ext cx="1631160" cy="502560"/>
          </a:xfrm>
          <a:custGeom>
            <a:avLst/>
            <a:gdLst>
              <a:gd name="textAreaLeft" fmla="*/ -360 w 1631160"/>
              <a:gd name="textAreaRight" fmla="*/ 1631520 w 1631160"/>
              <a:gd name="textAreaTop" fmla="*/ 0 h 502560"/>
              <a:gd name="textAreaBottom" fmla="*/ 503280 h 5025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192A39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4" name="Elipse 17"/>
          <p:cNvSpPr/>
          <p:nvPr/>
        </p:nvSpPr>
        <p:spPr>
          <a:xfrm>
            <a:off x="7924320" y="4797360"/>
            <a:ext cx="3167640" cy="791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data_nasc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Conector reto 18"/>
          <p:cNvSpPr/>
          <p:nvPr/>
        </p:nvSpPr>
        <p:spPr>
          <a:xfrm flipH="1" flipV="1">
            <a:off x="6863400" y="5086080"/>
            <a:ext cx="1060560" cy="10800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6" name="Elipse 14"/>
          <p:cNvSpPr/>
          <p:nvPr/>
        </p:nvSpPr>
        <p:spPr>
          <a:xfrm>
            <a:off x="1909080" y="5640480"/>
            <a:ext cx="2304000" cy="791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RG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Conector reto 15"/>
          <p:cNvSpPr/>
          <p:nvPr/>
        </p:nvSpPr>
        <p:spPr>
          <a:xfrm flipV="1">
            <a:off x="3877200" y="5597280"/>
            <a:ext cx="874080" cy="1605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8" name="Elipse 1"/>
          <p:cNvSpPr/>
          <p:nvPr/>
        </p:nvSpPr>
        <p:spPr>
          <a:xfrm>
            <a:off x="9520560" y="2448000"/>
            <a:ext cx="2304000" cy="791280"/>
          </a:xfrm>
          <a:prstGeom prst="ellipse">
            <a:avLst/>
          </a:prstGeom>
          <a:solidFill>
            <a:srgbClr val="FBB3C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ID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/>
          </p:nvPr>
        </p:nvSpPr>
        <p:spPr>
          <a:xfrm>
            <a:off x="719280" y="1447920"/>
            <a:ext cx="1086156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1. ATRIBUTO CHAVE ou CHAVE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O atributo chave deve aparecer </a:t>
            </a:r>
            <a:r>
              <a:rPr lang="pt-BR" sz="2600" b="0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sublinhado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em sua simbologia.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Exemplo2: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3. ATRIBUTO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81" name="Elipse 4"/>
          <p:cNvSpPr/>
          <p:nvPr/>
        </p:nvSpPr>
        <p:spPr>
          <a:xfrm>
            <a:off x="1631880" y="4400640"/>
            <a:ext cx="2304000" cy="791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Nome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tângulo 5"/>
          <p:cNvSpPr/>
          <p:nvPr/>
        </p:nvSpPr>
        <p:spPr>
          <a:xfrm>
            <a:off x="4751640" y="4581360"/>
            <a:ext cx="2111760" cy="10072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ALUNO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Elipse 6"/>
          <p:cNvSpPr/>
          <p:nvPr/>
        </p:nvSpPr>
        <p:spPr>
          <a:xfrm>
            <a:off x="4214160" y="3240000"/>
            <a:ext cx="2302200" cy="7930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CPF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Elipse 7"/>
          <p:cNvSpPr/>
          <p:nvPr/>
        </p:nvSpPr>
        <p:spPr>
          <a:xfrm>
            <a:off x="7236720" y="3500280"/>
            <a:ext cx="4234320" cy="791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MATRÍCULA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Conector reto 10"/>
          <p:cNvSpPr/>
          <p:nvPr/>
        </p:nvSpPr>
        <p:spPr>
          <a:xfrm>
            <a:off x="3597840" y="5076720"/>
            <a:ext cx="1153440" cy="9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6" name="Conector reto 11"/>
          <p:cNvSpPr/>
          <p:nvPr/>
        </p:nvSpPr>
        <p:spPr>
          <a:xfrm>
            <a:off x="5365080" y="4033800"/>
            <a:ext cx="442800" cy="5475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7" name="Conector reto 13"/>
          <p:cNvSpPr/>
          <p:nvPr/>
        </p:nvSpPr>
        <p:spPr>
          <a:xfrm flipH="1">
            <a:off x="6863400" y="4176360"/>
            <a:ext cx="992880" cy="40500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8" name="Conector de seta reta 23"/>
          <p:cNvSpPr/>
          <p:nvPr/>
        </p:nvSpPr>
        <p:spPr>
          <a:xfrm flipH="1">
            <a:off x="8962560" y="2814480"/>
            <a:ext cx="947520" cy="640800"/>
          </a:xfrm>
          <a:custGeom>
            <a:avLst/>
            <a:gdLst>
              <a:gd name="textAreaLeft" fmla="*/ -360 w 947520"/>
              <a:gd name="textAreaRight" fmla="*/ 947880 w 947520"/>
              <a:gd name="textAreaTop" fmla="*/ 0 h 640800"/>
              <a:gd name="textAreaBottom" fmla="*/ 641520 h 640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192A39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9" name="Elipse 17"/>
          <p:cNvSpPr/>
          <p:nvPr/>
        </p:nvSpPr>
        <p:spPr>
          <a:xfrm>
            <a:off x="7924320" y="4797360"/>
            <a:ext cx="3167640" cy="791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data_nasc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Conector reto 18"/>
          <p:cNvSpPr/>
          <p:nvPr/>
        </p:nvSpPr>
        <p:spPr>
          <a:xfrm flipH="1" flipV="1">
            <a:off x="6863400" y="5086080"/>
            <a:ext cx="1060560" cy="10800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1" name="Conector reto 2"/>
          <p:cNvSpPr/>
          <p:nvPr/>
        </p:nvSpPr>
        <p:spPr>
          <a:xfrm>
            <a:off x="8112600" y="4027320"/>
            <a:ext cx="959040" cy="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2" name="Elipse 14"/>
          <p:cNvSpPr/>
          <p:nvPr/>
        </p:nvSpPr>
        <p:spPr>
          <a:xfrm>
            <a:off x="1657080" y="5508720"/>
            <a:ext cx="2304000" cy="791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Sexo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Conector reto 15"/>
          <p:cNvSpPr/>
          <p:nvPr/>
        </p:nvSpPr>
        <p:spPr>
          <a:xfrm flipV="1">
            <a:off x="3877200" y="5597280"/>
            <a:ext cx="874080" cy="1605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/>
          </p:nvPr>
        </p:nvSpPr>
        <p:spPr>
          <a:xfrm>
            <a:off x="719280" y="1236600"/>
            <a:ext cx="1142244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2. ATRIBUTO SIMPLES ou ATÔMICO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Atributos que não são divisíveis. 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Ex: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3. ATRIBUTO COMPOSTO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Um atributo que é composto de outros atributos mais básicos.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Ex.: </a:t>
            </a: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Endereço 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pode ser “decomposto” em </a:t>
            </a: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Rua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,</a:t>
            </a: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Nº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, </a:t>
            </a: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Bairro 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 </a:t>
            </a: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CEP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. 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3. ATRIBUTO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196" name="Elipse 4"/>
          <p:cNvSpPr/>
          <p:nvPr/>
        </p:nvSpPr>
        <p:spPr>
          <a:xfrm>
            <a:off x="2526840" y="5398920"/>
            <a:ext cx="1631160" cy="50400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Nº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Elipse 5"/>
          <p:cNvSpPr/>
          <p:nvPr/>
        </p:nvSpPr>
        <p:spPr>
          <a:xfrm>
            <a:off x="4844880" y="5013360"/>
            <a:ext cx="1632960" cy="50400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Rua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Elipse 6"/>
          <p:cNvSpPr/>
          <p:nvPr/>
        </p:nvSpPr>
        <p:spPr>
          <a:xfrm>
            <a:off x="7101360" y="5003640"/>
            <a:ext cx="2208960" cy="71856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Bairro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Conector reto 7"/>
          <p:cNvSpPr/>
          <p:nvPr/>
        </p:nvSpPr>
        <p:spPr>
          <a:xfrm>
            <a:off x="3919320" y="5829120"/>
            <a:ext cx="815040" cy="16344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0" name="Conector reto 8"/>
          <p:cNvSpPr/>
          <p:nvPr/>
        </p:nvSpPr>
        <p:spPr>
          <a:xfrm>
            <a:off x="5661720" y="5518080"/>
            <a:ext cx="194400" cy="3585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720" tIns="45000" rIns="7272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1" name="Conector reto 9"/>
          <p:cNvSpPr/>
          <p:nvPr/>
        </p:nvSpPr>
        <p:spPr>
          <a:xfrm flipH="1">
            <a:off x="6975720" y="5616360"/>
            <a:ext cx="448920" cy="37620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2" name="Elipse 13"/>
          <p:cNvSpPr/>
          <p:nvPr/>
        </p:nvSpPr>
        <p:spPr>
          <a:xfrm>
            <a:off x="4271040" y="5877000"/>
            <a:ext cx="3167640" cy="791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Endereço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Elipse 23"/>
          <p:cNvSpPr/>
          <p:nvPr/>
        </p:nvSpPr>
        <p:spPr>
          <a:xfrm>
            <a:off x="8491680" y="5911920"/>
            <a:ext cx="1631160" cy="50400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CEP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Conector reto 25"/>
          <p:cNvSpPr/>
          <p:nvPr/>
        </p:nvSpPr>
        <p:spPr>
          <a:xfrm flipH="1">
            <a:off x="7439400" y="6163920"/>
            <a:ext cx="1051920" cy="10980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5" name="Elipse 32"/>
          <p:cNvSpPr/>
          <p:nvPr/>
        </p:nvSpPr>
        <p:spPr>
          <a:xfrm>
            <a:off x="2639160" y="2421000"/>
            <a:ext cx="2094840" cy="72000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Nome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/>
          </p:nvPr>
        </p:nvSpPr>
        <p:spPr>
          <a:xfrm>
            <a:off x="334440" y="1447920"/>
            <a:ext cx="1152216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3. ATRIBUTO MULTIVALORADO 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São atributos que possuem um ou mais valores de </a:t>
            </a:r>
            <a:r>
              <a:rPr lang="pt-BR" sz="2600" b="0" u="sng" strike="noStrike">
                <a:solidFill>
                  <a:srgbClr val="FF0000"/>
                </a:solidFill>
                <a:effectLst/>
                <a:uFillTx/>
                <a:latin typeface="Perpetua"/>
                <a:ea typeface="Arial"/>
              </a:rPr>
              <a:t>um mesmo tipo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. 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Símbolo: um círculo ovalado inscrito em outro círculo ovalado.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Ex.: o atributo </a:t>
            </a: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Telefone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de uma entidade aluno pode conter um ou mais números de telefones (residencial, celular, trabalho).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3. ATRIBUTO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08" name="Elipse 4"/>
          <p:cNvSpPr/>
          <p:nvPr/>
        </p:nvSpPr>
        <p:spPr>
          <a:xfrm>
            <a:off x="2351160" y="4941720"/>
            <a:ext cx="2304000" cy="78984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Nome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tângulo 5"/>
          <p:cNvSpPr/>
          <p:nvPr/>
        </p:nvSpPr>
        <p:spPr>
          <a:xfrm>
            <a:off x="4751640" y="5589720"/>
            <a:ext cx="2111760" cy="10072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ALUNO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Elipse 6"/>
          <p:cNvSpPr/>
          <p:nvPr/>
        </p:nvSpPr>
        <p:spPr>
          <a:xfrm>
            <a:off x="7151760" y="4149720"/>
            <a:ext cx="2304000" cy="791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Sexo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Conector reto 7"/>
          <p:cNvSpPr/>
          <p:nvPr/>
        </p:nvSpPr>
        <p:spPr>
          <a:xfrm>
            <a:off x="3502800" y="5732280"/>
            <a:ext cx="1248480" cy="360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2" name="Conector reto 8"/>
          <p:cNvSpPr/>
          <p:nvPr/>
        </p:nvSpPr>
        <p:spPr>
          <a:xfrm>
            <a:off x="5327280" y="4868640"/>
            <a:ext cx="480600" cy="72072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3" name="Conector reto 9"/>
          <p:cNvSpPr/>
          <p:nvPr/>
        </p:nvSpPr>
        <p:spPr>
          <a:xfrm flipH="1">
            <a:off x="6863400" y="4824360"/>
            <a:ext cx="624600" cy="76500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4" name="Elipse 10"/>
          <p:cNvSpPr/>
          <p:nvPr/>
        </p:nvSpPr>
        <p:spPr>
          <a:xfrm>
            <a:off x="4175640" y="4076640"/>
            <a:ext cx="2302200" cy="791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CPF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Elipse 15"/>
          <p:cNvSpPr/>
          <p:nvPr/>
        </p:nvSpPr>
        <p:spPr>
          <a:xfrm>
            <a:off x="7439400" y="5373720"/>
            <a:ext cx="2782800" cy="86292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Telefone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Conector reto 16"/>
          <p:cNvSpPr/>
          <p:nvPr/>
        </p:nvSpPr>
        <p:spPr>
          <a:xfrm flipV="1">
            <a:off x="6863400" y="5805360"/>
            <a:ext cx="576000" cy="28728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7" name="Elipse 19"/>
          <p:cNvSpPr/>
          <p:nvPr/>
        </p:nvSpPr>
        <p:spPr>
          <a:xfrm>
            <a:off x="7344720" y="5300640"/>
            <a:ext cx="2975040" cy="100728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" name="Conector de seta reta 20"/>
          <p:cNvSpPr/>
          <p:nvPr/>
        </p:nvSpPr>
        <p:spPr>
          <a:xfrm flipH="1">
            <a:off x="10032120" y="4508640"/>
            <a:ext cx="1533600" cy="791280"/>
          </a:xfrm>
          <a:custGeom>
            <a:avLst/>
            <a:gdLst>
              <a:gd name="textAreaLeft" fmla="*/ 360 w 1533600"/>
              <a:gd name="textAreaRight" fmla="*/ 1534680 w 1533600"/>
              <a:gd name="textAreaTop" fmla="*/ 0 h 791280"/>
              <a:gd name="textAreaBottom" fmla="*/ 792000 h 791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192A39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/>
          </p:nvPr>
        </p:nvSpPr>
        <p:spPr>
          <a:xfrm>
            <a:off x="624240" y="1447920"/>
            <a:ext cx="109566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3. ATRIBUTO MULTIVALORADO 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Ex.: o </a:t>
            </a:r>
            <a:r>
              <a:rPr lang="pt-BR" sz="2500" b="0" i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atributo</a:t>
            </a: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idioma de uma entidade </a:t>
            </a:r>
            <a:r>
              <a:rPr lang="pt-BR" sz="2500" b="0" i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aluno</a:t>
            </a: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pode conter os valores inglês e francês. Para um outro aluno poderia conter apenas um valor, como espanhol. Para um terceiro aluno, poderíamos ter 3 valores para este atributo: inglês, francês e espanhol.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8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8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8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8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8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DIFERENÇA: multivalorado x composto! 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3. ATRIBUTO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pic>
        <p:nvPicPr>
          <p:cNvPr id="221" name="Picture 2"/>
          <p:cNvPicPr/>
          <p:nvPr/>
        </p:nvPicPr>
        <p:blipFill>
          <a:blip r:embed="rId1"/>
          <a:stretch/>
        </p:blipFill>
        <p:spPr>
          <a:xfrm>
            <a:off x="8796600" y="5315040"/>
            <a:ext cx="1739160" cy="135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Retângulo 4"/>
          <p:cNvSpPr/>
          <p:nvPr/>
        </p:nvSpPr>
        <p:spPr>
          <a:xfrm>
            <a:off x="5011920" y="3951360"/>
            <a:ext cx="2111760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ALUNO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Conector reto 5"/>
          <p:cNvSpPr/>
          <p:nvPr/>
        </p:nvSpPr>
        <p:spPr>
          <a:xfrm>
            <a:off x="4270680" y="4454280"/>
            <a:ext cx="741240" cy="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4" name="Elipse 6"/>
          <p:cNvSpPr/>
          <p:nvPr/>
        </p:nvSpPr>
        <p:spPr>
          <a:xfrm>
            <a:off x="2639160" y="4157640"/>
            <a:ext cx="1631160" cy="5914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CPF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Elipse 7"/>
          <p:cNvSpPr/>
          <p:nvPr/>
        </p:nvSpPr>
        <p:spPr>
          <a:xfrm>
            <a:off x="7886520" y="4076640"/>
            <a:ext cx="2449800" cy="74376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Idioma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Elipse 8"/>
          <p:cNvSpPr/>
          <p:nvPr/>
        </p:nvSpPr>
        <p:spPr>
          <a:xfrm>
            <a:off x="7693560" y="3944880"/>
            <a:ext cx="2833560" cy="100728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7" name="Conector reto 15"/>
          <p:cNvSpPr/>
          <p:nvPr/>
        </p:nvSpPr>
        <p:spPr>
          <a:xfrm flipH="1">
            <a:off x="7124040" y="4449600"/>
            <a:ext cx="569520" cy="468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" rIns="90000" bIns="21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/>
          </p:nvPr>
        </p:nvSpPr>
        <p:spPr>
          <a:xfrm>
            <a:off x="624240" y="1447920"/>
            <a:ext cx="109566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4. ATRIBUTO DERIVADO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Este tipo de atributo é derivado de outros atributos. 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Não necessitam ser armazenados na base de dados, podendo ser calculados por meio de uma consulta através da aplicação. 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Ex.: 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Atributo </a:t>
            </a:r>
            <a:r>
              <a:rPr lang="pt-BR" sz="2400" b="0" i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IDADE de 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uma </a:t>
            </a:r>
            <a:r>
              <a:rPr lang="pt-BR" sz="2400" b="0" i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PESSOA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. Para uma pessoa em particular, podemos determinar o valor atual de </a:t>
            </a:r>
            <a:r>
              <a:rPr lang="pt-BR" sz="2400" b="0" i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idade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através do atributo </a:t>
            </a:r>
            <a:r>
              <a:rPr lang="pt-BR" sz="2400" b="0" i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data-nascimento e da data atual 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através do Sistema Operacional. 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Então </a:t>
            </a:r>
            <a:r>
              <a:rPr lang="pt-BR" sz="2400" b="0" i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idade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é chamado atributo </a:t>
            </a: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derivado, pois pode ser obtida de outros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atributos.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3. ATRIBUTO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/>
          </p:nvPr>
        </p:nvSpPr>
        <p:spPr>
          <a:xfrm>
            <a:off x="624240" y="1447920"/>
            <a:ext cx="109566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4. ATRIBUTO DERIVADO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Símbolo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: círculo ovalado com contorno pontilhado.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3. ATRIBUTO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32" name="Elipse 13"/>
          <p:cNvSpPr/>
          <p:nvPr/>
        </p:nvSpPr>
        <p:spPr>
          <a:xfrm>
            <a:off x="2351160" y="4149720"/>
            <a:ext cx="2304000" cy="791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Nome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etângulo 14"/>
          <p:cNvSpPr/>
          <p:nvPr/>
        </p:nvSpPr>
        <p:spPr>
          <a:xfrm>
            <a:off x="4751640" y="4797360"/>
            <a:ext cx="2111760" cy="10072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ALUNO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Elipse 15"/>
          <p:cNvSpPr/>
          <p:nvPr/>
        </p:nvSpPr>
        <p:spPr>
          <a:xfrm>
            <a:off x="7151760" y="3141720"/>
            <a:ext cx="3263040" cy="1007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Data_nasc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Conector reto 16"/>
          <p:cNvSpPr/>
          <p:nvPr/>
        </p:nvSpPr>
        <p:spPr>
          <a:xfrm>
            <a:off x="3502800" y="4941720"/>
            <a:ext cx="1248480" cy="35892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6" name="Conector reto 17"/>
          <p:cNvSpPr/>
          <p:nvPr/>
        </p:nvSpPr>
        <p:spPr>
          <a:xfrm>
            <a:off x="5327280" y="4076640"/>
            <a:ext cx="480600" cy="72072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7" name="Conector reto 18"/>
          <p:cNvSpPr/>
          <p:nvPr/>
        </p:nvSpPr>
        <p:spPr>
          <a:xfrm flipH="1">
            <a:off x="6863400" y="4001760"/>
            <a:ext cx="766800" cy="79560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8" name="Elipse 19"/>
          <p:cNvSpPr/>
          <p:nvPr/>
        </p:nvSpPr>
        <p:spPr>
          <a:xfrm>
            <a:off x="4175640" y="3284640"/>
            <a:ext cx="2302200" cy="791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CPF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Elipse 20"/>
          <p:cNvSpPr/>
          <p:nvPr/>
        </p:nvSpPr>
        <p:spPr>
          <a:xfrm>
            <a:off x="7439760" y="4581360"/>
            <a:ext cx="2782440" cy="862920"/>
          </a:xfrm>
          <a:prstGeom prst="ellipse">
            <a:avLst/>
          </a:prstGeom>
          <a:solidFill>
            <a:srgbClr val="C8E5DC"/>
          </a:solidFill>
          <a:ln w="28575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Idade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Conector reto 21"/>
          <p:cNvSpPr/>
          <p:nvPr/>
        </p:nvSpPr>
        <p:spPr>
          <a:xfrm flipV="1">
            <a:off x="6863400" y="5013000"/>
            <a:ext cx="576000" cy="28764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1" name="Conector de seta reta 25"/>
          <p:cNvSpPr/>
          <p:nvPr/>
        </p:nvSpPr>
        <p:spPr>
          <a:xfrm flipH="1" flipV="1">
            <a:off x="10127520" y="5660280"/>
            <a:ext cx="1438560" cy="720000"/>
          </a:xfrm>
          <a:custGeom>
            <a:avLst/>
            <a:gdLst>
              <a:gd name="textAreaLeft" fmla="*/ 360 w 1438560"/>
              <a:gd name="textAreaRight" fmla="*/ 1439640 w 1438560"/>
              <a:gd name="textAreaTop" fmla="*/ -360 h 720000"/>
              <a:gd name="textAreaBottom" fmla="*/ 720360 h 72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192A39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/>
          </p:nvPr>
        </p:nvSpPr>
        <p:spPr>
          <a:xfrm>
            <a:off x="238680" y="1484280"/>
            <a:ext cx="11712240" cy="475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5. ATRIBUTO CHAVE PARCIAL ou CHAVE PARCIAL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Uma </a:t>
            </a:r>
            <a:r>
              <a:rPr lang="pt-BR" sz="2500" b="0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entidade-fraca</a:t>
            </a: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tem uma </a:t>
            </a:r>
            <a:r>
              <a:rPr lang="pt-BR" sz="25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chave-parcial</a:t>
            </a: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, que é um atributo (ou conjunto de atributos) que pode univocamente </a:t>
            </a:r>
            <a:r>
              <a:rPr lang="pt-BR" sz="2500" b="0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identificar entidades-fracas</a:t>
            </a: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relacionadas à uma entidade (forte). 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5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Um tipo de entidade-fraca pode, algumas vezes, ser representado como atributo composto (endereço). 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5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 escolha de qual representação usar é determinada </a:t>
            </a:r>
            <a:br>
              <a:rPr sz="2500"/>
            </a:b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pelo projetista do banco de dados. 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3. ATRIBUTO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pic>
        <p:nvPicPr>
          <p:cNvPr id="244" name="Picture 2"/>
          <p:cNvPicPr/>
          <p:nvPr/>
        </p:nvPicPr>
        <p:blipFill>
          <a:blip r:embed="rId1"/>
          <a:stretch/>
        </p:blipFill>
        <p:spPr>
          <a:xfrm>
            <a:off x="9359640" y="5389560"/>
            <a:ext cx="1529280" cy="1188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/>
          </p:nvPr>
        </p:nvSpPr>
        <p:spPr>
          <a:xfrm>
            <a:off x="624240" y="1484280"/>
            <a:ext cx="109566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5. ATRIBUTO CHAVE PARCIAL ou CHAVE PARCIAL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Símbolo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: círculo ovalado com nome sublinhado tipo tracejado.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3. ATRIBUTO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247" name="Elipse 13"/>
          <p:cNvSpPr/>
          <p:nvPr/>
        </p:nvSpPr>
        <p:spPr>
          <a:xfrm>
            <a:off x="1390320" y="3716280"/>
            <a:ext cx="2304000" cy="791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Nome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tângulo 14"/>
          <p:cNvSpPr/>
          <p:nvPr/>
        </p:nvSpPr>
        <p:spPr>
          <a:xfrm>
            <a:off x="3502800" y="4797360"/>
            <a:ext cx="3360600" cy="1007280"/>
          </a:xfrm>
          <a:prstGeom prst="rect">
            <a:avLst/>
          </a:prstGeom>
          <a:solidFill>
            <a:srgbClr val="AAA7B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DEPENDENTE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Elipse 15"/>
          <p:cNvSpPr/>
          <p:nvPr/>
        </p:nvSpPr>
        <p:spPr>
          <a:xfrm>
            <a:off x="7344720" y="3716280"/>
            <a:ext cx="3263040" cy="1007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Data_nasc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Conector reto 16"/>
          <p:cNvSpPr/>
          <p:nvPr/>
        </p:nvSpPr>
        <p:spPr>
          <a:xfrm>
            <a:off x="2543760" y="4508280"/>
            <a:ext cx="959040" cy="792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1" name="Conector reto 17"/>
          <p:cNvSpPr/>
          <p:nvPr/>
        </p:nvSpPr>
        <p:spPr>
          <a:xfrm flipH="1">
            <a:off x="5183280" y="4076640"/>
            <a:ext cx="144000" cy="72072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0" tIns="45000" rIns="54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2" name="Conector reto 18"/>
          <p:cNvSpPr/>
          <p:nvPr/>
        </p:nvSpPr>
        <p:spPr>
          <a:xfrm flipH="1">
            <a:off x="6863400" y="4576680"/>
            <a:ext cx="959040" cy="7239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3" name="Elipse 19"/>
          <p:cNvSpPr/>
          <p:nvPr/>
        </p:nvSpPr>
        <p:spPr>
          <a:xfrm>
            <a:off x="4175640" y="3284640"/>
            <a:ext cx="2302200" cy="7912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CPF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Conector de seta reta 25"/>
          <p:cNvSpPr/>
          <p:nvPr/>
        </p:nvSpPr>
        <p:spPr>
          <a:xfrm flipH="1">
            <a:off x="6382800" y="2708280"/>
            <a:ext cx="1728360" cy="648720"/>
          </a:xfrm>
          <a:custGeom>
            <a:avLst/>
            <a:gdLst>
              <a:gd name="textAreaLeft" fmla="*/ 360 w 1728360"/>
              <a:gd name="textAreaRight" fmla="*/ 1729440 w 1728360"/>
              <a:gd name="textAreaTop" fmla="*/ 0 h 648720"/>
              <a:gd name="textAreaBottom" fmla="*/ 649440 h 6487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192A39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5" name="Retângulo 1"/>
          <p:cNvSpPr/>
          <p:nvPr/>
        </p:nvSpPr>
        <p:spPr>
          <a:xfrm>
            <a:off x="3312000" y="4724280"/>
            <a:ext cx="3743640" cy="1151640"/>
          </a:xfrm>
          <a:prstGeom prst="rect">
            <a:avLst/>
          </a:prstGeom>
          <a:noFill/>
          <a:ln w="12700">
            <a:solidFill>
              <a:srgbClr val="1726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6" name="Conector reto 3"/>
          <p:cNvSpPr/>
          <p:nvPr/>
        </p:nvSpPr>
        <p:spPr>
          <a:xfrm>
            <a:off x="4944240" y="3860640"/>
            <a:ext cx="766080" cy="360"/>
          </a:xfrm>
          <a:prstGeom prst="line">
            <a:avLst/>
          </a:prstGeom>
          <a:ln w="28575">
            <a:solidFill>
              <a:srgbClr val="000000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Picture 2"/>
          <p:cNvPicPr/>
          <p:nvPr/>
        </p:nvPicPr>
        <p:blipFill>
          <a:blip r:embed="rId1"/>
          <a:stretch/>
        </p:blipFill>
        <p:spPr>
          <a:xfrm>
            <a:off x="3934800" y="1052640"/>
            <a:ext cx="4308480" cy="214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PlaceHolder 1"/>
          <p:cNvSpPr>
            <a:spLocks noGrp="1"/>
          </p:cNvSpPr>
          <p:nvPr>
            <p:ph/>
          </p:nvPr>
        </p:nvSpPr>
        <p:spPr>
          <a:xfrm>
            <a:off x="907920" y="2708280"/>
            <a:ext cx="10361880" cy="262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pic>
        <p:nvPicPr>
          <p:cNvPr id="259" name="Picture 2" descr="http://leadermodaparavoce.com.br/wp-content/uploads/2012/09/topo3.jpg"/>
          <p:cNvPicPr/>
          <p:nvPr/>
        </p:nvPicPr>
        <p:blipFill>
          <a:blip r:embed="rId2"/>
          <a:stretch/>
        </p:blipFill>
        <p:spPr>
          <a:xfrm>
            <a:off x="1259280" y="3429000"/>
            <a:ext cx="10010520" cy="167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/>
          </p:nvPr>
        </p:nvSpPr>
        <p:spPr>
          <a:xfrm>
            <a:off x="907920" y="1413000"/>
            <a:ext cx="1036188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spcBef>
                <a:spcPts val="575"/>
              </a:spcBef>
              <a:buNone/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261" name="Retângulo 4"/>
          <p:cNvSpPr/>
          <p:nvPr/>
        </p:nvSpPr>
        <p:spPr>
          <a:xfrm>
            <a:off x="1580760" y="3933720"/>
            <a:ext cx="3167640" cy="15105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ALUNO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Retângulo 5"/>
          <p:cNvSpPr/>
          <p:nvPr/>
        </p:nvSpPr>
        <p:spPr>
          <a:xfrm>
            <a:off x="7247160" y="3933720"/>
            <a:ext cx="3358080" cy="15105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PROFESSOR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Conector reto 7"/>
          <p:cNvSpPr/>
          <p:nvPr/>
        </p:nvSpPr>
        <p:spPr>
          <a:xfrm>
            <a:off x="4749480" y="4689360"/>
            <a:ext cx="249732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64" name="Picture 2"/>
          <p:cNvPicPr/>
          <p:nvPr/>
        </p:nvPicPr>
        <p:blipFill>
          <a:blip r:embed="rId1"/>
          <a:stretch/>
        </p:blipFill>
        <p:spPr>
          <a:xfrm>
            <a:off x="4463640" y="260280"/>
            <a:ext cx="3250080" cy="161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5" name="Picture 2" descr="http://leadermodaparavoce.com.br/wp-content/uploads/2012/09/topo3.jpg"/>
          <p:cNvPicPr/>
          <p:nvPr/>
        </p:nvPicPr>
        <p:blipFill>
          <a:blip r:embed="rId2"/>
          <a:stretch/>
        </p:blipFill>
        <p:spPr>
          <a:xfrm>
            <a:off x="3024360" y="1700280"/>
            <a:ext cx="6423120" cy="107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/>
          </p:nvPr>
        </p:nvSpPr>
        <p:spPr>
          <a:xfrm>
            <a:off x="907920" y="1413000"/>
            <a:ext cx="1036188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r>
              <a:rPr lang="pt-BR" sz="2600" b="1" u="none" strike="noStrike">
                <a:solidFill>
                  <a:srgbClr val="FF0000"/>
                </a:solidFill>
                <a:effectLst/>
                <a:uFillTx/>
                <a:latin typeface="Perpetua"/>
                <a:ea typeface="Arial"/>
              </a:rPr>
              <a:t>ERRADO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UMA ENTIDADE NÃO PODE ESTAR DIRETAMENTE LIGADA A OUTRA. ENTRE ELAS SEMPRE DEVE HAVER UM RELACIONAMENTO.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267" name="Retângulo 4"/>
          <p:cNvSpPr/>
          <p:nvPr/>
        </p:nvSpPr>
        <p:spPr>
          <a:xfrm>
            <a:off x="1678320" y="2781360"/>
            <a:ext cx="3167640" cy="15105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ALUNO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Retângulo 5"/>
          <p:cNvSpPr/>
          <p:nvPr/>
        </p:nvSpPr>
        <p:spPr>
          <a:xfrm>
            <a:off x="7344720" y="2781360"/>
            <a:ext cx="3358080" cy="15105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PROFESSOR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Conector reto 7"/>
          <p:cNvSpPr/>
          <p:nvPr/>
        </p:nvSpPr>
        <p:spPr>
          <a:xfrm>
            <a:off x="4847040" y="3536640"/>
            <a:ext cx="249732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70" name="Picture 2"/>
          <p:cNvPicPr/>
          <p:nvPr/>
        </p:nvPicPr>
        <p:blipFill>
          <a:blip r:embed="rId1"/>
          <a:stretch/>
        </p:blipFill>
        <p:spPr>
          <a:xfrm>
            <a:off x="4463640" y="260280"/>
            <a:ext cx="3250080" cy="16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Losango 1"/>
          <p:cNvSpPr/>
          <p:nvPr/>
        </p:nvSpPr>
        <p:spPr>
          <a:xfrm>
            <a:off x="5232240" y="3247920"/>
            <a:ext cx="1823760" cy="575640"/>
          </a:xfrm>
          <a:prstGeom prst="diamond">
            <a:avLst/>
          </a:prstGeom>
          <a:solidFill>
            <a:schemeClr val="accent1"/>
          </a:solidFill>
          <a:ln w="12700">
            <a:solidFill>
              <a:srgbClr val="0911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/>
          </p:nvPr>
        </p:nvSpPr>
        <p:spPr>
          <a:xfrm>
            <a:off x="624240" y="1447920"/>
            <a:ext cx="109566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273" name="Retângulo 3"/>
          <p:cNvSpPr/>
          <p:nvPr/>
        </p:nvSpPr>
        <p:spPr>
          <a:xfrm>
            <a:off x="1678320" y="4037040"/>
            <a:ext cx="3360600" cy="15105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ALUNO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Fluxograma: Decisão 4"/>
          <p:cNvSpPr/>
          <p:nvPr/>
        </p:nvSpPr>
        <p:spPr>
          <a:xfrm>
            <a:off x="7056360" y="3963960"/>
            <a:ext cx="3743640" cy="1654920"/>
          </a:xfrm>
          <a:prstGeom prst="flowChartDecision">
            <a:avLst/>
          </a:prstGeom>
          <a:solidFill>
            <a:srgbClr val="A6A6A6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cursa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Conector reto 6"/>
          <p:cNvSpPr/>
          <p:nvPr/>
        </p:nvSpPr>
        <p:spPr>
          <a:xfrm>
            <a:off x="5039280" y="4792320"/>
            <a:ext cx="2017440" cy="360"/>
          </a:xfrm>
          <a:prstGeom prst="line">
            <a:avLst/>
          </a:prstGeom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76" name="Picture 2"/>
          <p:cNvPicPr/>
          <p:nvPr/>
        </p:nvPicPr>
        <p:blipFill>
          <a:blip r:embed="rId1"/>
          <a:stretch/>
        </p:blipFill>
        <p:spPr>
          <a:xfrm>
            <a:off x="4463640" y="260280"/>
            <a:ext cx="3250080" cy="161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7" name="Picture 2" descr="http://leadermodaparavoce.com.br/wp-content/uploads/2012/09/topo3.jpg"/>
          <p:cNvPicPr/>
          <p:nvPr/>
        </p:nvPicPr>
        <p:blipFill>
          <a:blip r:embed="rId2"/>
          <a:stretch/>
        </p:blipFill>
        <p:spPr>
          <a:xfrm>
            <a:off x="3024360" y="1700280"/>
            <a:ext cx="6423120" cy="107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/>
          </p:nvPr>
        </p:nvSpPr>
        <p:spPr>
          <a:xfrm>
            <a:off x="624240" y="1447920"/>
            <a:ext cx="109566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r>
              <a:rPr lang="pt-BR" sz="2600" b="1" u="none" strike="noStrike">
                <a:solidFill>
                  <a:srgbClr val="FF0000"/>
                </a:solidFill>
                <a:effectLst/>
                <a:uFillTx/>
                <a:latin typeface="Perpetua"/>
                <a:ea typeface="Arial"/>
              </a:rPr>
              <a:t>ERRADO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UM RELACIONAMENTO SEMPRE DEVE EXISTIR </a:t>
            </a:r>
            <a:br>
              <a:rPr sz="2600"/>
            </a:b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ENTRE DUAS ENTIDADES.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279" name="Retângulo 3"/>
          <p:cNvSpPr/>
          <p:nvPr/>
        </p:nvSpPr>
        <p:spPr>
          <a:xfrm>
            <a:off x="609120" y="3139920"/>
            <a:ext cx="3360600" cy="15105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ALUNO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Fluxograma: Decisão 4"/>
          <p:cNvSpPr/>
          <p:nvPr/>
        </p:nvSpPr>
        <p:spPr>
          <a:xfrm>
            <a:off x="4628880" y="3067200"/>
            <a:ext cx="3070440" cy="1658160"/>
          </a:xfrm>
          <a:prstGeom prst="flowChartDecision">
            <a:avLst/>
          </a:prstGeom>
          <a:solidFill>
            <a:srgbClr val="A6A6A6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cursa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Conector reto 6"/>
          <p:cNvSpPr/>
          <p:nvPr/>
        </p:nvSpPr>
        <p:spPr>
          <a:xfrm>
            <a:off x="3970440" y="3895560"/>
            <a:ext cx="658440" cy="360"/>
          </a:xfrm>
          <a:prstGeom prst="line">
            <a:avLst/>
          </a:prstGeom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82" name="Picture 2"/>
          <p:cNvPicPr/>
          <p:nvPr/>
        </p:nvPicPr>
        <p:blipFill>
          <a:blip r:embed="rId1"/>
          <a:stretch/>
        </p:blipFill>
        <p:spPr>
          <a:xfrm>
            <a:off x="4463640" y="260280"/>
            <a:ext cx="3250080" cy="16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Retângulo 1"/>
          <p:cNvSpPr/>
          <p:nvPr/>
        </p:nvSpPr>
        <p:spPr>
          <a:xfrm>
            <a:off x="8244000" y="3135240"/>
            <a:ext cx="3360600" cy="15105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DISCIPLINA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Conector reto 9"/>
          <p:cNvSpPr/>
          <p:nvPr/>
        </p:nvSpPr>
        <p:spPr>
          <a:xfrm flipV="1">
            <a:off x="7700040" y="3890880"/>
            <a:ext cx="543600" cy="6120"/>
          </a:xfrm>
          <a:prstGeom prst="line">
            <a:avLst/>
          </a:prstGeom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/>
          </p:nvPr>
        </p:nvSpPr>
        <p:spPr>
          <a:xfrm>
            <a:off x="526680" y="1447920"/>
            <a:ext cx="11054160" cy="493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pic>
        <p:nvPicPr>
          <p:cNvPr id="286" name="Picture 2"/>
          <p:cNvPicPr/>
          <p:nvPr/>
        </p:nvPicPr>
        <p:blipFill>
          <a:blip r:embed="rId1"/>
          <a:stretch/>
        </p:blipFill>
        <p:spPr>
          <a:xfrm>
            <a:off x="4368600" y="189000"/>
            <a:ext cx="3250080" cy="16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Fluxograma: Decisão 5"/>
          <p:cNvSpPr/>
          <p:nvPr/>
        </p:nvSpPr>
        <p:spPr>
          <a:xfrm>
            <a:off x="3900600" y="4365720"/>
            <a:ext cx="4031640" cy="1653480"/>
          </a:xfrm>
          <a:prstGeom prst="flowChartDecision">
            <a:avLst/>
          </a:prstGeom>
          <a:solidFill>
            <a:srgbClr val="A6A6A6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compra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Elipse 6"/>
          <p:cNvSpPr/>
          <p:nvPr/>
        </p:nvSpPr>
        <p:spPr>
          <a:xfrm>
            <a:off x="2461680" y="3498840"/>
            <a:ext cx="2302200" cy="7930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Data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Conector reto 8"/>
          <p:cNvSpPr/>
          <p:nvPr/>
        </p:nvSpPr>
        <p:spPr>
          <a:xfrm>
            <a:off x="4427640" y="4174920"/>
            <a:ext cx="721440" cy="549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0" name="Elipse 9"/>
          <p:cNvSpPr/>
          <p:nvPr/>
        </p:nvSpPr>
        <p:spPr>
          <a:xfrm>
            <a:off x="7452720" y="3645000"/>
            <a:ext cx="2304000" cy="78984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Hora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Conector reto 10"/>
          <p:cNvSpPr/>
          <p:nvPr/>
        </p:nvSpPr>
        <p:spPr>
          <a:xfrm flipH="1">
            <a:off x="6973920" y="4321080"/>
            <a:ext cx="817200" cy="47628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2" name="Retângulo 12"/>
          <p:cNvSpPr/>
          <p:nvPr/>
        </p:nvSpPr>
        <p:spPr>
          <a:xfrm>
            <a:off x="924840" y="4797360"/>
            <a:ext cx="1919160" cy="7898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5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CLIENTE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Retângulo 16"/>
          <p:cNvSpPr/>
          <p:nvPr/>
        </p:nvSpPr>
        <p:spPr>
          <a:xfrm>
            <a:off x="9277200" y="4797360"/>
            <a:ext cx="2304000" cy="7898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5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PRODUTO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Conector reto 19"/>
          <p:cNvSpPr/>
          <p:nvPr/>
        </p:nvSpPr>
        <p:spPr>
          <a:xfrm>
            <a:off x="2844000" y="5190840"/>
            <a:ext cx="1056600" cy="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5" name="Conector reto 21"/>
          <p:cNvSpPr/>
          <p:nvPr/>
        </p:nvSpPr>
        <p:spPr>
          <a:xfrm>
            <a:off x="7932600" y="5190840"/>
            <a:ext cx="1344240" cy="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96" name="Picture 2" descr="http://leadermodaparavoce.com.br/wp-content/uploads/2012/09/topo3.jpg"/>
          <p:cNvPicPr/>
          <p:nvPr/>
        </p:nvPicPr>
        <p:blipFill>
          <a:blip r:embed="rId2"/>
          <a:stretch/>
        </p:blipFill>
        <p:spPr>
          <a:xfrm>
            <a:off x="3600360" y="1830240"/>
            <a:ext cx="5174280" cy="867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/>
          </p:nvPr>
        </p:nvSpPr>
        <p:spPr>
          <a:xfrm>
            <a:off x="526680" y="1447920"/>
            <a:ext cx="11054160" cy="493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r>
              <a:rPr lang="pt-BR" sz="2600" b="1" u="none" strike="noStrike">
                <a:solidFill>
                  <a:srgbClr val="33CC33"/>
                </a:solidFill>
                <a:effectLst/>
                <a:uFillTx/>
                <a:latin typeface="Perpetua"/>
                <a:ea typeface="Arial"/>
              </a:rPr>
              <a:t>CERTO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RELACIONAMENTOS PODEM TER ATRIBUTOS.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pic>
        <p:nvPicPr>
          <p:cNvPr id="298" name="Picture 2"/>
          <p:cNvPicPr/>
          <p:nvPr/>
        </p:nvPicPr>
        <p:blipFill>
          <a:blip r:embed="rId1"/>
          <a:stretch/>
        </p:blipFill>
        <p:spPr>
          <a:xfrm>
            <a:off x="4368600" y="189000"/>
            <a:ext cx="3250080" cy="16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Fluxograma: Decisão 5"/>
          <p:cNvSpPr/>
          <p:nvPr/>
        </p:nvSpPr>
        <p:spPr>
          <a:xfrm>
            <a:off x="4067640" y="3392640"/>
            <a:ext cx="4031640" cy="1653480"/>
          </a:xfrm>
          <a:prstGeom prst="flowChartDecision">
            <a:avLst/>
          </a:prstGeom>
          <a:solidFill>
            <a:srgbClr val="A6A6A6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compra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Elipse 6"/>
          <p:cNvSpPr/>
          <p:nvPr/>
        </p:nvSpPr>
        <p:spPr>
          <a:xfrm>
            <a:off x="2628720" y="2525760"/>
            <a:ext cx="2302200" cy="79308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Data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Conector reto 8"/>
          <p:cNvSpPr/>
          <p:nvPr/>
        </p:nvSpPr>
        <p:spPr>
          <a:xfrm>
            <a:off x="4594680" y="3201840"/>
            <a:ext cx="722160" cy="549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2" name="Elipse 9"/>
          <p:cNvSpPr/>
          <p:nvPr/>
        </p:nvSpPr>
        <p:spPr>
          <a:xfrm>
            <a:off x="7619760" y="2671920"/>
            <a:ext cx="2304000" cy="789840"/>
          </a:xfrm>
          <a:prstGeom prst="ellipse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Hora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Conector reto 10"/>
          <p:cNvSpPr/>
          <p:nvPr/>
        </p:nvSpPr>
        <p:spPr>
          <a:xfrm flipH="1">
            <a:off x="7140960" y="3348000"/>
            <a:ext cx="817200" cy="47628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4" name="Retângulo 12"/>
          <p:cNvSpPr/>
          <p:nvPr/>
        </p:nvSpPr>
        <p:spPr>
          <a:xfrm>
            <a:off x="1091880" y="3824280"/>
            <a:ext cx="1919160" cy="7898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5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CLIENTE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Retângulo 16"/>
          <p:cNvSpPr/>
          <p:nvPr/>
        </p:nvSpPr>
        <p:spPr>
          <a:xfrm>
            <a:off x="9444240" y="3824280"/>
            <a:ext cx="2304000" cy="7898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5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PRODUTO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Conector reto 19"/>
          <p:cNvSpPr/>
          <p:nvPr/>
        </p:nvSpPr>
        <p:spPr>
          <a:xfrm>
            <a:off x="3011760" y="4217760"/>
            <a:ext cx="1056240" cy="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7" name="Conector reto 21"/>
          <p:cNvSpPr/>
          <p:nvPr/>
        </p:nvSpPr>
        <p:spPr>
          <a:xfrm>
            <a:off x="8100000" y="4217760"/>
            <a:ext cx="1344240" cy="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/>
          </p:nvPr>
        </p:nvSpPr>
        <p:spPr>
          <a:xfrm>
            <a:off x="238680" y="1413000"/>
            <a:ext cx="11712240" cy="493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309" name="Retângulo 4"/>
          <p:cNvSpPr/>
          <p:nvPr/>
        </p:nvSpPr>
        <p:spPr>
          <a:xfrm>
            <a:off x="9359640" y="3500280"/>
            <a:ext cx="2304000" cy="11516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ALUNO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Retângulo 5"/>
          <p:cNvSpPr/>
          <p:nvPr/>
        </p:nvSpPr>
        <p:spPr>
          <a:xfrm>
            <a:off x="526680" y="3429000"/>
            <a:ext cx="2687040" cy="12232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PROFESSOR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Conector reto 7"/>
          <p:cNvSpPr/>
          <p:nvPr/>
        </p:nvSpPr>
        <p:spPr>
          <a:xfrm>
            <a:off x="7920360" y="4076640"/>
            <a:ext cx="143892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12" name="Picture 2"/>
          <p:cNvPicPr/>
          <p:nvPr/>
        </p:nvPicPr>
        <p:blipFill>
          <a:blip r:embed="rId1"/>
          <a:stretch/>
        </p:blipFill>
        <p:spPr>
          <a:xfrm>
            <a:off x="4463640" y="260280"/>
            <a:ext cx="3250080" cy="16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Conector reto 9"/>
          <p:cNvSpPr/>
          <p:nvPr/>
        </p:nvSpPr>
        <p:spPr>
          <a:xfrm>
            <a:off x="3214800" y="4041720"/>
            <a:ext cx="960840" cy="34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7280" rIns="90000" bIns="1728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4" name="Losango 14"/>
          <p:cNvSpPr/>
          <p:nvPr/>
        </p:nvSpPr>
        <p:spPr>
          <a:xfrm>
            <a:off x="4175640" y="3284640"/>
            <a:ext cx="3743640" cy="1583640"/>
          </a:xfrm>
          <a:prstGeom prst="diamond">
            <a:avLst/>
          </a:prstGeom>
          <a:solidFill>
            <a:srgbClr val="A6A6A6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orienta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etângulo 30"/>
          <p:cNvSpPr/>
          <p:nvPr/>
        </p:nvSpPr>
        <p:spPr>
          <a:xfrm>
            <a:off x="7056360" y="5165640"/>
            <a:ext cx="2784600" cy="1296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SECRETARIA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6" name="Picture 2" descr="http://leadermodaparavoce.com.br/wp-content/uploads/2012/09/topo3.jpg"/>
          <p:cNvPicPr/>
          <p:nvPr/>
        </p:nvPicPr>
        <p:blipFill>
          <a:blip r:embed="rId2"/>
          <a:stretch/>
        </p:blipFill>
        <p:spPr>
          <a:xfrm>
            <a:off x="3600360" y="1879560"/>
            <a:ext cx="5174280" cy="86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/>
          </p:nvPr>
        </p:nvSpPr>
        <p:spPr>
          <a:xfrm>
            <a:off x="238680" y="1413000"/>
            <a:ext cx="11712240" cy="493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r>
              <a:rPr lang="pt-BR" sz="2600" b="1" u="none" strike="noStrike">
                <a:solidFill>
                  <a:srgbClr val="FF0000"/>
                </a:solidFill>
                <a:effectLst/>
                <a:uFillTx/>
                <a:latin typeface="Perpetua"/>
                <a:ea typeface="Arial"/>
              </a:rPr>
              <a:t>ERRADO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br>
              <a:rPr sz="2200"/>
            </a:br>
            <a:r>
              <a:rPr lang="pt-BR" sz="22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CADA ENTIDADE DO MER DEVE PARTICIPAR DE PELO MENOS UM RELACIONAMENTO.  CASO ISSO NÃO OCORRA É PROVÁVEL QUE A ENTIDADE ISOLADA NÃO FAÇA PARTE DO CONTEXTO MODELADO.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318" name="Retângulo 4"/>
          <p:cNvSpPr/>
          <p:nvPr/>
        </p:nvSpPr>
        <p:spPr>
          <a:xfrm>
            <a:off x="9359640" y="3500280"/>
            <a:ext cx="2304000" cy="11516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ALUNO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Retângulo 5"/>
          <p:cNvSpPr/>
          <p:nvPr/>
        </p:nvSpPr>
        <p:spPr>
          <a:xfrm>
            <a:off x="526680" y="3429000"/>
            <a:ext cx="2687040" cy="12232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PROFESSOR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Conector reto 7"/>
          <p:cNvSpPr/>
          <p:nvPr/>
        </p:nvSpPr>
        <p:spPr>
          <a:xfrm>
            <a:off x="7920360" y="4076640"/>
            <a:ext cx="143892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21" name="Picture 2"/>
          <p:cNvPicPr/>
          <p:nvPr/>
        </p:nvPicPr>
        <p:blipFill>
          <a:blip r:embed="rId1"/>
          <a:stretch/>
        </p:blipFill>
        <p:spPr>
          <a:xfrm>
            <a:off x="4463640" y="260280"/>
            <a:ext cx="3250080" cy="16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Conector reto 9"/>
          <p:cNvSpPr/>
          <p:nvPr/>
        </p:nvSpPr>
        <p:spPr>
          <a:xfrm>
            <a:off x="3214800" y="4041720"/>
            <a:ext cx="960840" cy="34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7280" rIns="90000" bIns="1728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3" name="Losango 14"/>
          <p:cNvSpPr/>
          <p:nvPr/>
        </p:nvSpPr>
        <p:spPr>
          <a:xfrm>
            <a:off x="4175640" y="3284640"/>
            <a:ext cx="3743640" cy="1583640"/>
          </a:xfrm>
          <a:prstGeom prst="diamond">
            <a:avLst/>
          </a:prstGeom>
          <a:solidFill>
            <a:srgbClr val="A6A6A6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orienta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etângulo 30"/>
          <p:cNvSpPr/>
          <p:nvPr/>
        </p:nvSpPr>
        <p:spPr>
          <a:xfrm>
            <a:off x="814680" y="1484280"/>
            <a:ext cx="2784600" cy="129636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SECRETÁRIA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Conector reto 51"/>
          <p:cNvSpPr/>
          <p:nvPr/>
        </p:nvSpPr>
        <p:spPr>
          <a:xfrm flipV="1">
            <a:off x="1007280" y="1052280"/>
            <a:ext cx="2305080" cy="2089080"/>
          </a:xfrm>
          <a:prstGeom prst="line">
            <a:avLst/>
          </a:prstGeom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6" name="Conector reto 52"/>
          <p:cNvSpPr/>
          <p:nvPr/>
        </p:nvSpPr>
        <p:spPr>
          <a:xfrm flipH="1" flipV="1">
            <a:off x="1199520" y="1052280"/>
            <a:ext cx="2400120" cy="2089080"/>
          </a:xfrm>
          <a:prstGeom prst="line">
            <a:avLst/>
          </a:prstGeom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/>
          </p:nvPr>
        </p:nvSpPr>
        <p:spPr>
          <a:xfrm>
            <a:off x="562680" y="1344600"/>
            <a:ext cx="1105416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pic>
        <p:nvPicPr>
          <p:cNvPr id="328" name="Picture 2"/>
          <p:cNvPicPr/>
          <p:nvPr/>
        </p:nvPicPr>
        <p:blipFill>
          <a:blip r:embed="rId1"/>
          <a:stretch/>
        </p:blipFill>
        <p:spPr>
          <a:xfrm>
            <a:off x="4442760" y="160200"/>
            <a:ext cx="3250080" cy="16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Retângulo 7"/>
          <p:cNvSpPr/>
          <p:nvPr/>
        </p:nvSpPr>
        <p:spPr>
          <a:xfrm>
            <a:off x="9319320" y="2986200"/>
            <a:ext cx="2304000" cy="11516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ALUNO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Retângulo 9"/>
          <p:cNvSpPr/>
          <p:nvPr/>
        </p:nvSpPr>
        <p:spPr>
          <a:xfrm>
            <a:off x="609480" y="2914560"/>
            <a:ext cx="2687040" cy="12232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PROFESSOR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Conector reto 10"/>
          <p:cNvSpPr/>
          <p:nvPr/>
        </p:nvSpPr>
        <p:spPr>
          <a:xfrm>
            <a:off x="8157240" y="3562200"/>
            <a:ext cx="116208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2" name="Conector reto 12"/>
          <p:cNvSpPr/>
          <p:nvPr/>
        </p:nvSpPr>
        <p:spPr>
          <a:xfrm>
            <a:off x="3297600" y="3525480"/>
            <a:ext cx="1162080" cy="367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3" name="Losango 13"/>
          <p:cNvSpPr/>
          <p:nvPr/>
        </p:nvSpPr>
        <p:spPr>
          <a:xfrm>
            <a:off x="4459320" y="3057480"/>
            <a:ext cx="3696840" cy="1009080"/>
          </a:xfrm>
          <a:prstGeom prst="diamond">
            <a:avLst/>
          </a:prstGeom>
          <a:solidFill>
            <a:srgbClr val="A6A6A6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orienta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etângulo 14"/>
          <p:cNvSpPr/>
          <p:nvPr/>
        </p:nvSpPr>
        <p:spPr>
          <a:xfrm>
            <a:off x="8633520" y="5253120"/>
            <a:ext cx="2996280" cy="11516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ESTUDANTE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Retângulo 15"/>
          <p:cNvSpPr/>
          <p:nvPr/>
        </p:nvSpPr>
        <p:spPr>
          <a:xfrm>
            <a:off x="547920" y="5232240"/>
            <a:ext cx="2687040" cy="12232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DISCIPLINA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Conector reto 16"/>
          <p:cNvSpPr/>
          <p:nvPr/>
        </p:nvSpPr>
        <p:spPr>
          <a:xfrm flipV="1">
            <a:off x="3236040" y="5829120"/>
            <a:ext cx="982080" cy="1584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920" rIns="90000" bIns="792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7" name="Losango 17"/>
          <p:cNvSpPr/>
          <p:nvPr/>
        </p:nvSpPr>
        <p:spPr>
          <a:xfrm>
            <a:off x="4218480" y="5324400"/>
            <a:ext cx="3741120" cy="1010520"/>
          </a:xfrm>
          <a:prstGeom prst="diamond">
            <a:avLst/>
          </a:prstGeom>
          <a:solidFill>
            <a:srgbClr val="A6A6A6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faz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Conector reto 18"/>
          <p:cNvSpPr/>
          <p:nvPr/>
        </p:nvSpPr>
        <p:spPr>
          <a:xfrm>
            <a:off x="7959960" y="5829120"/>
            <a:ext cx="67320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9" name="Conector reto 29"/>
          <p:cNvSpPr/>
          <p:nvPr/>
        </p:nvSpPr>
        <p:spPr>
          <a:xfrm flipV="1">
            <a:off x="1953360" y="4138560"/>
            <a:ext cx="360" cy="1951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0" name="Conector reto 32"/>
          <p:cNvSpPr/>
          <p:nvPr/>
        </p:nvSpPr>
        <p:spPr>
          <a:xfrm flipV="1">
            <a:off x="1908720" y="5037120"/>
            <a:ext cx="360" cy="1951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41" name="Picture 2" descr="http://leadermodaparavoce.com.br/wp-content/uploads/2012/09/topo3.jpg"/>
          <p:cNvPicPr/>
          <p:nvPr/>
        </p:nvPicPr>
        <p:blipFill>
          <a:blip r:embed="rId2"/>
          <a:stretch/>
        </p:blipFill>
        <p:spPr>
          <a:xfrm>
            <a:off x="3983400" y="1673280"/>
            <a:ext cx="4488480" cy="75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Retângulo 56"/>
          <p:cNvSpPr/>
          <p:nvPr/>
        </p:nvSpPr>
        <p:spPr>
          <a:xfrm>
            <a:off x="9308880" y="2989440"/>
            <a:ext cx="2304000" cy="11516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ALUNO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Retângulo 57"/>
          <p:cNvSpPr/>
          <p:nvPr/>
        </p:nvSpPr>
        <p:spPr>
          <a:xfrm>
            <a:off x="598680" y="2917800"/>
            <a:ext cx="2687040" cy="12232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PROFESSOR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Conector reto 58"/>
          <p:cNvSpPr/>
          <p:nvPr/>
        </p:nvSpPr>
        <p:spPr>
          <a:xfrm>
            <a:off x="8146800" y="3565440"/>
            <a:ext cx="116136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5" name="Losango 59"/>
          <p:cNvSpPr/>
          <p:nvPr/>
        </p:nvSpPr>
        <p:spPr>
          <a:xfrm>
            <a:off x="4448880" y="3060720"/>
            <a:ext cx="3696840" cy="1009080"/>
          </a:xfrm>
          <a:prstGeom prst="diamond">
            <a:avLst/>
          </a:prstGeom>
          <a:solidFill>
            <a:srgbClr val="A6A6A6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orienta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tângulo 60"/>
          <p:cNvSpPr/>
          <p:nvPr/>
        </p:nvSpPr>
        <p:spPr>
          <a:xfrm>
            <a:off x="537480" y="5235480"/>
            <a:ext cx="2687040" cy="12232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DISCIPLINA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Losango 61"/>
          <p:cNvSpPr/>
          <p:nvPr/>
        </p:nvSpPr>
        <p:spPr>
          <a:xfrm>
            <a:off x="374400" y="4336920"/>
            <a:ext cx="3133800" cy="702720"/>
          </a:xfrm>
          <a:prstGeom prst="diamond">
            <a:avLst/>
          </a:prstGeom>
          <a:solidFill>
            <a:srgbClr val="A6A6A6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ministra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Conector reto 62"/>
          <p:cNvSpPr/>
          <p:nvPr/>
        </p:nvSpPr>
        <p:spPr>
          <a:xfrm flipV="1">
            <a:off x="1942920" y="4141440"/>
            <a:ext cx="360" cy="1954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9" name="Conector reto 63"/>
          <p:cNvSpPr/>
          <p:nvPr/>
        </p:nvSpPr>
        <p:spPr>
          <a:xfrm flipV="1">
            <a:off x="1900080" y="5040000"/>
            <a:ext cx="360" cy="1954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/>
          </p:nvPr>
        </p:nvSpPr>
        <p:spPr>
          <a:xfrm>
            <a:off x="0" y="1268280"/>
            <a:ext cx="12190680" cy="462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r>
              <a:rPr lang="pt-BR" sz="2600" b="1" u="none" strike="noStrike">
                <a:solidFill>
                  <a:srgbClr val="FF0000"/>
                </a:solidFill>
                <a:effectLst/>
                <a:uFillTx/>
                <a:latin typeface="Perpetua"/>
                <a:ea typeface="Arial"/>
              </a:rPr>
              <a:t>ERRADO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r>
              <a:rPr lang="pt-BR" sz="23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NÃO PODEM EXISTIR DUAS ENTIDADES IGUAIS NO MESMO MODELO QUE REPRESENTEM O MESMO OBJETO DO MUNDO REAL.</a:t>
            </a:r>
            <a:endParaRPr lang="pt-BR" sz="23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pic>
        <p:nvPicPr>
          <p:cNvPr id="351" name="Picture 2"/>
          <p:cNvPicPr/>
          <p:nvPr/>
        </p:nvPicPr>
        <p:blipFill>
          <a:blip r:embed="rId1"/>
          <a:stretch/>
        </p:blipFill>
        <p:spPr>
          <a:xfrm>
            <a:off x="4463640" y="192240"/>
            <a:ext cx="3250080" cy="16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Retângulo 7"/>
          <p:cNvSpPr/>
          <p:nvPr/>
        </p:nvSpPr>
        <p:spPr>
          <a:xfrm>
            <a:off x="8527680" y="4379760"/>
            <a:ext cx="2996280" cy="907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ESTUDANTE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Conector reto 9"/>
          <p:cNvSpPr/>
          <p:nvPr/>
        </p:nvSpPr>
        <p:spPr>
          <a:xfrm flipV="1">
            <a:off x="3060360" y="4730400"/>
            <a:ext cx="1109160" cy="907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4" name="Losango 10"/>
          <p:cNvSpPr/>
          <p:nvPr/>
        </p:nvSpPr>
        <p:spPr>
          <a:xfrm rot="20942400">
            <a:off x="4091040" y="4065840"/>
            <a:ext cx="3691440" cy="643320"/>
          </a:xfrm>
          <a:prstGeom prst="diamond">
            <a:avLst/>
          </a:prstGeom>
          <a:solidFill>
            <a:srgbClr val="A6A6A6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faz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Conector reto 12"/>
          <p:cNvSpPr/>
          <p:nvPr/>
        </p:nvSpPr>
        <p:spPr>
          <a:xfrm flipV="1">
            <a:off x="7795440" y="2763720"/>
            <a:ext cx="1182960" cy="126504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6" name="Retângulo 13"/>
          <p:cNvSpPr/>
          <p:nvPr/>
        </p:nvSpPr>
        <p:spPr>
          <a:xfrm>
            <a:off x="8978400" y="2282760"/>
            <a:ext cx="2304000" cy="963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ALUNO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Retângulo 14"/>
          <p:cNvSpPr/>
          <p:nvPr/>
        </p:nvSpPr>
        <p:spPr>
          <a:xfrm>
            <a:off x="372240" y="2233440"/>
            <a:ext cx="2687040" cy="988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PROFESSOR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Conector reto 15"/>
          <p:cNvSpPr/>
          <p:nvPr/>
        </p:nvSpPr>
        <p:spPr>
          <a:xfrm>
            <a:off x="7939080" y="2728800"/>
            <a:ext cx="1039680" cy="34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7280" rIns="90000" bIns="1728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9" name="Losango 16"/>
          <p:cNvSpPr/>
          <p:nvPr/>
        </p:nvSpPr>
        <p:spPr>
          <a:xfrm>
            <a:off x="4239720" y="2354400"/>
            <a:ext cx="3698640" cy="748440"/>
          </a:xfrm>
          <a:prstGeom prst="diamond">
            <a:avLst/>
          </a:prstGeom>
          <a:solidFill>
            <a:srgbClr val="A6A6A6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orienta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Retângulo 17"/>
          <p:cNvSpPr/>
          <p:nvPr/>
        </p:nvSpPr>
        <p:spPr>
          <a:xfrm>
            <a:off x="372240" y="4352760"/>
            <a:ext cx="2687040" cy="934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6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DISCIPLINA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Losango 18"/>
          <p:cNvSpPr/>
          <p:nvPr/>
        </p:nvSpPr>
        <p:spPr>
          <a:xfrm>
            <a:off x="183960" y="3508200"/>
            <a:ext cx="3063960" cy="700920"/>
          </a:xfrm>
          <a:prstGeom prst="diamond">
            <a:avLst/>
          </a:prstGeom>
          <a:solidFill>
            <a:srgbClr val="A6A6A6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000" b="1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ministra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Conector reto 19"/>
          <p:cNvSpPr/>
          <p:nvPr/>
        </p:nvSpPr>
        <p:spPr>
          <a:xfrm flipV="1">
            <a:off x="1716480" y="3222360"/>
            <a:ext cx="360" cy="28584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3" name="Conector reto 20"/>
          <p:cNvSpPr/>
          <p:nvPr/>
        </p:nvSpPr>
        <p:spPr>
          <a:xfrm flipV="1">
            <a:off x="1716480" y="4209840"/>
            <a:ext cx="360" cy="1429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4" name="Conector reto 8"/>
          <p:cNvSpPr/>
          <p:nvPr/>
        </p:nvSpPr>
        <p:spPr>
          <a:xfrm flipV="1">
            <a:off x="8997120" y="4076640"/>
            <a:ext cx="2167920" cy="1409400"/>
          </a:xfrm>
          <a:prstGeom prst="line">
            <a:avLst/>
          </a:prstGeom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5" name="Conector reto 11"/>
          <p:cNvSpPr/>
          <p:nvPr/>
        </p:nvSpPr>
        <p:spPr>
          <a:xfrm flipH="1" flipV="1">
            <a:off x="8919000" y="4124160"/>
            <a:ext cx="2326320" cy="1362240"/>
          </a:xfrm>
          <a:prstGeom prst="line">
            <a:avLst/>
          </a:prstGeom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6" name="Conector reto 22"/>
          <p:cNvSpPr/>
          <p:nvPr/>
        </p:nvSpPr>
        <p:spPr>
          <a:xfrm>
            <a:off x="3060360" y="2728800"/>
            <a:ext cx="117864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/>
          </p:nvPr>
        </p:nvSpPr>
        <p:spPr>
          <a:xfrm>
            <a:off x="334440" y="1413000"/>
            <a:ext cx="11617200" cy="518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r>
              <a:rPr lang="pt-BR" sz="2600" b="1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OBSERVAÇÕES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ctr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33CC33"/>
              </a:buClr>
              <a:buSzPct val="110000"/>
              <a:buFont typeface="Wingdings" charset="2"/>
              <a:buChar char="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CADA ENTIDADE DEVE POSSUIR PELO MENOS DOIS ATRIBUTOS, SENDO UM DELES O ATRIBUTO CHAVE (SUGESTÃO: ID).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33CC33"/>
              </a:buClr>
              <a:buSzPct val="110000"/>
              <a:buFont typeface="Wingdings" charset="2"/>
              <a:buChar char="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O MODELO </a:t>
            </a: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DEVE SER MÍNIMO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, ISTO É, NÃO DEVE CONTER ATRIBUTOS E RELACIONAMENTOS REDUNDANTES.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33CC33"/>
              </a:buClr>
              <a:buSzPct val="110000"/>
              <a:buFont typeface="Wingdings" charset="2"/>
              <a:buChar char="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SOMENTE ATRIBUTOS SIMPLES PODEM SER </a:t>
            </a: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CHAVES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368" name="Rectangle 5"/>
          <p:cNvSpPr/>
          <p:nvPr/>
        </p:nvSpPr>
        <p:spPr>
          <a:xfrm>
            <a:off x="0" y="0"/>
            <a:ext cx="12190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sp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69" name="Picture 2"/>
          <p:cNvPicPr/>
          <p:nvPr/>
        </p:nvPicPr>
        <p:blipFill>
          <a:blip r:embed="rId1"/>
          <a:stretch/>
        </p:blipFill>
        <p:spPr>
          <a:xfrm>
            <a:off x="4463640" y="189000"/>
            <a:ext cx="3250080" cy="161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/>
          </p:nvPr>
        </p:nvSpPr>
        <p:spPr>
          <a:xfrm>
            <a:off x="526680" y="1557360"/>
            <a:ext cx="10956600" cy="475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SUGESTÕES PARA NOMES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 literatura não define um padrão, mas algumas práticas são usadas: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1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ENTIDADES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Nomes breves e objetivos, com letras maiúsculas que identifiquem facilmente o conteúdo da entidade; 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374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No singular, já que a pluralidade decorre, naturalmente, do número de ocorrências, característica própria de toda entidade;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374"/>
              </a:spcBef>
              <a:buNone/>
              <a:tabLst>
                <a:tab pos="0" algn="l"/>
              </a:tabLst>
            </a:pP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Nomes compostos separados por hífen, eliminando-se o uso de preposições ou outros termos de ligação. 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BOAS PRÁTICAS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/>
          </p:nvPr>
        </p:nvSpPr>
        <p:spPr>
          <a:xfrm>
            <a:off x="334440" y="1197000"/>
            <a:ext cx="11617200" cy="54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SUGESTÕES PARA NOMES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RELACIONAMENTOS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Palavras escritas com letras minúsculas;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Palavras compostas use </a:t>
            </a:r>
            <a:r>
              <a:rPr lang="pt-BR" sz="2400" b="0" i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underline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(_).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ATRIBUTOS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Primeira letra do nome maiúscula e o restante, minúscula. 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Palavras compostas use </a:t>
            </a:r>
            <a:r>
              <a:rPr lang="pt-BR" sz="2400" b="0" i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underline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(_).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Palavras repetidas em outras entidades, use a inicial da entidade no início e continue com o nome. 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Ex.: Empr_Nome (para nome do empregado) e </a:t>
            </a:r>
            <a:br>
              <a:rPr sz="2400"/>
            </a:b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	</a:t>
            </a: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  Dept_Nome (para nome do departamento)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373" name="Título 1"/>
          <p:cNvSpPr/>
          <p:nvPr/>
        </p:nvSpPr>
        <p:spPr>
          <a:xfrm>
            <a:off x="526680" y="0"/>
            <a:ext cx="10361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9144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BOAS PRÁTICAS</a:t>
            </a:r>
            <a:endParaRPr lang="pt-BR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/>
          </p:nvPr>
        </p:nvSpPr>
        <p:spPr>
          <a:xfrm>
            <a:off x="526680" y="1447920"/>
            <a:ext cx="1105416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Os tipos de relacionamentos estão relacionados à um conceito denominado cardinalidade.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Cardinalidade: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indica um número ao qual uma entidade pode estar associada a outra via um relacionamento.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Cardinalidade nos RELACIONAMENTOS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Relacionamento 1:1 (um para um)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Relacionamento 1:N (uma para muitos)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547560" lvl="1" indent="-228600" algn="l" defTabSz="914400">
              <a:lnSpc>
                <a:spcPct val="100000"/>
              </a:lnSpc>
              <a:spcBef>
                <a:spcPts val="374"/>
              </a:spcBef>
              <a:buClr>
                <a:srgbClr val="58B6C0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Relacionamento N:M ou N:N (muitos para muitos)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375" name="Título 1"/>
          <p:cNvSpPr/>
          <p:nvPr/>
        </p:nvSpPr>
        <p:spPr>
          <a:xfrm>
            <a:off x="238680" y="0"/>
            <a:ext cx="1171224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9144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TIPOS DE RELACIONAMENTO</a:t>
            </a:r>
            <a:endParaRPr lang="pt-BR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238680" y="0"/>
            <a:ext cx="1171224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TIPOS DE RELACIONAMENTO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624240" y="1447920"/>
            <a:ext cx="111348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RELACIONAMENTO 1:1 (lê-se UM PARA UM)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O relacionamento GERENCIA,  relaciona uma entidade DEPARTAMENTO com outra entidade EMPREGADO que gerencia esse departamento. Este relacionamento é 1:1, pois sabe-se que um empregado pode gerenciar apenas um departamento e que um departamento pode ter apenas um gerente.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378" name="Retângulo 3"/>
          <p:cNvSpPr/>
          <p:nvPr/>
        </p:nvSpPr>
        <p:spPr>
          <a:xfrm>
            <a:off x="526680" y="4581360"/>
            <a:ext cx="2496600" cy="1150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726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Perpetua"/>
                <a:ea typeface="Arial"/>
              </a:rPr>
              <a:t>EMPREGADO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Retângulo 4"/>
          <p:cNvSpPr/>
          <p:nvPr/>
        </p:nvSpPr>
        <p:spPr>
          <a:xfrm>
            <a:off x="8208000" y="4581360"/>
            <a:ext cx="3167640" cy="1150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726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Perpetua"/>
                <a:ea typeface="Arial"/>
              </a:rPr>
              <a:t>DEPARTAMENTO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Losango 5"/>
          <p:cNvSpPr/>
          <p:nvPr/>
        </p:nvSpPr>
        <p:spPr>
          <a:xfrm>
            <a:off x="4078800" y="4581360"/>
            <a:ext cx="2880000" cy="1150200"/>
          </a:xfrm>
          <a:prstGeom prst="diamond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gerencia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Conector reto 7"/>
          <p:cNvSpPr/>
          <p:nvPr/>
        </p:nvSpPr>
        <p:spPr>
          <a:xfrm>
            <a:off x="3024000" y="5157720"/>
            <a:ext cx="1054080" cy="360"/>
          </a:xfrm>
          <a:prstGeom prst="line">
            <a:avLst/>
          </a:prstGeom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2" name="Conector reto 9"/>
          <p:cNvSpPr/>
          <p:nvPr/>
        </p:nvSpPr>
        <p:spPr>
          <a:xfrm>
            <a:off x="6863400" y="5157720"/>
            <a:ext cx="1344240" cy="360"/>
          </a:xfrm>
          <a:prstGeom prst="line">
            <a:avLst/>
          </a:prstGeom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3" name="CaixaDeTexto 11"/>
          <p:cNvSpPr/>
          <p:nvPr/>
        </p:nvSpPr>
        <p:spPr>
          <a:xfrm>
            <a:off x="3214800" y="4724280"/>
            <a:ext cx="384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CaixaDeTexto 12"/>
          <p:cNvSpPr/>
          <p:nvPr/>
        </p:nvSpPr>
        <p:spPr>
          <a:xfrm>
            <a:off x="7632000" y="4724280"/>
            <a:ext cx="381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238680" y="0"/>
            <a:ext cx="1171224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TIPOS DE RELACIONAMENTO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/>
          </p:nvPr>
        </p:nvSpPr>
        <p:spPr>
          <a:xfrm>
            <a:off x="624240" y="1447920"/>
            <a:ext cx="111348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RELACIONAMENTO 1:1 (lê-se UM PARA UM)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pic>
        <p:nvPicPr>
          <p:cNvPr id="387" name="Picture 2"/>
          <p:cNvPicPr/>
          <p:nvPr/>
        </p:nvPicPr>
        <p:blipFill>
          <a:blip r:embed="rId1"/>
          <a:stretch/>
        </p:blipFill>
        <p:spPr>
          <a:xfrm>
            <a:off x="719280" y="2205000"/>
            <a:ext cx="10446480" cy="403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Conector de Seta Reta 2"/>
          <p:cNvSpPr/>
          <p:nvPr/>
        </p:nvSpPr>
        <p:spPr>
          <a:xfrm>
            <a:off x="3214800" y="2205000"/>
            <a:ext cx="360" cy="360"/>
          </a:xfrm>
          <a:custGeom>
            <a:avLst/>
            <a:gdLst>
              <a:gd name="textAreaLeft" fmla="*/ 0 w 360"/>
              <a:gd name="textAreaRight" fmla="*/ 1440 w 3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4">
            <a:solidFill>
              <a:srgbClr val="192A3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360" rIns="90000" bIns="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9" name="Elipse 3"/>
          <p:cNvSpPr/>
          <p:nvPr/>
        </p:nvSpPr>
        <p:spPr>
          <a:xfrm>
            <a:off x="7439400" y="2265480"/>
            <a:ext cx="862560" cy="532800"/>
          </a:xfrm>
          <a:prstGeom prst="ellipse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1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Conector de Seta Reta 4"/>
          <p:cNvSpPr/>
          <p:nvPr/>
        </p:nvSpPr>
        <p:spPr>
          <a:xfrm flipH="1">
            <a:off x="3812760" y="3429000"/>
            <a:ext cx="4596480" cy="7200"/>
          </a:xfrm>
          <a:custGeom>
            <a:avLst/>
            <a:gdLst>
              <a:gd name="textAreaLeft" fmla="*/ -360 w 4596480"/>
              <a:gd name="textAreaRight" fmla="*/ 4596840 w 4596480"/>
              <a:gd name="textAreaTop" fmla="*/ 0 h 7200"/>
              <a:gd name="textAreaBottom" fmla="*/ 7920 h 7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4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1" name="Elipse 6"/>
          <p:cNvSpPr/>
          <p:nvPr/>
        </p:nvSpPr>
        <p:spPr>
          <a:xfrm>
            <a:off x="3960000" y="2222640"/>
            <a:ext cx="767520" cy="573840"/>
          </a:xfrm>
          <a:prstGeom prst="ellipse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500" b="0" u="none" strike="noStrike">
                <a:solidFill>
                  <a:srgbClr val="FF0000"/>
                </a:solidFill>
                <a:effectLst/>
                <a:uFillTx/>
                <a:latin typeface="Perpetua"/>
                <a:ea typeface="Arial"/>
              </a:rPr>
              <a:t>1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/>
          </p:nvPr>
        </p:nvSpPr>
        <p:spPr>
          <a:xfrm>
            <a:off x="624240" y="1447920"/>
            <a:ext cx="111348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RELACIONAMENTO 1:N (lê-se UM PARA MUITOS)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O relacionamento TRABALHA-PARA existe entre as entidades EMPREGADO e DEPARTAMENTO. Este relacionamento associa cada empregado com o departamento em que este trabalha. 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2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Muitos empregados podem trabalhar para um departamento mas um departamento pode ter vários empregados trabalhando nele. 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2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393" name="Título 1"/>
          <p:cNvSpPr/>
          <p:nvPr/>
        </p:nvSpPr>
        <p:spPr>
          <a:xfrm>
            <a:off x="238680" y="0"/>
            <a:ext cx="1171224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9144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TIPOS DE RELACIONAMENTO</a:t>
            </a:r>
            <a:endParaRPr lang="pt-BR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Retângulo 5"/>
          <p:cNvSpPr/>
          <p:nvPr/>
        </p:nvSpPr>
        <p:spPr>
          <a:xfrm>
            <a:off x="526680" y="4581360"/>
            <a:ext cx="2496600" cy="1150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726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Perpetua"/>
                <a:ea typeface="Arial"/>
              </a:rPr>
              <a:t>EMPREGADO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Retângulo 6"/>
          <p:cNvSpPr/>
          <p:nvPr/>
        </p:nvSpPr>
        <p:spPr>
          <a:xfrm>
            <a:off x="8208000" y="4581360"/>
            <a:ext cx="3167640" cy="1150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726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Perpetua"/>
                <a:ea typeface="Arial"/>
              </a:rPr>
              <a:t>DEPARTAMENTO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Losango 7"/>
          <p:cNvSpPr/>
          <p:nvPr/>
        </p:nvSpPr>
        <p:spPr>
          <a:xfrm>
            <a:off x="4078800" y="4581360"/>
            <a:ext cx="2880000" cy="1150200"/>
          </a:xfrm>
          <a:prstGeom prst="diamond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trabalha_para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Conector reto 8"/>
          <p:cNvSpPr/>
          <p:nvPr/>
        </p:nvSpPr>
        <p:spPr>
          <a:xfrm>
            <a:off x="3024000" y="5157720"/>
            <a:ext cx="1054080" cy="360"/>
          </a:xfrm>
          <a:prstGeom prst="line">
            <a:avLst/>
          </a:prstGeom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8" name="Conector reto 9"/>
          <p:cNvSpPr/>
          <p:nvPr/>
        </p:nvSpPr>
        <p:spPr>
          <a:xfrm>
            <a:off x="6863400" y="5157720"/>
            <a:ext cx="1344240" cy="360"/>
          </a:xfrm>
          <a:prstGeom prst="line">
            <a:avLst/>
          </a:prstGeom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9" name="CaixaDeTexto 10"/>
          <p:cNvSpPr/>
          <p:nvPr/>
        </p:nvSpPr>
        <p:spPr>
          <a:xfrm>
            <a:off x="3214800" y="4724280"/>
            <a:ext cx="384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CaixaDeTexto 11"/>
          <p:cNvSpPr/>
          <p:nvPr/>
        </p:nvSpPr>
        <p:spPr>
          <a:xfrm>
            <a:off x="7632000" y="4724280"/>
            <a:ext cx="381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/>
          </p:nvPr>
        </p:nvSpPr>
        <p:spPr>
          <a:xfrm>
            <a:off x="624240" y="1447920"/>
            <a:ext cx="111348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RELACIONAMENTO 1:N (lê-se UM PARA MUITOS)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2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402" name="Título 1"/>
          <p:cNvSpPr/>
          <p:nvPr/>
        </p:nvSpPr>
        <p:spPr>
          <a:xfrm>
            <a:off x="238680" y="0"/>
            <a:ext cx="1171224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9144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TIPOS DE RELACIONAMENTO</a:t>
            </a:r>
            <a:endParaRPr lang="pt-BR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3" name="Picture 2"/>
          <p:cNvPicPr/>
          <p:nvPr/>
        </p:nvPicPr>
        <p:blipFill>
          <a:blip r:embed="rId1"/>
          <a:stretch/>
        </p:blipFill>
        <p:spPr>
          <a:xfrm>
            <a:off x="1390320" y="2133720"/>
            <a:ext cx="9665640" cy="429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Conector de Seta Reta 1"/>
          <p:cNvSpPr/>
          <p:nvPr/>
        </p:nvSpPr>
        <p:spPr>
          <a:xfrm>
            <a:off x="3214800" y="2133720"/>
            <a:ext cx="360" cy="360"/>
          </a:xfrm>
          <a:custGeom>
            <a:avLst/>
            <a:gdLst>
              <a:gd name="textAreaLeft" fmla="*/ 0 w 360"/>
              <a:gd name="textAreaRight" fmla="*/ 1440 w 3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4">
            <a:solidFill>
              <a:srgbClr val="192A3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360" rIns="90000" bIns="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5" name="Elipse 2"/>
          <p:cNvSpPr/>
          <p:nvPr/>
        </p:nvSpPr>
        <p:spPr>
          <a:xfrm>
            <a:off x="7439400" y="2278080"/>
            <a:ext cx="767520" cy="573840"/>
          </a:xfrm>
          <a:prstGeom prst="ellipse">
            <a:avLst/>
          </a:prstGeom>
          <a:noFill/>
          <a:ln w="12700">
            <a:solidFill>
              <a:srgbClr val="0911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6" name="Conector de Seta Reta 3"/>
          <p:cNvSpPr/>
          <p:nvPr/>
        </p:nvSpPr>
        <p:spPr>
          <a:xfrm flipH="1">
            <a:off x="3812760" y="3357720"/>
            <a:ext cx="4596480" cy="7200"/>
          </a:xfrm>
          <a:custGeom>
            <a:avLst/>
            <a:gdLst>
              <a:gd name="textAreaLeft" fmla="*/ -360 w 4596480"/>
              <a:gd name="textAreaRight" fmla="*/ 4596840 w 4596480"/>
              <a:gd name="textAreaTop" fmla="*/ 0 h 7200"/>
              <a:gd name="textAreaBottom" fmla="*/ 7920 h 7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4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7" name="Elipse 5"/>
          <p:cNvSpPr/>
          <p:nvPr/>
        </p:nvSpPr>
        <p:spPr>
          <a:xfrm>
            <a:off x="3983040" y="2295360"/>
            <a:ext cx="767520" cy="57564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/>
          </p:nvPr>
        </p:nvSpPr>
        <p:spPr>
          <a:xfrm>
            <a:off x="624240" y="1447920"/>
            <a:ext cx="111348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RELACIONAMENTO N:M (lê-se MUITOS PARA MUITOS)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O relacionamento TRABALHA-EM entre EMPREGADO e PROJETO tem a razão de cardinalidade M:N, considerando que um empregado pode trabalhar em diversos projetos e que um projeto pode ter  vários empregados trabalhando nele.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409" name="Título 1"/>
          <p:cNvSpPr/>
          <p:nvPr/>
        </p:nvSpPr>
        <p:spPr>
          <a:xfrm>
            <a:off x="238680" y="0"/>
            <a:ext cx="1171224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9144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TIPOS DE RELACIONAMENTO</a:t>
            </a:r>
            <a:endParaRPr lang="pt-BR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etângulo 5"/>
          <p:cNvSpPr/>
          <p:nvPr/>
        </p:nvSpPr>
        <p:spPr>
          <a:xfrm>
            <a:off x="526680" y="4581360"/>
            <a:ext cx="2496600" cy="1150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726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Perpetua"/>
                <a:ea typeface="Arial"/>
              </a:rPr>
              <a:t>EMPREGADO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Retângulo 6"/>
          <p:cNvSpPr/>
          <p:nvPr/>
        </p:nvSpPr>
        <p:spPr>
          <a:xfrm>
            <a:off x="8208000" y="4581360"/>
            <a:ext cx="3167640" cy="11502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726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1" u="none" strike="noStrike">
                <a:solidFill>
                  <a:schemeClr val="lt1"/>
                </a:solidFill>
                <a:effectLst/>
                <a:uFillTx/>
                <a:latin typeface="Perpetua"/>
                <a:ea typeface="Arial"/>
              </a:rPr>
              <a:t>PROJETO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Losango 7"/>
          <p:cNvSpPr/>
          <p:nvPr/>
        </p:nvSpPr>
        <p:spPr>
          <a:xfrm>
            <a:off x="4078800" y="4581360"/>
            <a:ext cx="2880000" cy="1150200"/>
          </a:xfrm>
          <a:prstGeom prst="diamond">
            <a:avLst/>
          </a:prstGeom>
          <a:solidFill>
            <a:srgbClr val="C8E5DC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trabalha _em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Conector reto 8"/>
          <p:cNvSpPr/>
          <p:nvPr/>
        </p:nvSpPr>
        <p:spPr>
          <a:xfrm>
            <a:off x="3024000" y="5157720"/>
            <a:ext cx="1054080" cy="360"/>
          </a:xfrm>
          <a:prstGeom prst="line">
            <a:avLst/>
          </a:prstGeom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4" name="Conector reto 9"/>
          <p:cNvSpPr/>
          <p:nvPr/>
        </p:nvSpPr>
        <p:spPr>
          <a:xfrm>
            <a:off x="6863400" y="5157720"/>
            <a:ext cx="1344240" cy="360"/>
          </a:xfrm>
          <a:prstGeom prst="line">
            <a:avLst/>
          </a:prstGeom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5" name="CaixaDeTexto 10"/>
          <p:cNvSpPr/>
          <p:nvPr/>
        </p:nvSpPr>
        <p:spPr>
          <a:xfrm>
            <a:off x="3214800" y="4724280"/>
            <a:ext cx="960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CaixaDeTexto 11"/>
          <p:cNvSpPr/>
          <p:nvPr/>
        </p:nvSpPr>
        <p:spPr>
          <a:xfrm>
            <a:off x="7151400" y="4724280"/>
            <a:ext cx="862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   N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/>
          </p:nvPr>
        </p:nvSpPr>
        <p:spPr>
          <a:xfrm>
            <a:off x="624240" y="1447920"/>
            <a:ext cx="111348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RELACIONAMENTO N:M (lê-se MUITOS PARA MUITOS)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418" name="Título 1"/>
          <p:cNvSpPr/>
          <p:nvPr/>
        </p:nvSpPr>
        <p:spPr>
          <a:xfrm>
            <a:off x="238680" y="0"/>
            <a:ext cx="1171224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9144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TIPOS DE RELACIONAMENTO</a:t>
            </a:r>
            <a:endParaRPr lang="pt-BR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9" name="Picture 2"/>
          <p:cNvPicPr/>
          <p:nvPr/>
        </p:nvPicPr>
        <p:blipFill>
          <a:blip r:embed="rId1"/>
          <a:stretch/>
        </p:blipFill>
        <p:spPr>
          <a:xfrm>
            <a:off x="1720440" y="2487600"/>
            <a:ext cx="8749440" cy="389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Conector de Seta Reta 1"/>
          <p:cNvSpPr/>
          <p:nvPr/>
        </p:nvSpPr>
        <p:spPr>
          <a:xfrm>
            <a:off x="3197880" y="2421000"/>
            <a:ext cx="360" cy="360"/>
          </a:xfrm>
          <a:custGeom>
            <a:avLst/>
            <a:gdLst>
              <a:gd name="textAreaLeft" fmla="*/ 0 w 360"/>
              <a:gd name="textAreaRight" fmla="*/ 1440 w 3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4">
            <a:solidFill>
              <a:srgbClr val="192A3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360" rIns="90000" bIns="3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1" name="Elipse 2"/>
          <p:cNvSpPr/>
          <p:nvPr/>
        </p:nvSpPr>
        <p:spPr>
          <a:xfrm>
            <a:off x="7422840" y="2565360"/>
            <a:ext cx="767520" cy="575640"/>
          </a:xfrm>
          <a:prstGeom prst="ellipse">
            <a:avLst/>
          </a:prstGeom>
          <a:noFill/>
          <a:ln w="12700">
            <a:solidFill>
              <a:srgbClr val="0911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2" name="Conector de Seta Reta 3"/>
          <p:cNvSpPr/>
          <p:nvPr/>
        </p:nvSpPr>
        <p:spPr>
          <a:xfrm flipH="1">
            <a:off x="3795840" y="3645000"/>
            <a:ext cx="4596480" cy="7200"/>
          </a:xfrm>
          <a:custGeom>
            <a:avLst/>
            <a:gdLst>
              <a:gd name="textAreaLeft" fmla="*/ -360 w 4596480"/>
              <a:gd name="textAreaRight" fmla="*/ 4596840 w 4596480"/>
              <a:gd name="textAreaTop" fmla="*/ 0 h 7200"/>
              <a:gd name="textAreaBottom" fmla="*/ 7920 h 7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4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3" name="Elipse 5"/>
          <p:cNvSpPr/>
          <p:nvPr/>
        </p:nvSpPr>
        <p:spPr>
          <a:xfrm>
            <a:off x="3966480" y="2583000"/>
            <a:ext cx="767520" cy="57564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4" name="Retângulo 6"/>
          <p:cNvSpPr/>
          <p:nvPr/>
        </p:nvSpPr>
        <p:spPr>
          <a:xfrm>
            <a:off x="238680" y="5676840"/>
            <a:ext cx="2304000" cy="6469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911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rgbClr val="FFFFFF"/>
                </a:solidFill>
                <a:effectLst/>
                <a:uFillTx/>
                <a:latin typeface="Perpetua"/>
                <a:ea typeface="Arial"/>
              </a:rPr>
              <a:t>M, N &gt;= 2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/>
          </p:nvPr>
        </p:nvSpPr>
        <p:spPr>
          <a:xfrm>
            <a:off x="431640" y="1447920"/>
            <a:ext cx="114246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sng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NOTAÇÃO DE PAR DE CARDINALIDADES (MÍN, MÁX)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Alguns livros trazem a notação de par de cardinalidade, que se define através da atribuição de um valor mínimo e um valor máximo para os tipos de relacionamentos existentes.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426" name="Título 1"/>
          <p:cNvSpPr/>
          <p:nvPr/>
        </p:nvSpPr>
        <p:spPr>
          <a:xfrm>
            <a:off x="238680" y="0"/>
            <a:ext cx="1171224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9144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TIPOS DE RELACIONAMENTO</a:t>
            </a:r>
            <a:endParaRPr lang="pt-BR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7" name="Picture 2" descr="Sem título"/>
          <p:cNvPicPr/>
          <p:nvPr/>
        </p:nvPicPr>
        <p:blipFill>
          <a:blip r:embed="rId1"/>
          <a:stretch/>
        </p:blipFill>
        <p:spPr>
          <a:xfrm>
            <a:off x="791280" y="3543480"/>
            <a:ext cx="10607760" cy="280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8" name="Retângulo 1"/>
          <p:cNvSpPr/>
          <p:nvPr/>
        </p:nvSpPr>
        <p:spPr>
          <a:xfrm>
            <a:off x="9839880" y="4443480"/>
            <a:ext cx="574560" cy="504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9" name="Conector reto 4"/>
          <p:cNvSpPr/>
          <p:nvPr/>
        </p:nvSpPr>
        <p:spPr>
          <a:xfrm flipV="1">
            <a:off x="9839520" y="4508280"/>
            <a:ext cx="720" cy="439920"/>
          </a:xfrm>
          <a:prstGeom prst="line">
            <a:avLst/>
          </a:prstGeom>
          <a:ln w="28575">
            <a:solidFill>
              <a:srgbClr val="7F7F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0" name="CaixaDeTexto 2"/>
          <p:cNvSpPr/>
          <p:nvPr/>
        </p:nvSpPr>
        <p:spPr>
          <a:xfrm>
            <a:off x="4175640" y="3789360"/>
            <a:ext cx="2187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N                           1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/>
          </p:nvPr>
        </p:nvSpPr>
        <p:spPr>
          <a:xfrm>
            <a:off x="624240" y="1447920"/>
            <a:ext cx="111348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AUTO RELACIONAMENTO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Também chamados de </a:t>
            </a:r>
            <a:r>
              <a:rPr lang="pt-BR" sz="2600" b="0" u="sng" strike="noStrike">
                <a:solidFill>
                  <a:srgbClr val="FF0000"/>
                </a:solidFill>
                <a:effectLst/>
                <a:uFillTx/>
                <a:latin typeface="Perpetua"/>
                <a:ea typeface="Arial"/>
              </a:rPr>
              <a:t>relacionamentos recursivos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No auto relacionamento </a:t>
            </a: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uma entidade relaciona com ela mesma 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 também possui cardinalidades.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Cada tipo de entidade que participa de um tipo de relacionamento recursivo possui um </a:t>
            </a:r>
            <a:r>
              <a:rPr lang="pt-BR" sz="2600" b="1" u="none" strike="noStrike">
                <a:solidFill>
                  <a:srgbClr val="FF0000"/>
                </a:solidFill>
                <a:effectLst/>
                <a:uFillTx/>
                <a:latin typeface="Perpetua"/>
                <a:ea typeface="Arial"/>
              </a:rPr>
              <a:t>papel</a:t>
            </a: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específico. O </a:t>
            </a: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nome do papel </a:t>
            </a: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indica a participação de uma entidade no relacionamento.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 type="title"/>
          </p:nvPr>
        </p:nvSpPr>
        <p:spPr>
          <a:xfrm>
            <a:off x="238680" y="0"/>
            <a:ext cx="1171224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TIPOS DE RELACIONAMENTO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Picture 3"/>
          <p:cNvPicPr/>
          <p:nvPr/>
        </p:nvPicPr>
        <p:blipFill>
          <a:blip r:embed="rId1"/>
          <a:stretch/>
        </p:blipFill>
        <p:spPr>
          <a:xfrm>
            <a:off x="624240" y="3573360"/>
            <a:ext cx="5443200" cy="309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238680" y="0"/>
            <a:ext cx="1195164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AUTO RELACIONAMENTO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/>
          </p:nvPr>
        </p:nvSpPr>
        <p:spPr>
          <a:xfrm>
            <a:off x="624240" y="1268280"/>
            <a:ext cx="111348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AUTO RELACIONAMENTO (1:N)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O relacionamento SUPERVISIONA relaciona um empregado com o seu supervisor, onde ambas entidades são membros do mesmo tipo de entidade EMPREGADO. Assim, o tipo de entidade EMPREGADO participa duas vezes: uma vez no papel de supervisor e outra no papel de supervisionado. Assim, e1 supervisiona e2, e2 supervisiona e3 e e1 supervisiona e4.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pic>
        <p:nvPicPr>
          <p:cNvPr id="436" name="Picture 2"/>
          <p:cNvPicPr/>
          <p:nvPr/>
        </p:nvPicPr>
        <p:blipFill>
          <a:blip r:embed="rId2"/>
          <a:stretch/>
        </p:blipFill>
        <p:spPr>
          <a:xfrm>
            <a:off x="6095880" y="3632040"/>
            <a:ext cx="4894920" cy="29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7" name="Retângulo 5"/>
          <p:cNvSpPr/>
          <p:nvPr/>
        </p:nvSpPr>
        <p:spPr>
          <a:xfrm>
            <a:off x="10801080" y="6164280"/>
            <a:ext cx="574560" cy="504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Imagem 1"/>
          <p:cNvPicPr/>
          <p:nvPr/>
        </p:nvPicPr>
        <p:blipFill>
          <a:blip r:embed="rId1"/>
          <a:stretch/>
        </p:blipFill>
        <p:spPr>
          <a:xfrm>
            <a:off x="2543760" y="2179800"/>
            <a:ext cx="7318440" cy="134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526680" y="0"/>
            <a:ext cx="1113660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AUTO RELACIONAMENTO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/>
          </p:nvPr>
        </p:nvSpPr>
        <p:spPr>
          <a:xfrm>
            <a:off x="526680" y="1447920"/>
            <a:ext cx="11136600" cy="140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AUTO RELACIONAMENTOS (N:M) e (1:1)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indent="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0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          é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1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possui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None/>
              <a:tabLst>
                <a:tab pos="0" algn="l"/>
              </a:tabLst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             </a:t>
            </a: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	</a:t>
            </a: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     </a:t>
            </a: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casa                   </a:t>
            </a: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      é_casada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pic>
        <p:nvPicPr>
          <p:cNvPr id="441" name="Picture 2"/>
          <p:cNvPicPr/>
          <p:nvPr/>
        </p:nvPicPr>
        <p:blipFill>
          <a:blip r:embed="rId2"/>
          <a:srcRect l="58041" t="0" r="10805" b="4529"/>
          <a:stretch/>
        </p:blipFill>
        <p:spPr>
          <a:xfrm>
            <a:off x="4559400" y="4076640"/>
            <a:ext cx="2737800" cy="259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/>
          </p:nvPr>
        </p:nvSpPr>
        <p:spPr>
          <a:xfrm>
            <a:off x="719280" y="1447920"/>
            <a:ext cx="1086156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ATRIBUTOS EM RELACIONAMENTOS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Os relacionamentos também podem ter atributos. 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Ex. 1: Pode haver a necessidade de se representar a quantidade de </a:t>
            </a:r>
            <a:r>
              <a:rPr lang="pt-BR" sz="23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horas semanais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 trabalhadas por um empregado em um dado projeto. Isto pode ser representado no relacionamento TRABALHA-EM na forma do atributo denominado Horas. </a:t>
            </a:r>
            <a:endParaRPr lang="pt-BR" sz="23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113660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OBSERVAÇÃO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pic>
        <p:nvPicPr>
          <p:cNvPr id="444" name="Picture 2"/>
          <p:cNvPicPr/>
          <p:nvPr/>
        </p:nvPicPr>
        <p:blipFill>
          <a:blip r:embed="rId1"/>
          <a:srcRect l="29902" t="37373" r="27772" b="45707"/>
          <a:stretch/>
        </p:blipFill>
        <p:spPr>
          <a:xfrm>
            <a:off x="719280" y="4389480"/>
            <a:ext cx="11068920" cy="194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/>
          </p:nvPr>
        </p:nvSpPr>
        <p:spPr>
          <a:xfrm>
            <a:off x="624240" y="1447920"/>
            <a:ext cx="110394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1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ATRIBUTOS EM RELACIONAMENTOS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  <a:p>
            <a:pPr marL="272880" indent="-272880" algn="l" defTabSz="914400">
              <a:lnSpc>
                <a:spcPct val="100000"/>
              </a:lnSpc>
              <a:spcBef>
                <a:spcPts val="575"/>
              </a:spcBef>
              <a:buClr>
                <a:srgbClr val="243748"/>
              </a:buClr>
              <a:buSzPct val="85000"/>
              <a:buFont typeface="Wingdings 2" charset="2"/>
              <a:buChar char=""/>
            </a:pPr>
            <a:r>
              <a:rPr lang="pt-BR" sz="2600" b="0" u="none" strike="noStrike">
                <a:solidFill>
                  <a:schemeClr val="dk1"/>
                </a:solidFill>
                <a:effectLst/>
                <a:uFillTx/>
                <a:latin typeface="Perpetua"/>
                <a:ea typeface="Arial"/>
              </a:rPr>
              <a:t>Outro exemplo é o caso de representar a data em que um gerente começou a gerenciar um departamento através de um atributo DataInício para o tipo de relacionamento GERENCIA, pois pode ser necessário trocar de gerente a cada 2 anos, por exemplo.</a:t>
            </a:r>
            <a:endParaRPr lang="pt-BR" sz="2600" b="0" u="none" strike="noStrike">
              <a:solidFill>
                <a:schemeClr val="dk1"/>
              </a:solidFill>
              <a:effectLst/>
              <a:uFillTx/>
              <a:latin typeface="Perpetua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 type="title"/>
          </p:nvPr>
        </p:nvSpPr>
        <p:spPr>
          <a:xfrm>
            <a:off x="526680" y="0"/>
            <a:ext cx="1113660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MER – OBSERVAÇÃO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pic>
        <p:nvPicPr>
          <p:cNvPr id="447" name="Picture 2"/>
          <p:cNvPicPr/>
          <p:nvPr/>
        </p:nvPicPr>
        <p:blipFill>
          <a:blip r:embed="rId1"/>
          <a:srcRect l="29902" t="52598" r="27772" b="28057"/>
          <a:stretch/>
        </p:blipFill>
        <p:spPr>
          <a:xfrm>
            <a:off x="1007280" y="4005360"/>
            <a:ext cx="10175760" cy="207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CaixaDeTexto 1"/>
          <p:cNvSpPr/>
          <p:nvPr/>
        </p:nvSpPr>
        <p:spPr>
          <a:xfrm>
            <a:off x="285120" y="336600"/>
            <a:ext cx="11619360" cy="50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     Exercícios - Modelo Entidade Relacionamento (MER)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OBS.: Identificar os </a:t>
            </a:r>
            <a:r>
              <a:rPr lang="pt-BR" sz="18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atributos chaves e as cardinalidades</a:t>
            </a: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em todos os diagramas.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1) Uma 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cia de seguros de automóveis</a:t>
            </a: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que tem um conjunto de clientes (tendo nome, CPF, endereço e telefone(s)), cada um deles proprietário de um ou mais carros (fabricante, modelo, ano, placa, estado). Cada carro está associado a nenhum ou vários registros de acidentes (data, número do BO). Um acidente pode envolver não apenas um, mas vários carros. Identifique os atributos chaves de todas as entidades do modelo.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2) Uma prefeitura deseja ter os seguintes dados a respeito dos condomínios da cidade: os dados de cada 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empresa administradora de condomínios</a:t>
            </a: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que possui, por exemplo, um nome, endereço e uma descrição. Cada administradora administra condomínios (cada um com um nome e endereço) formados por unidades condominiais (cada uma com um nome). Cada unidade condominial é de propriedade de uma ou mais pessoas (nome e CPF). Uma pessoa pode possuir ou alugar diversas unidades. Cada unidade pode estar alugada para no máximo uma pessoa.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CaixaDeTexto 1"/>
          <p:cNvSpPr/>
          <p:nvPr/>
        </p:nvSpPr>
        <p:spPr>
          <a:xfrm>
            <a:off x="431640" y="476280"/>
            <a:ext cx="11424600" cy="447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    Exercícios - Modelo Entidade Relacionamento (MER)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OBS.: Identificar os </a:t>
            </a:r>
            <a:r>
              <a:rPr lang="pt-BR" sz="18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atributos chaves e as cardinalidades</a:t>
            </a: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em todos os diagramas.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3) Numa 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empresa</a:t>
            </a:r>
            <a:r>
              <a:rPr lang="pt-PT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os funcionários são descritos por um nome, número do CPF, salário, endereço (logradouro, número, bairro, cidade), data de nascimento e sexo. Tanto o número do CPF possui valor exclusivo para cada funcionário. Os funcionários pertencem a departamentos da empresa. Cada departamento possui um nome, um número, uma localização e uma sigla que o identifica. Esta sigla é exclusiva de cada departamento. Cada departamento é supervisionado por um funcionário da empresa. É necessário saber a data de início da supervisão, para que a cada dois anos haja substituições. Os departamentos possuem projetos associados. Cada projeto é identificado por um nome, um código e um número de funcionários alocados. O código do projeto é exclusivo para cada um deles. Os funcionários da empresa trabalham em projetos, e o número de horas dedicadas a um determinado projeto deve ser armazenado no BD. 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526680" y="115920"/>
            <a:ext cx="10361880" cy="85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9144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500" b="1" u="none" strike="noStrike">
                <a:solidFill>
                  <a:schemeClr val="dk2"/>
                </a:solidFill>
                <a:effectLst/>
                <a:uFillTx/>
                <a:latin typeface="Calibri"/>
                <a:ea typeface="Arial"/>
              </a:rPr>
              <a:t>PRATICANDO... </a:t>
            </a:r>
            <a:endParaRPr lang="pt-BR" sz="4500" b="0" u="none" strike="noStrike">
              <a:solidFill>
                <a:schemeClr val="dk2"/>
              </a:solidFill>
              <a:effectLst/>
              <a:uFillTx/>
              <a:latin typeface="Franklin Gothic Book"/>
            </a:endParaRPr>
          </a:p>
        </p:txBody>
      </p:sp>
      <p:pic>
        <p:nvPicPr>
          <p:cNvPr id="451" name="Imagem 3"/>
          <p:cNvPicPr/>
          <p:nvPr/>
        </p:nvPicPr>
        <p:blipFill>
          <a:blip r:embed="rId1"/>
          <a:stretch/>
        </p:blipFill>
        <p:spPr>
          <a:xfrm>
            <a:off x="0" y="1398600"/>
            <a:ext cx="12190680" cy="4060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.jpeg"/><Relationship Id="rId3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Patrimônio Líquido">
  <a:themeElements>
    <a:clrScheme name="Personalizada 5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243748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Patrimônio Líquido">
      <a:majorFont>
        <a:latin typeface="Franklin Gothic Book" pitchFamily="0" charset="1"/>
        <a:ea typeface="Arial" pitchFamily="0" charset="1"/>
        <a:cs typeface="Arial" pitchFamily="0" charset="1"/>
      </a:majorFont>
      <a:minorFont>
        <a:latin typeface="Perpetua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blipFill rotWithShape="1">
          <a:blip r:embed="rId1"/>
          <a:srcRect l="0" t="0" r="0" b="0"/>
          <a:tile tx="0" ty="0" sx="70000" sy="70000" flip="none" algn="ctr"/>
        </a:blipFill>
        <a:blipFill rotWithShape="1">
          <a:blip r:embed="rId2"/>
          <a:srcRect l="0" t="0" r="0" b="0"/>
          <a:tile tx="0" ty="0" sx="65000" sy="65000" flip="none" algn="ctr"/>
        </a:blip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shade val="40000"/>
              </a:schemeClr>
            </a:gs>
            <a:gs pos="50000">
              <a:schemeClr val="phClr">
                <a:shade val="80000"/>
              </a:schemeClr>
            </a:gs>
            <a:gs pos="100000">
              <a:schemeClr val="phClr">
                <a:tint val="95000"/>
              </a:schemeClr>
            </a:gs>
          </a:gsLst>
          <a:lin ang="16200000" scaled="1"/>
          <a:tileRect l="0" t="0" r="0" b="0"/>
        </a:gradFill>
        <a:blipFill rotWithShape="1">
          <a:blip r:embed="rId3"/>
          <a:srcRect l="0" t="0" r="0" b="0"/>
          <a:tile tx="0" ty="0" sx="55000" sy="55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i9_Multicolored Dark">
      <a:dk1>
        <a:srgbClr val="FFFFFF"/>
      </a:dk1>
      <a:lt1>
        <a:srgbClr val="2B2B2D"/>
      </a:lt1>
      <a:dk2>
        <a:srgbClr val="21B169"/>
      </a:dk2>
      <a:lt2>
        <a:srgbClr val="CF423F"/>
      </a:lt2>
      <a:accent1>
        <a:srgbClr val="4DB3C7"/>
      </a:accent1>
      <a:accent2>
        <a:srgbClr val="85CA46"/>
      </a:accent2>
      <a:accent3>
        <a:srgbClr val="F49D00"/>
      </a:accent3>
      <a:accent4>
        <a:srgbClr val="D2326B"/>
      </a:accent4>
      <a:accent5>
        <a:srgbClr val="1D6E9B"/>
      </a:accent5>
      <a:accent6>
        <a:srgbClr val="6F4EA4"/>
      </a:accent6>
      <a:hlink>
        <a:srgbClr val="7030A0"/>
      </a:hlink>
      <a:folHlink>
        <a:srgbClr val="00B0F0"/>
      </a:folHlink>
    </a:clrScheme>
    <a:fontScheme name="Custom 3">
      <a:majorFont>
        <a:latin typeface="Open Sans Light" pitchFamily="0" charset="1"/>
        <a:ea typeface=""/>
        <a:cs typeface=""/>
      </a:majorFont>
      <a:minorFont>
        <a:latin typeface="Open Sa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</TotalTime>
  <Application>LibreOffice/26.2.4.2$MacOSX_AARCH64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2012-03-08T01:04:00Z</dcterms:created>
  <dc:creator>Luciana</dc:creator>
  <dc:description/>
  <dc:language>pt-BR</dc:language>
  <cp:lastModifiedBy/>
  <dcterms:modified xsi:type="dcterms:W3CDTF">2026-08-09T17:17:14Z</dcterms:modified>
  <cp:revision>116</cp:revision>
  <dc:subject/>
  <dc:title>Universidade Federal de Viçosa/ Campus Florestal Tecnologia em Análise e Desenvolvimento de Sistemas Disciplina: Banco de Dados – TDS 320 – 1º semestre 2012 Profa: Luciana Mara Freitas Diniz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52</vt:i4>
  </property>
  <property fmtid="{D5CDD505-2E9C-101B-9397-08002B2CF9AE}" pid="4" name="PresentationFormat">
    <vt:lpwstr>On-screen Show (4:3)</vt:lpwstr>
  </property>
  <property fmtid="{D5CDD505-2E9C-101B-9397-08002B2CF9AE}" pid="5" name="Slides">
    <vt:i4>52</vt:i4>
  </property>
</Properties>
</file>