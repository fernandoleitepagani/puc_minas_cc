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0080625" cy="56705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cxn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-36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lnSpc>
                <a:spcPct val="72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45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Click to move the slide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5280" y="5078520"/>
            <a:ext cx="6041880" cy="480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-360" y="0"/>
            <a:ext cx="3274920" cy="52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93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ahoma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"/>
          </p:nvPr>
        </p:nvSpPr>
        <p:spPr>
          <a:xfrm>
            <a:off x="4277880" y="0"/>
            <a:ext cx="3274920" cy="52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93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ahoma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ahoma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4"/>
          </p:nvPr>
        </p:nvSpPr>
        <p:spPr>
          <a:xfrm>
            <a:off x="-360" y="10156320"/>
            <a:ext cx="3274920" cy="5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93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ahoma"/>
              </a:defRPr>
            </a:lvl1pPr>
          </a:lstStyle>
          <a:p>
            <a:pPr indent="0" algn="l">
              <a:lnSpc>
                <a:spcPct val="93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ahoma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5"/>
          </p:nvPr>
        </p:nvSpPr>
        <p:spPr>
          <a:xfrm>
            <a:off x="4277880" y="10156320"/>
            <a:ext cx="3274920" cy="52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93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ahoma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0263BE3F-B111-41E4-8742-3873565977B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ahoma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6081C8F6-5948-4863-A298-35FDE12C4C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CEB08CB2-72E0-47B4-89AF-9FCA8B53E48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02185270-B3A7-4456-99BB-A6AD456263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60D49341-2E8E-466B-AC16-F8B6F00569F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7D9C58C0-31FD-429C-9F35-50B9B5B466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D66B0F91-EA65-41E1-BF79-3E2411CD423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2322157B-A560-41D0-BE1A-658075F2FE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E27735DA-60C4-454F-AC1C-27E08DD9DE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9E93D063-4B59-4992-AF52-B29E89A5E48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1498C35D-7991-4D11-B4E3-DCA63213CD6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F2A9F777-6D48-41C4-85D0-CD701EC4A6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3BEBC7F8-EEE8-4ED8-908A-A7DB6294408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81E5A222-0E91-48E1-88A5-9723A865CC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5398AD11-3914-48D2-B795-D54CDCC877E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434D7277-278F-474B-B1E8-9801113A3B8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CD6C66F8-BCAC-4319-9E5E-E6A57378E2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BAE09CF1-9ED9-4D5D-A678-3EA46A813D7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ED246083-FB3C-4E0B-800B-5AFBEA6450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400" cy="308628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6400" cy="360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884760" y="8685360"/>
            <a:ext cx="297180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77C75C81-8505-4C43-8D81-AB9CC351E28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10080720" cy="5670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71280" y="57240"/>
            <a:ext cx="9936360" cy="5532480"/>
          </a:xfrm>
          <a:prstGeom prst="roundRect">
            <a:avLst>
              <a:gd name="adj" fmla="val 4931"/>
            </a:avLst>
          </a:prstGeom>
          <a:noFill/>
          <a:ln cap="sq"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69840" y="1198440"/>
            <a:ext cx="9944280" cy="1262160"/>
          </a:xfrm>
          <a:prstGeom prst="rect">
            <a:avLst/>
          </a:prstGeom>
          <a:solidFill>
            <a:srgbClr val="24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69840" y="1154160"/>
            <a:ext cx="9944280" cy="100080"/>
          </a:xfrm>
          <a:prstGeom prst="rect">
            <a:avLst/>
          </a:prstGeom>
          <a:solidFill>
            <a:srgbClr val="ACAE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69840" y="2460600"/>
            <a:ext cx="9944280" cy="92160"/>
          </a:xfrm>
          <a:prstGeom prst="rect">
            <a:avLst/>
          </a:prstGeom>
          <a:solidFill>
            <a:srgbClr val="84AC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360" rIns="90000" bIns="453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08000" y="227160"/>
            <a:ext cx="8561520" cy="938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91440" anchor="b">
            <a:noAutofit/>
          </a:bodyPr>
          <a:lstStyle>
            <a:lvl1pPr indent="0" algn="l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300" b="0" u="none" strike="noStrike">
                <a:solidFill>
                  <a:srgbClr val="373545"/>
                </a:solidFill>
                <a:effectLst/>
                <a:uFillTx/>
                <a:latin typeface="Franklin Gothic Book"/>
              </a:defRPr>
            </a:lvl1pPr>
          </a:lstStyle>
          <a:p>
            <a:pPr indent="0" algn="l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300" b="0" u="none" strike="noStrike">
                <a:solidFill>
                  <a:srgbClr val="373545"/>
                </a:solidFill>
                <a:effectLst/>
                <a:uFillTx/>
                <a:latin typeface="Franklin Gothic Book"/>
              </a:rPr>
              <a:t>Click to edit the title text format</a:t>
            </a:r>
            <a:endParaRPr lang="en-US" sz="3300" b="0" u="none" strike="noStrike">
              <a:solidFill>
                <a:srgbClr val="373545"/>
              </a:solidFill>
              <a:effectLst/>
              <a:uFillTx/>
              <a:latin typeface="Franklin Gothic Book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008000" y="1197000"/>
            <a:ext cx="8561520" cy="377352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marL="343080" indent="-343080" algn="l">
              <a:spcBef>
                <a:spcPts val="524"/>
              </a:spcBef>
              <a:spcAft>
                <a:spcPts val="5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1pPr>
            <a:lvl2pPr marL="343080" lvl="1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2pPr>
            <a:lvl3pPr marL="343080" lvl="2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3pPr>
            <a:lvl4pPr marL="343080" lvl="3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4pPr>
            <a:lvl5pPr marL="343080" lvl="4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5pPr>
            <a:lvl6pPr marL="343080" lvl="5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6pPr>
            <a:lvl7pPr marL="343080" lvl="6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defRPr>
            </a:lvl7pPr>
          </a:lstStyle>
          <a:p>
            <a:pPr marL="343080" indent="-343080" algn="l">
              <a:spcBef>
                <a:spcPts val="524"/>
              </a:spcBef>
              <a:spcAft>
                <a:spcPts val="5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Click to edit the outline text format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1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Second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2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Third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3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Fourth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4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Fifth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5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Sixth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  <a:p>
            <a:pPr marL="343080" lvl="6" indent="-343080" algn="l">
              <a:spcBef>
                <a:spcPts val="524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Perpetua"/>
              </a:rPr>
              <a:t>Seventh Outline Level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Perpetua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6803640" y="5118120"/>
            <a:ext cx="2724120" cy="3873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373545"/>
                </a:solidFill>
                <a:effectLst/>
                <a:uFillTx/>
                <a:latin typeface="Perpetua"/>
                <a:ea typeface="Tahoma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1400" b="0" u="none" strike="noStrike">
                <a:solidFill>
                  <a:srgbClr val="373545"/>
                </a:solidFill>
                <a:effectLst/>
                <a:uFillTx/>
                <a:latin typeface="Perpetua"/>
                <a:ea typeface="Tahoma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008000" y="5102280"/>
            <a:ext cx="436896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2"/>
          </p:nvPr>
        </p:nvSpPr>
        <p:spPr>
          <a:xfrm>
            <a:off x="235080" y="5189400"/>
            <a:ext cx="350640" cy="260640"/>
          </a:xfrm>
          <a:prstGeom prst="rect">
            <a:avLst/>
          </a:prstGeom>
          <a:solidFill>
            <a:srgbClr val="243748"/>
          </a:solidFill>
          <a:ln w="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Tahoma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DFDEEC0C-6FCD-49FF-9CC1-945BA90703AF}" type="slidenum"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Franklin Gothic Book"/>
                <a:ea typeface="Tahoma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5">
    <p:bg>
      <p:bgPr>
        <a:solidFill>
          <a:srgbClr val="1D6E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673200" y="5202360"/>
            <a:ext cx="11412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9480" tIns="60840" rIns="69480" bIns="60840" anchor="ctr">
            <a:noAutofit/>
          </a:bodyPr>
          <a:p>
            <a:pPr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fld id="{E202D02D-3DFB-4ABE-84C0-8DEAFE9131EF}" type="slidenum"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592200" y="5200560"/>
            <a:ext cx="274680" cy="274680"/>
          </a:xfrm>
          <a:prstGeom prst="ellipse">
            <a:avLst/>
          </a:pr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31840" y="5200560"/>
            <a:ext cx="274680" cy="274680"/>
          </a:xfrm>
          <a:prstGeom prst="ellipse">
            <a:avLst/>
          </a:pr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 rot="2700000">
            <a:off x="351360" y="5293440"/>
            <a:ext cx="73080" cy="74520"/>
          </a:xfrm>
          <a:custGeom>
            <a:avLst/>
            <a:gdLst/>
            <a:ahLst/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27720" rIns="90000" bIns="27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 rot="10800000">
            <a:off x="953640" y="5202000"/>
            <a:ext cx="274680" cy="274680"/>
          </a:xfrm>
          <a:prstGeom prst="ellipse">
            <a:avLst/>
          </a:pr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 rot="13500000">
            <a:off x="1036440" y="5303520"/>
            <a:ext cx="73080" cy="72720"/>
          </a:xfrm>
          <a:custGeom>
            <a:avLst/>
            <a:gdLst/>
            <a:ahLst/>
            <a:rect l="l" t="t" r="r" b="b"/>
            <a:pathLst>
              <a:path w="531091" h="531091">
                <a:moveTo>
                  <a:pt x="531091" y="531091"/>
                </a:moveTo>
                <a:lnTo>
                  <a:pt x="0" y="531091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FFFFFF"/>
            </a:solidFill>
            <a:round/>
          </a:ln>
          <a:effectLst>
            <a:outerShdw dist="23040" dir="540000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25920" rIns="90000" bIns="25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>
            <a:hlinkClick r:id="" action="ppaction://hlinkshowjump?jump=nextslide"/>
          </p:cNvPr>
          <p:cNvSpPr/>
          <p:nvPr/>
        </p:nvSpPr>
        <p:spPr>
          <a:xfrm>
            <a:off x="930240" y="5175360"/>
            <a:ext cx="331920" cy="331560"/>
          </a:xfrm>
          <a:custGeom>
            <a:avLst/>
            <a:gdLst>
              <a:gd name="textAreaLeft" fmla="*/ 21240 w 331920"/>
              <a:gd name="textAreaRight" fmla="*/ 310680 w 331920"/>
              <a:gd name="textAreaTop" fmla="*/ 21240 h 331560"/>
              <a:gd name="textAreaBottom" fmla="*/ 310320 h 331560"/>
            </a:gdLst>
            <a:ahLst/>
            <a:cxnLst/>
            <a:rect l="textAreaLeft" t="textAreaTop" r="textAreaRight" b="textAreaBottom"/>
            <a:pathLst>
              <a:path w="21623" h="21600">
                <a:moveTo>
                  <a:pt x="0" y="0"/>
                </a:moveTo>
                <a:lnTo>
                  <a:pt x="21623" y="0"/>
                </a:lnTo>
                <a:lnTo>
                  <a:pt x="21623" y="21600"/>
                </a:lnTo>
                <a:lnTo>
                  <a:pt x="0" y="21600"/>
                </a:lnTo>
                <a:close/>
              </a:path>
              <a:path fill="lightenLess" w="21623" h="21600">
                <a:moveTo>
                  <a:pt x="0" y="0"/>
                </a:moveTo>
                <a:lnTo>
                  <a:pt x="21623" y="0"/>
                </a:lnTo>
                <a:lnTo>
                  <a:pt x="20223" y="1400"/>
                </a:lnTo>
                <a:lnTo>
                  <a:pt x="1400" y="1400"/>
                </a:lnTo>
                <a:close/>
              </a:path>
              <a:path fill="darken" w="21623" h="21600">
                <a:moveTo>
                  <a:pt x="21623" y="0"/>
                </a:moveTo>
                <a:lnTo>
                  <a:pt x="21623" y="21600"/>
                </a:lnTo>
                <a:lnTo>
                  <a:pt x="20223" y="20200"/>
                </a:lnTo>
                <a:lnTo>
                  <a:pt x="20223" y="1400"/>
                </a:lnTo>
                <a:close/>
              </a:path>
              <a:path fill="darkenLess" w="21623" h="21600">
                <a:moveTo>
                  <a:pt x="21623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20223" y="20200"/>
                </a:lnTo>
                <a:close/>
              </a:path>
              <a:path fill="lighten" w="21623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  <a:path fill="darken" w="21623" h="21600">
                <a:moveTo>
                  <a:pt x="3805" y="3794"/>
                </a:moveTo>
                <a:lnTo>
                  <a:pt x="17818" y="10800"/>
                </a:lnTo>
                <a:lnTo>
                  <a:pt x="3805" y="17806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>
            <a:hlinkClick r:id="" action="ppaction://hlinkshowjump?jump=previousslide"/>
          </p:cNvPr>
          <p:cNvSpPr/>
          <p:nvPr/>
        </p:nvSpPr>
        <p:spPr>
          <a:xfrm>
            <a:off x="204840" y="5168880"/>
            <a:ext cx="331560" cy="331920"/>
          </a:xfrm>
          <a:custGeom>
            <a:avLst/>
            <a:gdLst>
              <a:gd name="textAreaLeft" fmla="*/ 21240 w 331560"/>
              <a:gd name="textAreaRight" fmla="*/ 310320 w 331560"/>
              <a:gd name="textAreaTop" fmla="*/ 21240 h 331920"/>
              <a:gd name="textAreaBottom" fmla="*/ 310680 h 331920"/>
            </a:gdLst>
            <a:ahLst/>
            <a:cxnLst/>
            <a:rect l="textAreaLeft" t="textAreaTop" r="textAreaRight" b="textAreaBottom"/>
            <a:pathLst>
              <a:path w="21600" h="21623">
                <a:moveTo>
                  <a:pt x="0" y="0"/>
                </a:moveTo>
                <a:lnTo>
                  <a:pt x="21600" y="0"/>
                </a:lnTo>
                <a:lnTo>
                  <a:pt x="21600" y="21623"/>
                </a:lnTo>
                <a:lnTo>
                  <a:pt x="0" y="21623"/>
                </a:lnTo>
                <a:close/>
              </a:path>
              <a:path fill="lightenLess" w="21600" h="21623">
                <a:moveTo>
                  <a:pt x="0" y="0"/>
                </a:moveTo>
                <a:lnTo>
                  <a:pt x="21600" y="0"/>
                </a:lnTo>
                <a:lnTo>
                  <a:pt x="20200" y="1400"/>
                </a:lnTo>
                <a:lnTo>
                  <a:pt x="1400" y="1400"/>
                </a:lnTo>
                <a:close/>
              </a:path>
              <a:path fill="darken" w="21600" h="21623">
                <a:moveTo>
                  <a:pt x="21600" y="0"/>
                </a:moveTo>
                <a:lnTo>
                  <a:pt x="21600" y="21623"/>
                </a:lnTo>
                <a:lnTo>
                  <a:pt x="20200" y="20223"/>
                </a:lnTo>
                <a:lnTo>
                  <a:pt x="20200" y="1400"/>
                </a:lnTo>
                <a:close/>
              </a:path>
              <a:path fill="darkenLess" w="21600" h="21623">
                <a:moveTo>
                  <a:pt x="21600" y="21623"/>
                </a:moveTo>
                <a:lnTo>
                  <a:pt x="0" y="21623"/>
                </a:lnTo>
                <a:lnTo>
                  <a:pt x="1400" y="20223"/>
                </a:lnTo>
                <a:lnTo>
                  <a:pt x="20200" y="20223"/>
                </a:lnTo>
                <a:close/>
              </a:path>
              <a:path fill="lighten" w="21600" h="21623">
                <a:moveTo>
                  <a:pt x="0" y="21623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23"/>
                </a:lnTo>
                <a:close/>
              </a:path>
              <a:path fill="darken" w="21600" h="21623">
                <a:moveTo>
                  <a:pt x="3794" y="10812"/>
                </a:moveTo>
                <a:lnTo>
                  <a:pt x="17806" y="3805"/>
                </a:lnTo>
                <a:lnTo>
                  <a:pt x="17806" y="17818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829480" y="5742000"/>
            <a:ext cx="20127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tIns="60840" rIns="122040" bIns="60840" anchor="ctr">
            <a:spAutoFit/>
          </a:bodyPr>
          <a:p>
            <a:pPr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Prof. Rommel Vieira Carneiro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" name=""/>
          <p:cNvGrpSpPr/>
          <p:nvPr/>
        </p:nvGrpSpPr>
        <p:grpSpPr>
          <a:xfrm>
            <a:off x="8812080" y="5821200"/>
            <a:ext cx="325440" cy="325440"/>
            <a:chOff x="8812080" y="5821200"/>
            <a:chExt cx="325440" cy="325440"/>
          </a:xfrm>
        </p:grpSpPr>
        <p:sp>
          <p:nvSpPr>
            <p:cNvPr id="22" name=""/>
            <p:cNvSpPr/>
            <p:nvPr/>
          </p:nvSpPr>
          <p:spPr>
            <a:xfrm>
              <a:off x="8812080" y="5821200"/>
              <a:ext cx="3254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8845560" y="5851440"/>
              <a:ext cx="268200" cy="26820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8956800" y="5934240"/>
              <a:ext cx="46080" cy="106200"/>
            </a:xfrm>
            <a:custGeom>
              <a:avLst/>
              <a:gdLst/>
              <a:ahLst/>
              <a:rect l="l" t="t" r="r" b="b"/>
              <a:pathLst>
                <a:path w="704" h="1506">
                  <a:moveTo>
                    <a:pt x="573" y="255"/>
                  </a:moveTo>
                  <a:lnTo>
                    <a:pt x="573" y="255"/>
                  </a:lnTo>
                  <a:lnTo>
                    <a:pt x="704" y="255"/>
                  </a:lnTo>
                  <a:lnTo>
                    <a:pt x="704" y="0"/>
                  </a:lnTo>
                  <a:lnTo>
                    <a:pt x="492" y="0"/>
                  </a:lnTo>
                  <a:cubicBezTo>
                    <a:pt x="243" y="0"/>
                    <a:pt x="155" y="124"/>
                    <a:pt x="155" y="336"/>
                  </a:cubicBezTo>
                  <a:lnTo>
                    <a:pt x="155" y="493"/>
                  </a:lnTo>
                  <a:lnTo>
                    <a:pt x="0" y="493"/>
                  </a:lnTo>
                  <a:lnTo>
                    <a:pt x="0" y="749"/>
                  </a:lnTo>
                  <a:lnTo>
                    <a:pt x="155" y="749"/>
                  </a:lnTo>
                  <a:lnTo>
                    <a:pt x="155" y="1506"/>
                  </a:lnTo>
                  <a:lnTo>
                    <a:pt x="467" y="1506"/>
                  </a:lnTo>
                  <a:lnTo>
                    <a:pt x="467" y="749"/>
                  </a:lnTo>
                  <a:lnTo>
                    <a:pt x="679" y="749"/>
                  </a:lnTo>
                  <a:lnTo>
                    <a:pt x="704" y="493"/>
                  </a:lnTo>
                  <a:lnTo>
                    <a:pt x="467" y="493"/>
                  </a:lnTo>
                  <a:lnTo>
                    <a:pt x="467" y="362"/>
                  </a:lnTo>
                  <a:cubicBezTo>
                    <a:pt x="467" y="293"/>
                    <a:pt x="473" y="255"/>
                    <a:pt x="573" y="255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" name=""/>
          <p:cNvGrpSpPr/>
          <p:nvPr/>
        </p:nvGrpSpPr>
        <p:grpSpPr>
          <a:xfrm>
            <a:off x="9174240" y="5821200"/>
            <a:ext cx="325440" cy="325440"/>
            <a:chOff x="9174240" y="5821200"/>
            <a:chExt cx="325440" cy="325440"/>
          </a:xfrm>
        </p:grpSpPr>
        <p:sp>
          <p:nvSpPr>
            <p:cNvPr id="26" name=""/>
            <p:cNvSpPr/>
            <p:nvPr/>
          </p:nvSpPr>
          <p:spPr>
            <a:xfrm>
              <a:off x="9174240" y="5821200"/>
              <a:ext cx="3254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9288360" y="5931000"/>
              <a:ext cx="111240" cy="106200"/>
            </a:xfrm>
            <a:custGeom>
              <a:avLst/>
              <a:gdLst/>
              <a:ahLst/>
              <a:rect l="l" t="t" r="r" b="b"/>
              <a:pathLst>
                <a:path w="1562" h="1491">
                  <a:moveTo>
                    <a:pt x="1176" y="466"/>
                  </a:moveTo>
                  <a:lnTo>
                    <a:pt x="1176" y="466"/>
                  </a:lnTo>
                  <a:cubicBezTo>
                    <a:pt x="990" y="466"/>
                    <a:pt x="916" y="562"/>
                    <a:pt x="871" y="636"/>
                  </a:cubicBezTo>
                  <a:lnTo>
                    <a:pt x="871" y="488"/>
                  </a:lnTo>
                  <a:lnTo>
                    <a:pt x="538" y="488"/>
                  </a:lnTo>
                  <a:cubicBezTo>
                    <a:pt x="545" y="584"/>
                    <a:pt x="538" y="1491"/>
                    <a:pt x="538" y="1491"/>
                  </a:cubicBezTo>
                  <a:lnTo>
                    <a:pt x="871" y="1491"/>
                  </a:lnTo>
                  <a:lnTo>
                    <a:pt x="871" y="931"/>
                  </a:lnTo>
                  <a:cubicBezTo>
                    <a:pt x="871" y="901"/>
                    <a:pt x="871" y="872"/>
                    <a:pt x="886" y="850"/>
                  </a:cubicBezTo>
                  <a:cubicBezTo>
                    <a:pt x="909" y="791"/>
                    <a:pt x="961" y="724"/>
                    <a:pt x="1057" y="724"/>
                  </a:cubicBezTo>
                  <a:cubicBezTo>
                    <a:pt x="1176" y="724"/>
                    <a:pt x="1228" y="820"/>
                    <a:pt x="1228" y="953"/>
                  </a:cubicBezTo>
                  <a:lnTo>
                    <a:pt x="1228" y="1491"/>
                  </a:lnTo>
                  <a:lnTo>
                    <a:pt x="1562" y="1491"/>
                  </a:lnTo>
                  <a:lnTo>
                    <a:pt x="1562" y="916"/>
                  </a:lnTo>
                  <a:cubicBezTo>
                    <a:pt x="1562" y="606"/>
                    <a:pt x="1398" y="466"/>
                    <a:pt x="1176" y="466"/>
                  </a:cubicBezTo>
                  <a:close/>
                  <a:moveTo>
                    <a:pt x="22" y="1491"/>
                  </a:moveTo>
                  <a:lnTo>
                    <a:pt x="22" y="1491"/>
                  </a:lnTo>
                  <a:lnTo>
                    <a:pt x="357" y="1491"/>
                  </a:lnTo>
                  <a:lnTo>
                    <a:pt x="357" y="487"/>
                  </a:lnTo>
                  <a:lnTo>
                    <a:pt x="22" y="487"/>
                  </a:lnTo>
                  <a:lnTo>
                    <a:pt x="22" y="1491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cubicBezTo>
                    <a:pt x="74" y="0"/>
                    <a:pt x="0" y="82"/>
                    <a:pt x="0" y="178"/>
                  </a:cubicBezTo>
                  <a:cubicBezTo>
                    <a:pt x="0" y="273"/>
                    <a:pt x="74" y="347"/>
                    <a:pt x="186" y="347"/>
                  </a:cubicBezTo>
                  <a:cubicBezTo>
                    <a:pt x="305" y="347"/>
                    <a:pt x="379" y="273"/>
                    <a:pt x="379" y="178"/>
                  </a:cubicBezTo>
                  <a:cubicBezTo>
                    <a:pt x="379" y="82"/>
                    <a:pt x="305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209160" y="5851440"/>
              <a:ext cx="268200" cy="26820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" name=""/>
          <p:cNvGrpSpPr/>
          <p:nvPr/>
        </p:nvGrpSpPr>
        <p:grpSpPr>
          <a:xfrm>
            <a:off x="9537840" y="5821200"/>
            <a:ext cx="325440" cy="325440"/>
            <a:chOff x="9537840" y="5821200"/>
            <a:chExt cx="325440" cy="325440"/>
          </a:xfrm>
        </p:grpSpPr>
        <p:sp>
          <p:nvSpPr>
            <p:cNvPr id="30" name=""/>
            <p:cNvSpPr/>
            <p:nvPr/>
          </p:nvSpPr>
          <p:spPr>
            <a:xfrm>
              <a:off x="9537840" y="5821200"/>
              <a:ext cx="3254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640800" y="5942160"/>
              <a:ext cx="120600" cy="96840"/>
            </a:xfrm>
            <a:custGeom>
              <a:avLst/>
              <a:gdLst/>
              <a:ahLst/>
              <a:rect l="l" t="t" r="r" b="b"/>
              <a:pathLst>
                <a:path w="1690" h="1374">
                  <a:moveTo>
                    <a:pt x="1491" y="223"/>
                  </a:moveTo>
                  <a:lnTo>
                    <a:pt x="1491" y="223"/>
                  </a:lnTo>
                  <a:cubicBezTo>
                    <a:pt x="1569" y="175"/>
                    <a:pt x="1617" y="108"/>
                    <a:pt x="1647" y="30"/>
                  </a:cubicBezTo>
                  <a:cubicBezTo>
                    <a:pt x="1581" y="66"/>
                    <a:pt x="1509" y="96"/>
                    <a:pt x="1424" y="108"/>
                  </a:cubicBezTo>
                  <a:cubicBezTo>
                    <a:pt x="1358" y="42"/>
                    <a:pt x="1273" y="0"/>
                    <a:pt x="1171" y="0"/>
                  </a:cubicBezTo>
                  <a:cubicBezTo>
                    <a:pt x="977" y="0"/>
                    <a:pt x="821" y="157"/>
                    <a:pt x="821" y="356"/>
                  </a:cubicBezTo>
                  <a:cubicBezTo>
                    <a:pt x="821" y="374"/>
                    <a:pt x="827" y="404"/>
                    <a:pt x="827" y="428"/>
                  </a:cubicBezTo>
                  <a:cubicBezTo>
                    <a:pt x="543" y="410"/>
                    <a:pt x="283" y="277"/>
                    <a:pt x="114" y="66"/>
                  </a:cubicBezTo>
                  <a:cubicBezTo>
                    <a:pt x="84" y="120"/>
                    <a:pt x="72" y="175"/>
                    <a:pt x="72" y="241"/>
                  </a:cubicBezTo>
                  <a:cubicBezTo>
                    <a:pt x="72" y="362"/>
                    <a:pt x="132" y="470"/>
                    <a:pt x="223" y="530"/>
                  </a:cubicBezTo>
                  <a:cubicBezTo>
                    <a:pt x="169" y="530"/>
                    <a:pt x="114" y="512"/>
                    <a:pt x="66" y="488"/>
                  </a:cubicBezTo>
                  <a:lnTo>
                    <a:pt x="66" y="494"/>
                  </a:lnTo>
                  <a:cubicBezTo>
                    <a:pt x="66" y="663"/>
                    <a:pt x="187" y="802"/>
                    <a:pt x="344" y="832"/>
                  </a:cubicBezTo>
                  <a:cubicBezTo>
                    <a:pt x="313" y="838"/>
                    <a:pt x="283" y="844"/>
                    <a:pt x="253" y="844"/>
                  </a:cubicBezTo>
                  <a:cubicBezTo>
                    <a:pt x="235" y="844"/>
                    <a:pt x="211" y="838"/>
                    <a:pt x="187" y="838"/>
                  </a:cubicBezTo>
                  <a:cubicBezTo>
                    <a:pt x="235" y="977"/>
                    <a:pt x="356" y="1073"/>
                    <a:pt x="513" y="1079"/>
                  </a:cubicBezTo>
                  <a:cubicBezTo>
                    <a:pt x="392" y="1170"/>
                    <a:pt x="241" y="1230"/>
                    <a:pt x="78" y="1230"/>
                  </a:cubicBezTo>
                  <a:cubicBezTo>
                    <a:pt x="54" y="1230"/>
                    <a:pt x="24" y="1230"/>
                    <a:pt x="0" y="1224"/>
                  </a:cubicBezTo>
                  <a:cubicBezTo>
                    <a:pt x="151" y="1326"/>
                    <a:pt x="338" y="1374"/>
                    <a:pt x="525" y="1374"/>
                  </a:cubicBezTo>
                  <a:cubicBezTo>
                    <a:pt x="1171" y="1374"/>
                    <a:pt x="1521" y="844"/>
                    <a:pt x="1521" y="392"/>
                  </a:cubicBezTo>
                  <a:lnTo>
                    <a:pt x="1521" y="344"/>
                  </a:lnTo>
                  <a:cubicBezTo>
                    <a:pt x="1587" y="295"/>
                    <a:pt x="1647" y="235"/>
                    <a:pt x="1690" y="163"/>
                  </a:cubicBezTo>
                  <a:cubicBezTo>
                    <a:pt x="1635" y="193"/>
                    <a:pt x="1569" y="211"/>
                    <a:pt x="1491" y="2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 rot="10800000">
              <a:off x="9565920" y="5851080"/>
              <a:ext cx="268200" cy="26820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" name=""/>
          <p:cNvGrpSpPr/>
          <p:nvPr/>
        </p:nvGrpSpPr>
        <p:grpSpPr>
          <a:xfrm>
            <a:off x="8450280" y="5821200"/>
            <a:ext cx="325440" cy="325440"/>
            <a:chOff x="8450280" y="5821200"/>
            <a:chExt cx="325440" cy="325440"/>
          </a:xfrm>
        </p:grpSpPr>
        <p:sp>
          <p:nvSpPr>
            <p:cNvPr id="34" name=""/>
            <p:cNvSpPr/>
            <p:nvPr/>
          </p:nvSpPr>
          <p:spPr>
            <a:xfrm>
              <a:off x="8450280" y="5821200"/>
              <a:ext cx="3254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 rot="10800000">
              <a:off x="8478720" y="5851080"/>
              <a:ext cx="268560" cy="26820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8539200" y="5942160"/>
              <a:ext cx="139680" cy="95040"/>
            </a:xfrm>
            <a:custGeom>
              <a:avLst/>
              <a:gdLst/>
              <a:ahLst/>
              <a:rect l="l" t="t" r="r" b="b"/>
              <a:pathLst>
                <a:path w="600" h="417">
                  <a:moveTo>
                    <a:pt x="410" y="191"/>
                  </a:moveTo>
                  <a:lnTo>
                    <a:pt x="410" y="191"/>
                  </a:lnTo>
                  <a:cubicBezTo>
                    <a:pt x="593" y="7"/>
                    <a:pt x="593" y="7"/>
                    <a:pt x="593" y="7"/>
                  </a:cubicBezTo>
                  <a:cubicBezTo>
                    <a:pt x="600" y="14"/>
                    <a:pt x="600" y="21"/>
                    <a:pt x="600" y="28"/>
                  </a:cubicBezTo>
                  <a:cubicBezTo>
                    <a:pt x="600" y="388"/>
                    <a:pt x="600" y="388"/>
                    <a:pt x="600" y="388"/>
                  </a:cubicBezTo>
                  <a:cubicBezTo>
                    <a:pt x="600" y="395"/>
                    <a:pt x="600" y="403"/>
                    <a:pt x="593" y="410"/>
                  </a:cubicBezTo>
                  <a:lnTo>
                    <a:pt x="410" y="191"/>
                  </a:lnTo>
                  <a:close/>
                  <a:moveTo>
                    <a:pt x="7" y="7"/>
                  </a:moveTo>
                  <a:lnTo>
                    <a:pt x="7" y="7"/>
                  </a:lnTo>
                  <a:cubicBezTo>
                    <a:pt x="14" y="7"/>
                    <a:pt x="21" y="0"/>
                    <a:pt x="28" y="0"/>
                  </a:cubicBezTo>
                  <a:cubicBezTo>
                    <a:pt x="572" y="0"/>
                    <a:pt x="572" y="0"/>
                    <a:pt x="572" y="0"/>
                  </a:cubicBezTo>
                  <a:cubicBezTo>
                    <a:pt x="579" y="0"/>
                    <a:pt x="586" y="7"/>
                    <a:pt x="593" y="7"/>
                  </a:cubicBezTo>
                  <a:cubicBezTo>
                    <a:pt x="297" y="240"/>
                    <a:pt x="297" y="240"/>
                    <a:pt x="297" y="240"/>
                  </a:cubicBezTo>
                  <a:lnTo>
                    <a:pt x="7" y="7"/>
                  </a:lnTo>
                  <a:close/>
                  <a:moveTo>
                    <a:pt x="7" y="410"/>
                  </a:moveTo>
                  <a:lnTo>
                    <a:pt x="7" y="410"/>
                  </a:lnTo>
                  <a:cubicBezTo>
                    <a:pt x="0" y="403"/>
                    <a:pt x="0" y="395"/>
                    <a:pt x="0" y="38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1"/>
                    <a:pt x="0" y="14"/>
                    <a:pt x="7" y="7"/>
                  </a:cubicBezTo>
                  <a:cubicBezTo>
                    <a:pt x="191" y="191"/>
                    <a:pt x="191" y="191"/>
                    <a:pt x="191" y="191"/>
                  </a:cubicBezTo>
                  <a:lnTo>
                    <a:pt x="7" y="410"/>
                  </a:lnTo>
                  <a:close/>
                  <a:moveTo>
                    <a:pt x="297" y="297"/>
                  </a:moveTo>
                  <a:lnTo>
                    <a:pt x="297" y="297"/>
                  </a:lnTo>
                  <a:cubicBezTo>
                    <a:pt x="374" y="219"/>
                    <a:pt x="374" y="219"/>
                    <a:pt x="374" y="219"/>
                  </a:cubicBezTo>
                  <a:cubicBezTo>
                    <a:pt x="593" y="410"/>
                    <a:pt x="593" y="410"/>
                    <a:pt x="593" y="410"/>
                  </a:cubicBezTo>
                  <a:cubicBezTo>
                    <a:pt x="586" y="417"/>
                    <a:pt x="579" y="417"/>
                    <a:pt x="572" y="417"/>
                  </a:cubicBezTo>
                  <a:cubicBezTo>
                    <a:pt x="28" y="417"/>
                    <a:pt x="28" y="417"/>
                    <a:pt x="28" y="417"/>
                  </a:cubicBezTo>
                  <a:cubicBezTo>
                    <a:pt x="21" y="417"/>
                    <a:pt x="14" y="417"/>
                    <a:pt x="7" y="410"/>
                  </a:cubicBezTo>
                  <a:cubicBezTo>
                    <a:pt x="219" y="219"/>
                    <a:pt x="219" y="219"/>
                    <a:pt x="219" y="219"/>
                  </a:cubicBezTo>
                  <a:lnTo>
                    <a:pt x="297" y="29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" name=""/>
          <p:cNvGrpSpPr/>
          <p:nvPr/>
        </p:nvGrpSpPr>
        <p:grpSpPr>
          <a:xfrm>
            <a:off x="8086680" y="5821200"/>
            <a:ext cx="325440" cy="325440"/>
            <a:chOff x="8086680" y="5821200"/>
            <a:chExt cx="325440" cy="325440"/>
          </a:xfrm>
        </p:grpSpPr>
        <p:sp>
          <p:nvSpPr>
            <p:cNvPr id="38" name=""/>
            <p:cNvSpPr/>
            <p:nvPr/>
          </p:nvSpPr>
          <p:spPr>
            <a:xfrm>
              <a:off x="8086680" y="5821200"/>
              <a:ext cx="3254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 rot="10800000">
              <a:off x="8116560" y="5851080"/>
              <a:ext cx="268200" cy="26820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" name=""/>
          <p:cNvSpPr/>
          <p:nvPr/>
        </p:nvSpPr>
        <p:spPr>
          <a:xfrm>
            <a:off x="8182080" y="5918040"/>
            <a:ext cx="139680" cy="142920"/>
          </a:xfrm>
          <a:custGeom>
            <a:avLst/>
            <a:gdLst>
              <a:gd name="GluePoint1X" fmla="*/ 9 w 118"/>
              <a:gd name="GluePoint1Y" fmla="*/ 11 h 119"/>
              <a:gd name="GluePoint2X" fmla="*/ 13 w 118"/>
              <a:gd name="GluePoint2Y" fmla="*/ 15 h 119"/>
              <a:gd name="GluePoint3X" fmla="*/ 17 w 118"/>
              <a:gd name="GluePoint3Y" fmla="*/ 19 h 119"/>
              <a:gd name="GluePoint4X" fmla="*/ 21 w 118"/>
              <a:gd name="GluePoint4Y" fmla="*/ 23 h 119"/>
              <a:gd name="GluePoint5X" fmla="*/ 25 w 118"/>
              <a:gd name="GluePoint5Y" fmla="*/ 27 h 119"/>
              <a:gd name="GluePoint6X" fmla="*/ 29 w 118"/>
              <a:gd name="GluePoint6Y" fmla="*/ 31 h 119"/>
              <a:gd name="GluePoint7X" fmla="*/ 33 w 118"/>
              <a:gd name="GluePoint7Y" fmla="*/ 35 h 119"/>
              <a:gd name="GluePoint8X" fmla="*/ 37 w 118"/>
              <a:gd name="GluePoint8Y" fmla="*/ 39 h 119"/>
              <a:gd name="GluePoint9X" fmla="*/ 41 w 118"/>
              <a:gd name="GluePoint9Y" fmla="*/ 43 h 119"/>
              <a:gd name="GluePoint10X" fmla="*/ 45 w 118"/>
              <a:gd name="GluePoint10Y" fmla="*/ 47 h 119"/>
              <a:gd name="GluePoint11X" fmla="*/ 49 w 118"/>
              <a:gd name="GluePoint11Y" fmla="*/ 51 h 119"/>
              <a:gd name="GluePoint12X" fmla="*/ 53 w 118"/>
              <a:gd name="GluePoint12Y" fmla="*/ 55 h 119"/>
              <a:gd name="GluePoint13X" fmla="*/ 57 w 118"/>
              <a:gd name="GluePoint13Y" fmla="*/ 59 h 119"/>
              <a:gd name="GluePoint14X" fmla="*/ 61 w 118"/>
              <a:gd name="GluePoint14Y" fmla="*/ 63 h 119"/>
              <a:gd name="GluePoint15X" fmla="*/ 65 w 118"/>
              <a:gd name="GluePoint15Y" fmla="*/ 67 h 119"/>
              <a:gd name="GluePoint16X" fmla="*/ 69 w 118"/>
              <a:gd name="GluePoint16Y" fmla="*/ 71 h 119"/>
              <a:gd name="GluePoint17X" fmla="*/ 73 w 118"/>
              <a:gd name="GluePoint17Y" fmla="*/ 75 h 119"/>
              <a:gd name="GluePoint18X" fmla="*/ 77 w 118"/>
              <a:gd name="GluePoint18Y" fmla="*/ 79 h 119"/>
              <a:gd name="GluePoint19X" fmla="*/ 81 w 118"/>
              <a:gd name="GluePoint19Y" fmla="*/ 83 h 119"/>
              <a:gd name="GluePoint20X" fmla="*/ 85 w 118"/>
              <a:gd name="GluePoint20Y" fmla="*/ 87 h 119"/>
              <a:gd name="GluePoint21X" fmla="*/ 89 w 118"/>
              <a:gd name="GluePoint21Y" fmla="*/ 91 h 119"/>
              <a:gd name="GluePoint22X" fmla="*/ 93 w 118"/>
              <a:gd name="GluePoint22Y" fmla="*/ 95 h 119"/>
              <a:gd name="GluePoint23X" fmla="*/ 97 w 118"/>
              <a:gd name="GluePoint23Y" fmla="*/ 99 h 119"/>
              <a:gd name="GluePoint24X" fmla="*/ 101 w 118"/>
              <a:gd name="GluePoint24Y" fmla="*/ 103 h 119"/>
              <a:gd name="GluePoint25X" fmla="*/ 105 w 118"/>
              <a:gd name="GluePoint25Y" fmla="*/ 107 h 119"/>
              <a:gd name="GluePoint26X" fmla="*/ 109 w 118"/>
              <a:gd name="GluePoint26Y" fmla="*/ 111 h 119"/>
              <a:gd name="GluePoint27X" fmla="*/ 113 w 118"/>
              <a:gd name="GluePoint27Y" fmla="*/ 115 h 119"/>
              <a:gd name="GluePoint28X" fmla="*/ 117 w 118"/>
              <a:gd name="GluePoint28Y" fmla="*/ 119 h 119"/>
              <a:gd name="GluePoint29X" fmla="*/ 121 w 118"/>
              <a:gd name="GluePoint29Y" fmla="*/ 123 h 119"/>
              <a:gd name="GluePoint30X" fmla="*/ 125 w 118"/>
              <a:gd name="GluePoint30Y" fmla="*/ 127 h 119"/>
              <a:gd name="GluePoint31X" fmla="*/ 129 w 118"/>
              <a:gd name="GluePoint31Y" fmla="*/ 131 h 119"/>
              <a:gd name="GluePoint32X" fmla="*/ 133 w 118"/>
              <a:gd name="GluePoint32Y" fmla="*/ 135 h 119"/>
              <a:gd name="GluePoint33X" fmla="*/ 137 w 118"/>
              <a:gd name="GluePoint33Y" fmla="*/ 139 h 119"/>
              <a:gd name="GluePoint34X" fmla="*/ 141 w 118"/>
              <a:gd name="GluePoint34Y" fmla="*/ 143 h 119"/>
              <a:gd name="GluePoint35X" fmla="*/ 145 w 118"/>
              <a:gd name="GluePoint35Y" fmla="*/ 147 h 119"/>
              <a:gd name="GluePoint36X" fmla="*/ 149 w 118"/>
              <a:gd name="GluePoint36Y" fmla="*/ 151 h 119"/>
              <a:gd name="GluePoint37X" fmla="*/ 153 w 118"/>
              <a:gd name="GluePoint37Y" fmla="*/ 155 h 119"/>
              <a:gd name="GluePoint38X" fmla="*/ 157 w 118"/>
              <a:gd name="GluePoint38Y" fmla="*/ 159 h 119"/>
              <a:gd name="GluePoint39X" fmla="*/ 161 w 118"/>
              <a:gd name="GluePoint39Y" fmla="*/ 163 h 119"/>
              <a:gd name="GluePoint40X" fmla="*/ 165 w 118"/>
              <a:gd name="GluePoint40Y" fmla="*/ 167 h 119"/>
              <a:gd name="GluePoint41X" fmla="*/ 169 w 118"/>
              <a:gd name="GluePoint41Y" fmla="*/ 171 h 1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l" t="t" r="r" b="b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2920" y="-9720"/>
            <a:ext cx="9064440" cy="140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72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45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1pPr>
          </a:lstStyle>
          <a:p>
            <a:pPr indent="0" algn="ctr">
              <a:lnSpc>
                <a:spcPct val="72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45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Click to edit the title text format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343080" indent="-343080" algn="l">
              <a:lnSpc>
                <a:spcPct val="83000"/>
              </a:lnSpc>
              <a:spcBef>
                <a:spcPts val="374"/>
              </a:spcBef>
              <a:spcAft>
                <a:spcPts val="5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17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1pPr>
            <a:lvl2pPr marL="743040" lvl="1" indent="-28584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tabLst>
                <a:tab pos="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2pPr>
            <a:lvl3pPr marL="1143000" lvl="2" indent="-22860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3pPr>
            <a:lvl4pPr marL="1600200" lvl="3" indent="-22860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4pPr>
            <a:lvl5pPr marL="2057400" lvl="4" indent="-22860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5pPr>
            <a:lvl6pPr lvl="5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6pPr>
            <a:lvl7pPr lvl="6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7pPr>
          </a:lstStyle>
          <a:p>
            <a:pPr marL="343080" indent="-343080" algn="l">
              <a:lnSpc>
                <a:spcPct val="83000"/>
              </a:lnSpc>
              <a:spcBef>
                <a:spcPts val="374"/>
              </a:spcBef>
              <a:spcAft>
                <a:spcPts val="5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Click to edit the outline text format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743040" lvl="1" indent="-28584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tabLst>
                <a:tab pos="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Second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1143000" lvl="2" indent="-22860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Third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1600200" lvl="3" indent="-22860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Fourth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2057400" lvl="4" indent="-228600" algn="l">
              <a:lnSpc>
                <a:spcPct val="83000"/>
              </a:lnSpc>
              <a:spcBef>
                <a:spcPts val="312"/>
              </a:spcBef>
              <a:spcAft>
                <a:spcPts val="5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Fifth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2057400" lvl="5" indent="-228600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Sixth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  <a:p>
            <a:pPr marL="2057400" lvl="6" indent="-228600" algn="l">
              <a:spcBef>
                <a:spcPts val="326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Seventh Outline Level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7680" cy="9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83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3280" y="1325520"/>
            <a:ext cx="9067680" cy="3284640"/>
          </a:xfrm>
          <a:prstGeom prst="rect">
            <a:avLst/>
          </a:prstGeom>
          <a:noFill/>
          <a:ln w="0">
            <a:noFill/>
          </a:ln>
        </p:spPr>
        <p:txBody>
          <a:bodyPr lIns="0" tIns="56160" rIns="0" bIns="0" anchor="t">
            <a:normAutofit lnSpcReduction="9999"/>
          </a:bodyPr>
          <a:lstStyle>
            <a:lvl1pPr marL="343080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343080" lvl="1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343080" lvl="2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343080" lvl="3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343080" lvl="4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marL="343080" lvl="5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marL="343080" lvl="6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1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2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3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4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5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6" indent="-343080" algn="l">
              <a:lnSpc>
                <a:spcPct val="83000"/>
              </a:lnSpc>
              <a:spcBef>
                <a:spcPts val="1188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D6E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55280" y="1760400"/>
            <a:ext cx="8567640" cy="121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lnSpc>
                <a:spcPct val="86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pt-BR" sz="54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BANCO DE DADOS I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511280" y="3213000"/>
            <a:ext cx="6276960" cy="1447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lnSpc>
                <a:spcPct val="100000"/>
              </a:lnSpc>
              <a:spcBef>
                <a:spcPts val="612"/>
              </a:spcBef>
              <a:spcAft>
                <a:spcPts val="5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pt-BR" sz="2800" b="0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Prof. Hayala Curto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"/>
          <p:cNvGrpSpPr/>
          <p:nvPr/>
        </p:nvGrpSpPr>
        <p:grpSpPr>
          <a:xfrm>
            <a:off x="6681960" y="3225960"/>
            <a:ext cx="325440" cy="325440"/>
            <a:chOff x="6681960" y="3225960"/>
            <a:chExt cx="325440" cy="325440"/>
          </a:xfrm>
        </p:grpSpPr>
        <p:sp>
          <p:nvSpPr>
            <p:cNvPr id="58" name=""/>
            <p:cNvSpPr/>
            <p:nvPr/>
          </p:nvSpPr>
          <p:spPr>
            <a:xfrm>
              <a:off x="6681960" y="3225960"/>
              <a:ext cx="3254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796080" y="3336840"/>
              <a:ext cx="111240" cy="106560"/>
            </a:xfrm>
            <a:custGeom>
              <a:avLst/>
              <a:gdLst/>
              <a:ahLst/>
              <a:rect l="l" t="t" r="r" b="b"/>
              <a:pathLst>
                <a:path w="1562" h="1491">
                  <a:moveTo>
                    <a:pt x="1176" y="466"/>
                  </a:moveTo>
                  <a:lnTo>
                    <a:pt x="1176" y="466"/>
                  </a:lnTo>
                  <a:cubicBezTo>
                    <a:pt x="990" y="466"/>
                    <a:pt x="916" y="562"/>
                    <a:pt x="871" y="636"/>
                  </a:cubicBezTo>
                  <a:lnTo>
                    <a:pt x="871" y="488"/>
                  </a:lnTo>
                  <a:lnTo>
                    <a:pt x="538" y="488"/>
                  </a:lnTo>
                  <a:cubicBezTo>
                    <a:pt x="545" y="584"/>
                    <a:pt x="538" y="1491"/>
                    <a:pt x="538" y="1491"/>
                  </a:cubicBezTo>
                  <a:lnTo>
                    <a:pt x="871" y="1491"/>
                  </a:lnTo>
                  <a:lnTo>
                    <a:pt x="871" y="931"/>
                  </a:lnTo>
                  <a:cubicBezTo>
                    <a:pt x="871" y="901"/>
                    <a:pt x="871" y="872"/>
                    <a:pt x="886" y="850"/>
                  </a:cubicBezTo>
                  <a:cubicBezTo>
                    <a:pt x="909" y="791"/>
                    <a:pt x="961" y="724"/>
                    <a:pt x="1057" y="724"/>
                  </a:cubicBezTo>
                  <a:cubicBezTo>
                    <a:pt x="1176" y="724"/>
                    <a:pt x="1228" y="820"/>
                    <a:pt x="1228" y="953"/>
                  </a:cubicBezTo>
                  <a:lnTo>
                    <a:pt x="1228" y="1491"/>
                  </a:lnTo>
                  <a:lnTo>
                    <a:pt x="1562" y="1491"/>
                  </a:lnTo>
                  <a:lnTo>
                    <a:pt x="1562" y="916"/>
                  </a:lnTo>
                  <a:cubicBezTo>
                    <a:pt x="1562" y="606"/>
                    <a:pt x="1398" y="466"/>
                    <a:pt x="1176" y="466"/>
                  </a:cubicBezTo>
                  <a:close/>
                  <a:moveTo>
                    <a:pt x="22" y="1491"/>
                  </a:moveTo>
                  <a:lnTo>
                    <a:pt x="22" y="1491"/>
                  </a:lnTo>
                  <a:lnTo>
                    <a:pt x="357" y="1491"/>
                  </a:lnTo>
                  <a:lnTo>
                    <a:pt x="357" y="487"/>
                  </a:lnTo>
                  <a:lnTo>
                    <a:pt x="22" y="487"/>
                  </a:lnTo>
                  <a:lnTo>
                    <a:pt x="22" y="1491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cubicBezTo>
                    <a:pt x="74" y="0"/>
                    <a:pt x="0" y="82"/>
                    <a:pt x="0" y="178"/>
                  </a:cubicBezTo>
                  <a:cubicBezTo>
                    <a:pt x="0" y="273"/>
                    <a:pt x="74" y="347"/>
                    <a:pt x="186" y="347"/>
                  </a:cubicBezTo>
                  <a:cubicBezTo>
                    <a:pt x="305" y="347"/>
                    <a:pt x="379" y="273"/>
                    <a:pt x="379" y="178"/>
                  </a:cubicBezTo>
                  <a:cubicBezTo>
                    <a:pt x="379" y="82"/>
                    <a:pt x="305" y="0"/>
                    <a:pt x="193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6716880" y="3255840"/>
              <a:ext cx="268200" cy="26856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"/>
          <p:cNvGrpSpPr/>
          <p:nvPr/>
        </p:nvGrpSpPr>
        <p:grpSpPr>
          <a:xfrm>
            <a:off x="6283440" y="3225960"/>
            <a:ext cx="325440" cy="325440"/>
            <a:chOff x="6283440" y="3225960"/>
            <a:chExt cx="325440" cy="325440"/>
          </a:xfrm>
        </p:grpSpPr>
        <p:sp>
          <p:nvSpPr>
            <p:cNvPr id="62" name=""/>
            <p:cNvSpPr/>
            <p:nvPr/>
          </p:nvSpPr>
          <p:spPr>
            <a:xfrm>
              <a:off x="6283440" y="3225960"/>
              <a:ext cx="325440" cy="325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 rot="10800000">
              <a:off x="6311520" y="3257280"/>
              <a:ext cx="268200" cy="268200"/>
            </a:xfrm>
            <a:prstGeom prst="ellipse">
              <a:avLst/>
            </a:prstGeom>
            <a:noFill/>
            <a:ln w="6480">
              <a:solidFill>
                <a:srgbClr val="FFFFFF"/>
              </a:solidFill>
              <a:round/>
            </a:ln>
            <a:effectLst>
              <a:outerShdw dist="23040" dir="540000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"/>
          <p:cNvSpPr/>
          <p:nvPr/>
        </p:nvSpPr>
        <p:spPr>
          <a:xfrm>
            <a:off x="6378480" y="3322800"/>
            <a:ext cx="139680" cy="142560"/>
          </a:xfrm>
          <a:custGeom>
            <a:avLst/>
            <a:gdLst>
              <a:gd name="GluePoint1X" fmla="*/ 9 w 118"/>
              <a:gd name="GluePoint1Y" fmla="*/ 11 h 119"/>
              <a:gd name="GluePoint2X" fmla="*/ 13 w 118"/>
              <a:gd name="GluePoint2Y" fmla="*/ 15 h 119"/>
              <a:gd name="GluePoint3X" fmla="*/ 17 w 118"/>
              <a:gd name="GluePoint3Y" fmla="*/ 19 h 119"/>
              <a:gd name="GluePoint4X" fmla="*/ 21 w 118"/>
              <a:gd name="GluePoint4Y" fmla="*/ 23 h 119"/>
              <a:gd name="GluePoint5X" fmla="*/ 25 w 118"/>
              <a:gd name="GluePoint5Y" fmla="*/ 27 h 119"/>
              <a:gd name="GluePoint6X" fmla="*/ 29 w 118"/>
              <a:gd name="GluePoint6Y" fmla="*/ 31 h 119"/>
              <a:gd name="GluePoint7X" fmla="*/ 33 w 118"/>
              <a:gd name="GluePoint7Y" fmla="*/ 35 h 119"/>
              <a:gd name="GluePoint8X" fmla="*/ 37 w 118"/>
              <a:gd name="GluePoint8Y" fmla="*/ 39 h 119"/>
              <a:gd name="GluePoint9X" fmla="*/ 41 w 118"/>
              <a:gd name="GluePoint9Y" fmla="*/ 43 h 119"/>
              <a:gd name="GluePoint10X" fmla="*/ 45 w 118"/>
              <a:gd name="GluePoint10Y" fmla="*/ 47 h 119"/>
              <a:gd name="GluePoint11X" fmla="*/ 49 w 118"/>
              <a:gd name="GluePoint11Y" fmla="*/ 51 h 119"/>
              <a:gd name="GluePoint12X" fmla="*/ 53 w 118"/>
              <a:gd name="GluePoint12Y" fmla="*/ 55 h 119"/>
              <a:gd name="GluePoint13X" fmla="*/ 57 w 118"/>
              <a:gd name="GluePoint13Y" fmla="*/ 59 h 119"/>
              <a:gd name="GluePoint14X" fmla="*/ 61 w 118"/>
              <a:gd name="GluePoint14Y" fmla="*/ 63 h 119"/>
              <a:gd name="GluePoint15X" fmla="*/ 65 w 118"/>
              <a:gd name="GluePoint15Y" fmla="*/ 67 h 119"/>
              <a:gd name="GluePoint16X" fmla="*/ 69 w 118"/>
              <a:gd name="GluePoint16Y" fmla="*/ 71 h 119"/>
              <a:gd name="GluePoint17X" fmla="*/ 73 w 118"/>
              <a:gd name="GluePoint17Y" fmla="*/ 75 h 119"/>
              <a:gd name="GluePoint18X" fmla="*/ 77 w 118"/>
              <a:gd name="GluePoint18Y" fmla="*/ 79 h 119"/>
              <a:gd name="GluePoint19X" fmla="*/ 81 w 118"/>
              <a:gd name="GluePoint19Y" fmla="*/ 83 h 119"/>
              <a:gd name="GluePoint20X" fmla="*/ 85 w 118"/>
              <a:gd name="GluePoint20Y" fmla="*/ 87 h 119"/>
              <a:gd name="GluePoint21X" fmla="*/ 89 w 118"/>
              <a:gd name="GluePoint21Y" fmla="*/ 91 h 119"/>
              <a:gd name="GluePoint22X" fmla="*/ 93 w 118"/>
              <a:gd name="GluePoint22Y" fmla="*/ 95 h 119"/>
              <a:gd name="GluePoint23X" fmla="*/ 97 w 118"/>
              <a:gd name="GluePoint23Y" fmla="*/ 99 h 119"/>
              <a:gd name="GluePoint24X" fmla="*/ 101 w 118"/>
              <a:gd name="GluePoint24Y" fmla="*/ 103 h 119"/>
              <a:gd name="GluePoint25X" fmla="*/ 105 w 118"/>
              <a:gd name="GluePoint25Y" fmla="*/ 107 h 119"/>
              <a:gd name="GluePoint26X" fmla="*/ 109 w 118"/>
              <a:gd name="GluePoint26Y" fmla="*/ 111 h 119"/>
              <a:gd name="GluePoint27X" fmla="*/ 113 w 118"/>
              <a:gd name="GluePoint27Y" fmla="*/ 115 h 119"/>
              <a:gd name="GluePoint28X" fmla="*/ 117 w 118"/>
              <a:gd name="GluePoint28Y" fmla="*/ 119 h 119"/>
              <a:gd name="GluePoint29X" fmla="*/ 121 w 118"/>
              <a:gd name="GluePoint29Y" fmla="*/ 123 h 119"/>
              <a:gd name="GluePoint30X" fmla="*/ 125 w 118"/>
              <a:gd name="GluePoint30Y" fmla="*/ 127 h 119"/>
              <a:gd name="GluePoint31X" fmla="*/ 129 w 118"/>
              <a:gd name="GluePoint31Y" fmla="*/ 131 h 119"/>
              <a:gd name="GluePoint32X" fmla="*/ 133 w 118"/>
              <a:gd name="GluePoint32Y" fmla="*/ 135 h 119"/>
              <a:gd name="GluePoint33X" fmla="*/ 137 w 118"/>
              <a:gd name="GluePoint33Y" fmla="*/ 139 h 119"/>
              <a:gd name="GluePoint34X" fmla="*/ 141 w 118"/>
              <a:gd name="GluePoint34Y" fmla="*/ 143 h 119"/>
              <a:gd name="GluePoint35X" fmla="*/ 145 w 118"/>
              <a:gd name="GluePoint35Y" fmla="*/ 147 h 119"/>
              <a:gd name="GluePoint36X" fmla="*/ 149 w 118"/>
              <a:gd name="GluePoint36Y" fmla="*/ 151 h 119"/>
              <a:gd name="GluePoint37X" fmla="*/ 153 w 118"/>
              <a:gd name="GluePoint37Y" fmla="*/ 155 h 119"/>
              <a:gd name="GluePoint38X" fmla="*/ 157 w 118"/>
              <a:gd name="GluePoint38Y" fmla="*/ 159 h 119"/>
              <a:gd name="GluePoint39X" fmla="*/ 161 w 118"/>
              <a:gd name="GluePoint39Y" fmla="*/ 163 h 119"/>
              <a:gd name="GluePoint40X" fmla="*/ 165 w 118"/>
              <a:gd name="GluePoint40Y" fmla="*/ 167 h 119"/>
              <a:gd name="GluePoint41X" fmla="*/ 169 w 118"/>
              <a:gd name="GluePoint41Y" fmla="*/ 171 h 1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l" t="t" r="r" b="b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8091360" y="227160"/>
            <a:ext cx="1710000" cy="13604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1181160" y="2716200"/>
            <a:ext cx="811044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anchorCtr="1">
            <a:noAutofit/>
          </a:bodyPr>
          <a:p>
            <a:pPr algn="ctr">
              <a:lnSpc>
                <a:spcPct val="80000"/>
              </a:lnSpc>
              <a:spcBef>
                <a:spcPts val="624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Modelo entidade-relacionamento estendido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3200" b="1" u="none" strike="noStrike">
                <a:solidFill>
                  <a:srgbClr val="373545"/>
                </a:solidFill>
                <a:effectLst/>
                <a:uFillTx/>
                <a:latin typeface="Calibri"/>
                <a:ea typeface="Arial Unicode MS"/>
              </a:rPr>
              <a:t>EER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24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24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24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574640" y="4487760"/>
            <a:ext cx="705672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lnSpc>
                <a:spcPct val="100000"/>
              </a:lnSpc>
              <a:spcBef>
                <a:spcPts val="624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24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24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03280" y="1108080"/>
            <a:ext cx="907236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91440" anchor="ctr">
            <a:noAutofit/>
          </a:bodyPr>
          <a:p>
            <a:pPr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br>
              <a:rPr sz="2200"/>
            </a:br>
            <a:r>
              <a:rPr lang="pt-BR" sz="2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PUC MINAS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BANCO DE DADOS 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pt-BR" sz="2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Prof: Hayala Curto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2"/>
          <a:stretch/>
        </p:blipFill>
        <p:spPr>
          <a:xfrm>
            <a:off x="4083120" y="30240"/>
            <a:ext cx="1914480" cy="12160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ROTEIRO DA AULA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85880" y="103500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068480" y="1020600"/>
            <a:ext cx="8386560" cy="5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Por que o MER tradicional precisa ser estendido em alguns domínios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785880" y="165564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68480" y="1639800"/>
            <a:ext cx="838656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Como representar superclasses, subclasses e herança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85880" y="227484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068480" y="2260440"/>
            <a:ext cx="8386560" cy="5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Como ler especialização, generalização, disjunção e completude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85880" y="289548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68480" y="2879640"/>
            <a:ext cx="838656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Como transformar um modelo EER em tabelas relacionais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957240" y="4195800"/>
            <a:ext cx="8164440" cy="566640"/>
          </a:xfrm>
          <a:prstGeom prst="roundRect">
            <a:avLst>
              <a:gd name="adj" fmla="val 10667"/>
            </a:avLst>
          </a:prstGeom>
          <a:solidFill>
            <a:srgbClr val="EEF6FA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Objetivo: sair do desenho de entidades simples para um modelo conceitual mais fiel às regras de negócio.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POR QUE ESTENDER O MER?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55560" y="96048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36720" y="944640"/>
            <a:ext cx="8184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O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MER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representa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entidades, atributos e relacionamentos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55560" y="162576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936720" y="1609560"/>
            <a:ext cx="8184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Cardinalidades como 1:1, 1:N e N:M resolvem muitos casos.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55560" y="229068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36720" y="2274840"/>
            <a:ext cx="818496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Mas alguns domínios possuem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tipos especializados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de uma mesma entidade.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360440" y="3817800"/>
            <a:ext cx="7358040" cy="588960"/>
          </a:xfrm>
          <a:prstGeom prst="roundRect">
            <a:avLst>
              <a:gd name="adj" fmla="val 10255"/>
            </a:avLst>
          </a:prstGeom>
          <a:solidFill>
            <a:srgbClr val="EAF4F9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1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Quando há hierarquia, o EER deixa a regra explícita no modelo.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QUANDO O MER FICA LIMITADO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166840" y="1889280"/>
            <a:ext cx="1562040" cy="14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938840" y="1889280"/>
            <a:ext cx="1562040" cy="14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 flipH="1" flipV="1">
            <a:off x="3451320" y="3895200"/>
            <a:ext cx="1209600" cy="57492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 flipV="1">
            <a:off x="4657680" y="3895200"/>
            <a:ext cx="1800" cy="57492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 flipV="1">
            <a:off x="4657680" y="3895200"/>
            <a:ext cx="1209600" cy="57492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57160" y="1663560"/>
            <a:ext cx="1482840" cy="4543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EMPREGADO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3419640" y="1609560"/>
            <a:ext cx="1979280" cy="567000"/>
          </a:xfrm>
          <a:prstGeom prst="diamond">
            <a:avLst/>
          </a:prstGeom>
          <a:solidFill>
            <a:srgbClr val="E9F5F5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trabalha_em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500880" y="1663560"/>
            <a:ext cx="1360440" cy="4543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PROJETO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570040" y="1677960"/>
            <a:ext cx="252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 Unicode MS"/>
              </a:rPr>
              <a:t>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099120" y="1677960"/>
            <a:ext cx="252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 Unicode MS"/>
              </a:rPr>
              <a:t>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906480" y="2381400"/>
            <a:ext cx="3325680" cy="339480"/>
          </a:xfrm>
          <a:prstGeom prst="roundRect">
            <a:avLst>
              <a:gd name="adj" fmla="val 17778"/>
            </a:avLst>
          </a:pr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Até aqui, o MER resolve o relacionamento.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 rot="10800000">
            <a:off x="4275000" y="3600360"/>
            <a:ext cx="725760" cy="317520"/>
          </a:xfrm>
          <a:prstGeom prst="triangle">
            <a:avLst>
              <a:gd name="adj" fmla="val 50000"/>
            </a:avLst>
          </a:prstGeom>
          <a:solidFill>
            <a:srgbClr val="EFF7FB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340000" y="4483080"/>
            <a:ext cx="1258920" cy="37800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GERENTE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033800" y="4483080"/>
            <a:ext cx="1258920" cy="37800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ANALISTA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686560" y="4483080"/>
            <a:ext cx="1693800" cy="37800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TERCEIRIZADO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708280" y="2890800"/>
            <a:ext cx="4132080" cy="528840"/>
          </a:xfrm>
          <a:prstGeom prst="roundRect">
            <a:avLst>
              <a:gd name="adj" fmla="val 11426"/>
            </a:avLst>
          </a:prstGeom>
          <a:solidFill>
            <a:srgbClr val="EAF4F9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Se EMPREGADO pode ter tipos, o EER representa a hierarquia.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CONCEITOS CENTRAIS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74640" y="92232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957240" y="906480"/>
            <a:ext cx="823428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Superclasse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: entidade mais genérica, com atributos comuns.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74640" y="161784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957240" y="1603440"/>
            <a:ext cx="823428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Subclasse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: tipo especializado, com atributos próprios.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674640" y="231300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57240" y="2298600"/>
            <a:ext cx="8234280" cy="56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Herança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: subclasses carregam atributos e relacionamentos da superclasse.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158840" y="3419640"/>
            <a:ext cx="7761240" cy="1083960"/>
          </a:xfrm>
          <a:prstGeom prst="roundRect">
            <a:avLst>
              <a:gd name="adj" fmla="val 10255"/>
            </a:avLst>
          </a:prstGeom>
          <a:solidFill>
            <a:srgbClr val="EEF6FA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A ideia central é não repetir aquilo que pertence ao conceito mais geral.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EXEMPLO DE HERANÇA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 flipH="1">
            <a:off x="3026880" y="2320920"/>
            <a:ext cx="2016360" cy="7412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040360" y="2320920"/>
            <a:ext cx="1440" cy="7412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5040360" y="2320920"/>
            <a:ext cx="2016000" cy="7412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4032360" y="1020600"/>
            <a:ext cx="2016000" cy="46836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RECURSO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032360" y="1527120"/>
            <a:ext cx="2014560" cy="54468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id_recurso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nome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custo_hora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 rot="10800000">
            <a:off x="4676400" y="2149560"/>
            <a:ext cx="725400" cy="317520"/>
          </a:xfrm>
          <a:prstGeom prst="triangle">
            <a:avLst>
              <a:gd name="adj" fmla="val 50000"/>
            </a:avLst>
          </a:prstGeom>
          <a:solidFill>
            <a:srgbClr val="EFF7FB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2268360" y="3100320"/>
            <a:ext cx="1511640" cy="4683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RECURSO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HUMANO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268360" y="3666960"/>
            <a:ext cx="1511640" cy="41616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cargo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competência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4284720" y="3100320"/>
            <a:ext cx="1511280" cy="4683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RECURSO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MATERIAL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4284720" y="3666960"/>
            <a:ext cx="1511280" cy="41616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unidade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quantidade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6300720" y="3100320"/>
            <a:ext cx="1562040" cy="4683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RECURSO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FINANCEIRO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299280" y="3666960"/>
            <a:ext cx="1562040" cy="31752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centro_custo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095560" y="4483080"/>
            <a:ext cx="5896080" cy="378000"/>
          </a:xfrm>
          <a:prstGeom prst="roundRect">
            <a:avLst>
              <a:gd name="adj" fmla="val 16000"/>
            </a:avLst>
          </a:pr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Atributos comuns ficam na superclasse.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ESPECIALIZAÇÃO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85800" y="88416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966960" y="870120"/>
            <a:ext cx="828504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Vai do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geral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para o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específico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85800" y="147492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66960" y="1459080"/>
            <a:ext cx="8285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Parte de uma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entidade genérica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e identifica seus tipos.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85800" y="206388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966960" y="2048040"/>
            <a:ext cx="8285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É útil quando </a:t>
            </a:r>
            <a:r>
              <a:rPr lang="en-US" sz="2200" b="0" i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subclasses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têm atributos ou relacionamentos diferentes.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85800" y="265284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966960" y="2638440"/>
            <a:ext cx="8285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Evita repetir os mesmos atributos em entidades parecidas.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008000" y="3959280"/>
            <a:ext cx="8062920" cy="779400"/>
          </a:xfrm>
          <a:prstGeom prst="roundRect">
            <a:avLst>
              <a:gd name="adj" fmla="val 12903"/>
            </a:avLst>
          </a:prstGeom>
          <a:solidFill>
            <a:srgbClr val="EEF6FA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Pergunta-guia: “quais tipos diferentes existem dentro desta entidade?”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ESPECIALIZAÇÃO: EMPREGADO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 flipH="1">
            <a:off x="3078000" y="2343240"/>
            <a:ext cx="1965600" cy="793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5040360" y="2343240"/>
            <a:ext cx="1440" cy="793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5040360" y="2343240"/>
            <a:ext cx="1965240" cy="793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930480" y="944640"/>
            <a:ext cx="2217960" cy="46836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EMPREGADO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3930480" y="1467000"/>
            <a:ext cx="2216160" cy="54432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cpf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nome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salário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 rot="10800000">
            <a:off x="4676400" y="2157480"/>
            <a:ext cx="725400" cy="317520"/>
          </a:xfrm>
          <a:prstGeom prst="triangle">
            <a:avLst>
              <a:gd name="adj" fmla="val 50000"/>
            </a:avLst>
          </a:prstGeom>
          <a:solidFill>
            <a:srgbClr val="EFF7FB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2197080" y="3174840"/>
            <a:ext cx="1562040" cy="4161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GERENTE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2197080" y="3673440"/>
            <a:ext cx="1562040" cy="42228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data_início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nível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4284720" y="3174840"/>
            <a:ext cx="1562040" cy="4161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ANALISTA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4282920" y="3673440"/>
            <a:ext cx="1562400" cy="31752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especialidade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350040" y="3174840"/>
            <a:ext cx="1562040" cy="4161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ESTAGIÁRIO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6350040" y="3673440"/>
            <a:ext cx="1562040" cy="42228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instituição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semestre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089000" y="4319640"/>
            <a:ext cx="7861320" cy="615960"/>
          </a:xfrm>
          <a:prstGeom prst="roundRect">
            <a:avLst>
              <a:gd name="adj" fmla="val 16667"/>
            </a:avLst>
          </a:pr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Todo GERENTE também é EMPREGADO, mas possui dados adicionais.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GENERALIZAÇÃO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85800" y="88416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966960" y="870120"/>
            <a:ext cx="8234280" cy="4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Vai do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específico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para o geral.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85800" y="147492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966960" y="1459080"/>
            <a:ext cx="8234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Agrupa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entidades semelhantes em uma superclasse.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85800" y="206388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966960" y="2048040"/>
            <a:ext cx="8234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Reduz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redundância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de atributos comuns.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85800" y="265284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966960" y="2638440"/>
            <a:ext cx="8234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Facilita regras comuns de cadastro, contato e documentação.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209600" y="3959280"/>
            <a:ext cx="7659720" cy="779400"/>
          </a:xfrm>
          <a:prstGeom prst="roundRect">
            <a:avLst>
              <a:gd name="adj" fmla="val 12903"/>
            </a:avLst>
          </a:prstGeom>
          <a:solidFill>
            <a:srgbClr val="EEF6FA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Pergunta-guia: “o que essas entidades têm em comum?”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GENERALIZAÇÃO: CLIENTE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225960" y="2343240"/>
            <a:ext cx="1814400" cy="68112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 flipH="1">
            <a:off x="5043600" y="2343240"/>
            <a:ext cx="1814400" cy="68112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5040360" y="3402000"/>
            <a:ext cx="1440" cy="45396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2217600" y="1209600"/>
            <a:ext cx="2016360" cy="43812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PESSOA FÍSICA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2217600" y="1700280"/>
            <a:ext cx="2014560" cy="4158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cpf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nascimento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5846760" y="1209600"/>
            <a:ext cx="2016000" cy="43812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PESSOA JURÍDICA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5846760" y="1700280"/>
            <a:ext cx="2014560" cy="4158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cnpj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razão social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 rot="10800000">
            <a:off x="4676400" y="2890800"/>
            <a:ext cx="725400" cy="317520"/>
          </a:xfrm>
          <a:prstGeom prst="triangle">
            <a:avLst>
              <a:gd name="adj" fmla="val 50000"/>
            </a:avLst>
          </a:prstGeom>
          <a:solidFill>
            <a:srgbClr val="EFF7FB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3930480" y="3894120"/>
            <a:ext cx="2217960" cy="4381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CLIENTE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930480" y="4406760"/>
            <a:ext cx="2216160" cy="50652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id_cliente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nome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endereço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869160" y="2519280"/>
            <a:ext cx="2671560" cy="2700360"/>
          </a:xfrm>
          <a:custGeom>
            <a:avLst/>
            <a:gdLst>
              <a:gd name="textAreaLeft" fmla="*/ 164520 w 2671560"/>
              <a:gd name="textAreaRight" fmla="*/ 2507040 w 2671560"/>
              <a:gd name="textAreaTop" fmla="*/ 164520 h 2700360"/>
              <a:gd name="textAreaBottom" fmla="*/ 2535840 h 2700360"/>
            </a:gdLst>
            <a:ahLst/>
            <a:cxnLst/>
            <a:rect l="textAreaLeft" t="textAreaTop" r="textAreaRight" b="textAreaBottom"/>
            <a:pathLst>
              <a:path w="21600" h="21833">
                <a:moveTo>
                  <a:pt x="4547" y="0"/>
                </a:moveTo>
                <a:arcTo wR="4547" hR="4547" stAng="16200000" swAng="-5400000"/>
                <a:lnTo>
                  <a:pt x="0" y="17286"/>
                </a:lnTo>
                <a:arcTo wR="4547" hR="4547" stAng="10800000" swAng="-5400000"/>
                <a:lnTo>
                  <a:pt x="17053" y="21833"/>
                </a:lnTo>
                <a:arcTo wR="4547" hR="4547" stAng="5400000" swAng="-5400000"/>
                <a:lnTo>
                  <a:pt x="21600" y="4547"/>
                </a:lnTo>
                <a:arcTo wR="4547" hR="4547" stAng="0" swAng="-5400000"/>
                <a:close/>
              </a:path>
            </a:pathLst>
          </a:cu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Especialização e generalização podem chegar a estruturas semelhantes; muda o caminho de análise.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RESTRIÇÕES: DISJUNÇÃO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85800" y="88416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966960" y="870120"/>
            <a:ext cx="828504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Disjoint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(d): cada ocorrência pertence a apenas uma subclasse.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85800" y="154944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966960" y="1535040"/>
            <a:ext cx="82850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Overlap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 (o): a mesma ocorrência pode pertencer a mais de uma subclasse.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 flipH="1">
            <a:off x="2120760" y="3024360"/>
            <a:ext cx="704880" cy="5666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2822400" y="3024360"/>
            <a:ext cx="704880" cy="5666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2066760" y="2343240"/>
            <a:ext cx="1511640" cy="37764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RECURSO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2570040" y="2835360"/>
            <a:ext cx="5032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C0392B"/>
                </a:solidFill>
                <a:effectLst/>
                <a:uFillTx/>
                <a:latin typeface="Arial"/>
                <a:ea typeface="Arial Unicode MS"/>
              </a:rPr>
              <a:t>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360440" y="3629160"/>
            <a:ext cx="1108080" cy="3315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HUMANO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174840" y="3629160"/>
            <a:ext cx="1258920" cy="3315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MATERIAL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 flipH="1">
            <a:off x="6353280" y="3024360"/>
            <a:ext cx="704880" cy="5666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054920" y="3024360"/>
            <a:ext cx="704880" cy="5666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6199200" y="2343240"/>
            <a:ext cx="1712880" cy="37764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FUNCIONÁRIO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804000" y="2835360"/>
            <a:ext cx="5032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B7DA5"/>
                </a:solidFill>
                <a:effectLst/>
                <a:uFillTx/>
                <a:latin typeface="Arial"/>
                <a:ea typeface="Arial Unicode MS"/>
              </a:rPr>
              <a:t>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594400" y="3629160"/>
            <a:ext cx="1360440" cy="3315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PROFESSOR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7307280" y="3629160"/>
            <a:ext cx="1562040" cy="3315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 Unicode MS"/>
              </a:rPr>
              <a:t>COORDENADOR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RESTRIÇÕES: COMPLETUDE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685800" y="88416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966960" y="870120"/>
            <a:ext cx="82850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Total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: toda ocorrência da superclasse deve estar em alguma subclasse.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685800" y="150480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966960" y="1488960"/>
            <a:ext cx="82850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Parcial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: algumas ocorrências podem ficar somente na superclasse.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85800" y="212400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966960" y="2109960"/>
            <a:ext cx="828504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A decisão depende da regra de negócio, não apenas do desenho.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857160" y="3240000"/>
            <a:ext cx="8417160" cy="819360"/>
          </a:xfrm>
          <a:prstGeom prst="roundRect">
            <a:avLst>
              <a:gd name="adj" fmla="val 12903"/>
            </a:avLst>
          </a:prstGeom>
          <a:solidFill>
            <a:srgbClr val="EAF4F9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Exemplo total: todo RECURSO precisa ser classificado como humano, material ou financeiro.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857160" y="4218120"/>
            <a:ext cx="8417160" cy="641160"/>
          </a:xfrm>
          <a:prstGeom prst="roundRect">
            <a:avLst>
              <a:gd name="adj" fmla="val 12903"/>
            </a:avLst>
          </a:pr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Exemplo parcial: alguns FUNCIONÁRIOS podem não ser gerente nem analista.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CATEGORIA / UNIÃO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685800" y="86184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966960" y="846000"/>
            <a:ext cx="8285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Uma subclasse pode ser formada pela união de entidades diferentes.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85800" y="145080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966960" y="1436760"/>
            <a:ext cx="8285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É útil quando tipos diferentes exercem o mesmo papel.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85800" y="204156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966960" y="2025720"/>
            <a:ext cx="8285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O símbolo U indica uma categoria ou união.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685800" y="263052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966960" y="2614680"/>
            <a:ext cx="82850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Aparece mais em domínios com regras de negócio ricas.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058760" y="3959280"/>
            <a:ext cx="7962840" cy="801720"/>
          </a:xfrm>
          <a:prstGeom prst="roundRect">
            <a:avLst>
              <a:gd name="adj" fmla="val 13792"/>
            </a:avLst>
          </a:prstGeom>
          <a:solidFill>
            <a:srgbClr val="EEF6FA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Exemplo: o proprietário de um veículo pode ser uma pessoa ou uma empresa.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CATEGORIA: PROPRIETÁRIO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225960" y="2154240"/>
            <a:ext cx="1814400" cy="5666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 flipH="1">
            <a:off x="5043600" y="2154240"/>
            <a:ext cx="1814400" cy="56664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5040360" y="3060720"/>
            <a:ext cx="1440" cy="47628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5946840" y="3817800"/>
            <a:ext cx="1008000" cy="1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710480" y="3817800"/>
            <a:ext cx="704880" cy="1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2317680" y="1119240"/>
            <a:ext cx="1814760" cy="42228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PESSOA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2317680" y="1601640"/>
            <a:ext cx="1812960" cy="3780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cpf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nome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5946840" y="1119240"/>
            <a:ext cx="1814400" cy="42228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EMPRESA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5946840" y="1601640"/>
            <a:ext cx="1812960" cy="3780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cnpj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razão social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4697280" y="2630520"/>
            <a:ext cx="685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U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4083120" y="3537000"/>
            <a:ext cx="1914480" cy="4381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PROPRIETÁRIO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6804000" y="3552840"/>
            <a:ext cx="957240" cy="514440"/>
          </a:xfrm>
          <a:prstGeom prst="diamond">
            <a:avLst/>
          </a:prstGeom>
          <a:solidFill>
            <a:srgbClr val="E9F5F5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possui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8416800" y="3613320"/>
            <a:ext cx="1108080" cy="37764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VEÍCULO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6329520" y="3643200"/>
            <a:ext cx="201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8113680" y="3643200"/>
            <a:ext cx="2016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1189080" y="4319640"/>
            <a:ext cx="7710480" cy="766800"/>
          </a:xfrm>
          <a:prstGeom prst="roundRect">
            <a:avLst>
              <a:gd name="adj" fmla="val 14542"/>
            </a:avLst>
          </a:pr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PROPRIETÁRIO representa o papel comum exercido por PESSOA ou EMPRESA.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EXEMPLO INTEGRADO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368440" y="1814400"/>
            <a:ext cx="1462320" cy="1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4938840" y="1814400"/>
            <a:ext cx="1511280" cy="1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2368440" y="3514680"/>
            <a:ext cx="1462320" cy="1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938840" y="3514680"/>
            <a:ext cx="1511280" cy="180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906480" y="1587600"/>
            <a:ext cx="1460520" cy="4381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EMPREGADO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3749760" y="1549440"/>
            <a:ext cx="1650960" cy="528480"/>
          </a:xfrm>
          <a:prstGeom prst="diamond">
            <a:avLst/>
          </a:prstGeom>
          <a:solidFill>
            <a:srgbClr val="E9F5F5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trabalha_em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451560" y="1587600"/>
            <a:ext cx="1360440" cy="4381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PROJETO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032360" y="2176560"/>
            <a:ext cx="90648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1" u="none" strike="noStrike">
                <a:solidFill>
                  <a:srgbClr val="C0392B"/>
                </a:solidFill>
                <a:effectLst/>
                <a:uFillTx/>
                <a:latin typeface="Arial"/>
              </a:rPr>
              <a:t>Horas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2641680" y="1603440"/>
            <a:ext cx="252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6099120" y="1603440"/>
            <a:ext cx="252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906480" y="3289320"/>
            <a:ext cx="1460520" cy="4381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EMPREGADO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3749760" y="3251160"/>
            <a:ext cx="1469880" cy="528840"/>
          </a:xfrm>
          <a:prstGeom prst="diamond">
            <a:avLst/>
          </a:prstGeom>
          <a:solidFill>
            <a:srgbClr val="E9F5F5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pertence_a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451560" y="3289320"/>
            <a:ext cx="1712880" cy="4381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DEPARTAMENTO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2641680" y="3295800"/>
            <a:ext cx="252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6099120" y="3295800"/>
            <a:ext cx="252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1209600" y="4140360"/>
            <a:ext cx="7559640" cy="750600"/>
          </a:xfrm>
          <a:prstGeom prst="roundRect">
            <a:avLst>
              <a:gd name="adj" fmla="val 14542"/>
            </a:avLst>
          </a:prstGeom>
          <a:solidFill>
            <a:srgbClr val="EAF4F9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O relacionamento N:M continua existindo; o EER adiciona a hierarquia.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EXEMPLO INTEGRADO: HIERARQUIA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 flipH="1">
            <a:off x="3228480" y="2343240"/>
            <a:ext cx="1814760" cy="71748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5040360" y="2343240"/>
            <a:ext cx="1440" cy="71748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5040360" y="2343240"/>
            <a:ext cx="1814400" cy="717480"/>
          </a:xfrm>
          <a:prstGeom prst="line">
            <a:avLst/>
          </a:prstGeom>
          <a:ln w="1512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3981600" y="1096920"/>
            <a:ext cx="2116080" cy="438120"/>
          </a:xfrm>
          <a:prstGeom prst="rect">
            <a:avLst/>
          </a:prstGeom>
          <a:solidFill>
            <a:srgbClr val="DDEAF2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EMPREGADO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3981600" y="1603440"/>
            <a:ext cx="2116080" cy="49032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cpf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nome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5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salário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 rot="10800000">
            <a:off x="4676400" y="2157480"/>
            <a:ext cx="725400" cy="317520"/>
          </a:xfrm>
          <a:prstGeom prst="triangle">
            <a:avLst>
              <a:gd name="adj" fmla="val 50000"/>
            </a:avLst>
          </a:prstGeom>
          <a:solidFill>
            <a:srgbClr val="EFF7FB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2398680" y="3100320"/>
            <a:ext cx="1511280" cy="4161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GERENTE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4284720" y="3100320"/>
            <a:ext cx="1511280" cy="4161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ANALISTA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178680" y="3100320"/>
            <a:ext cx="1562040" cy="416160"/>
          </a:xfrm>
          <a:prstGeom prst="rect">
            <a:avLst/>
          </a:prstGeom>
          <a:solidFill>
            <a:srgbClr val="E8F3F8"/>
          </a:solidFill>
          <a:ln w="12600">
            <a:solidFill>
              <a:srgbClr val="2225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TERCEIRIZADO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1058760" y="408312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1339920" y="4067280"/>
            <a:ext cx="768024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Cada subclasse pode ter regras e atributos próprios.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058760" y="455148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339920" y="4535640"/>
            <a:ext cx="768024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Evite criar uma entidade “gigante” com campos que só servem para alguns casos.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COMO VIRAR MODELO RELACIONAL?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65280" y="86184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947880" y="846000"/>
            <a:ext cx="83865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O </a:t>
            </a: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EER é conceitual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; depois vira tabelas, chaves e restrições.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65280" y="145080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947880" y="1436760"/>
            <a:ext cx="83865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Estratégia 1: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 tabela para superclasse e tabelas para subclasses.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65280" y="204156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947880" y="2025720"/>
            <a:ext cx="83865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Estratégia 2: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 tabela única com coluna de tipo.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65280" y="263052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947880" y="2614680"/>
            <a:ext cx="838656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2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Estratégia 3:</a:t>
            </a:r>
            <a:r>
              <a:rPr lang="en-US" sz="22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 tabelas apenas para subclasses concretas.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957240" y="4368960"/>
            <a:ext cx="8164440" cy="415800"/>
          </a:xfrm>
          <a:prstGeom prst="roundRect">
            <a:avLst>
              <a:gd name="adj" fmla="val 14542"/>
            </a:avLst>
          </a:prstGeom>
          <a:solidFill>
            <a:srgbClr val="EEF6FA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A escolha depende de desempenho, volume, obrigatoriedade e clareza do modelo.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EER – EXEMPLO DE CONVERSÃO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704880" y="1057320"/>
            <a:ext cx="2889360" cy="444600"/>
          </a:xfrm>
          <a:prstGeom prst="rect">
            <a:avLst/>
          </a:prstGeom>
          <a:solidFill>
            <a:srgbClr val="DDEAF2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EMPREGADO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594240" y="1057320"/>
            <a:ext cx="2889000" cy="444600"/>
          </a:xfrm>
          <a:prstGeom prst="rect">
            <a:avLst/>
          </a:prstGeom>
          <a:solidFill>
            <a:srgbClr val="DDEAF2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GERENTE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6485040" y="1057320"/>
            <a:ext cx="2889000" cy="444600"/>
          </a:xfrm>
          <a:prstGeom prst="rect">
            <a:avLst/>
          </a:prstGeom>
          <a:solidFill>
            <a:srgbClr val="DDEAF2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ANALISTA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704880" y="1501920"/>
            <a:ext cx="2889360" cy="44424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PK cpf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3594240" y="1501920"/>
            <a:ext cx="2889000" cy="44424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PK/FK cpf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6485040" y="1501920"/>
            <a:ext cx="2889000" cy="44424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PK/FK cpf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704880" y="1946160"/>
            <a:ext cx="2889360" cy="4446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nome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3594240" y="1946160"/>
            <a:ext cx="2889000" cy="4446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nível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485040" y="1946160"/>
            <a:ext cx="2889000" cy="4446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especialidade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704880" y="2390760"/>
            <a:ext cx="2889360" cy="4446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salário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3594240" y="2390760"/>
            <a:ext cx="2889000" cy="4446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data_início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485040" y="2390760"/>
            <a:ext cx="2889000" cy="444600"/>
          </a:xfrm>
          <a:prstGeom prst="rect">
            <a:avLst/>
          </a:prstGeom>
          <a:solidFill>
            <a:srgbClr val="FFFFFF"/>
          </a:solidFill>
          <a:ln w="1008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3679920" y="2986200"/>
            <a:ext cx="1440" cy="604800"/>
          </a:xfrm>
          <a:prstGeom prst="line">
            <a:avLst/>
          </a:prstGeom>
          <a:ln w="20160">
            <a:solidFill>
              <a:srgbClr val="2B7DA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400800" y="2986200"/>
            <a:ext cx="1440" cy="604800"/>
          </a:xfrm>
          <a:prstGeom prst="line">
            <a:avLst/>
          </a:prstGeom>
          <a:ln w="20160">
            <a:solidFill>
              <a:srgbClr val="2B7DA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1209600" y="3703680"/>
            <a:ext cx="7659720" cy="468360"/>
          </a:xfrm>
          <a:prstGeom prst="roundRect">
            <a:avLst>
              <a:gd name="adj" fmla="val 12903"/>
            </a:avLst>
          </a:prstGeom>
          <a:solidFill>
            <a:srgbClr val="EAF4F9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A chave da subclasse também referencia a chave da superclasse.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209600" y="4422600"/>
            <a:ext cx="7659720" cy="416160"/>
          </a:xfrm>
          <a:prstGeom prst="roundRect">
            <a:avLst>
              <a:gd name="adj" fmla="val 14542"/>
            </a:avLst>
          </a:pr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Cuidado: o desenho conceitual não define sozinho a melhor implementação física.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EXERCÍCIO – MODELAGEM EER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704880" y="793800"/>
            <a:ext cx="20160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8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Contexto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704880" y="1073160"/>
            <a:ext cx="866772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1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Uma empresa possui funcionários. Todo funcionário tem CPF, nome, salário e endereço. Alguns funcionários são gerentes, com nível de gerência e data de início; outros são analistas, com especialidade técnica.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957240" y="3213000"/>
            <a:ext cx="8164440" cy="506520"/>
          </a:xfrm>
          <a:prstGeom prst="roundRect">
            <a:avLst>
              <a:gd name="adj" fmla="val 11940"/>
            </a:avLst>
          </a:prstGeom>
          <a:solidFill>
            <a:srgbClr val="EEF6FA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Foco: identificar superclasses, subclasses, restrições e relacionamentos.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1158840" y="3968640"/>
            <a:ext cx="7761240" cy="506520"/>
          </a:xfrm>
          <a:prstGeom prst="roundRect">
            <a:avLst>
              <a:gd name="adj" fmla="val 11940"/>
            </a:avLst>
          </a:prstGeom>
          <a:solidFill>
            <a:srgbClr val="FFF3F1"/>
          </a:solidFill>
          <a:ln w="126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Não coloque atributos de GERENTE ou ANALISTA diretamente em FUNCIONÁRIO.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>
            <a:off x="141120" y="90360"/>
            <a:ext cx="9798120" cy="5405400"/>
          </a:xfrm>
          <a:prstGeom prst="roundRect">
            <a:avLst>
              <a:gd name="adj" fmla="val 1398"/>
            </a:avLst>
          </a:prstGeom>
          <a:noFill/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361800" y="189000"/>
            <a:ext cx="897120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22533"/>
                </a:solidFill>
                <a:effectLst/>
                <a:uFillTx/>
                <a:latin typeface="Arial"/>
                <a:ea typeface="Arial"/>
              </a:rPr>
              <a:t>EXERCÍCIO – TAREFAS 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9253440" y="5200560"/>
            <a:ext cx="50328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66666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222120" y="649440"/>
            <a:ext cx="9636120" cy="29880"/>
          </a:xfrm>
          <a:prstGeom prst="rect">
            <a:avLst/>
          </a:prstGeom>
          <a:solidFill>
            <a:srgbClr val="2B7DA5"/>
          </a:solidFill>
          <a:ln w="12600">
            <a:solidFill>
              <a:srgbClr val="2B7D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16920" rIns="90000" bIns="-16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655560" y="80964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936720" y="793800"/>
            <a:ext cx="838656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1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Definir entidades, atributos-chave e relacionamentos.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655560" y="132228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936720" y="1308240"/>
            <a:ext cx="838656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1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Criar a hierarquia EER de FUNCIONÁRIO.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655560" y="183672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936720" y="1820880"/>
            <a:ext cx="838656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1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Indicar se a especialização é total/parcial e disjunta/sobreposta.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55560" y="2351160"/>
            <a:ext cx="252360" cy="1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936720" y="2336760"/>
            <a:ext cx="838656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1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Marcar cardinalidades nos relacionamentos.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655560" y="2865600"/>
            <a:ext cx="252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300" b="1" u="none" strike="noStrike">
                <a:solidFill>
                  <a:srgbClr val="2B7DA5"/>
                </a:solidFill>
                <a:effectLst/>
                <a:uFillTx/>
                <a:latin typeface="Arial"/>
              </a:rPr>
              <a:t>•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936720" y="2849400"/>
            <a:ext cx="838656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21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Indicar onde ficaria o atributo Horas.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927000" y="4248000"/>
            <a:ext cx="8215560" cy="416160"/>
          </a:xfrm>
          <a:prstGeom prst="roundRect">
            <a:avLst>
              <a:gd name="adj" fmla="val 14542"/>
            </a:avLst>
          </a:prstGeom>
          <a:solidFill>
            <a:srgbClr val="EAF4F9"/>
          </a:solidFill>
          <a:ln w="12600">
            <a:solidFill>
              <a:srgbClr val="58AF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900" b="1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Entrega: diagrama EER claro + justificativa das restrições escolhidas.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1209600" y="4746600"/>
            <a:ext cx="7659720" cy="339840"/>
          </a:xfrm>
          <a:prstGeom prst="roundRect">
            <a:avLst>
              <a:gd name="adj" fmla="val 17778"/>
            </a:avLst>
          </a:prstGeom>
          <a:solidFill>
            <a:srgbClr val="F7F8F9"/>
          </a:solidFill>
          <a:ln w="126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  <a:tab pos="9434520" algn="l"/>
                <a:tab pos="9883800" algn="l"/>
                <a:tab pos="10333080" algn="l"/>
                <a:tab pos="10782360" algn="l"/>
              </a:tabLst>
            </a:pPr>
            <a:r>
              <a:rPr lang="en-US" sz="1700" b="0" u="none" strike="noStrike">
                <a:solidFill>
                  <a:srgbClr val="222533"/>
                </a:solidFill>
                <a:effectLst/>
                <a:uFillTx/>
                <a:latin typeface="Arial"/>
              </a:rPr>
              <a:t>Discussão final: qual estratégia relacional seria mais adequada?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1488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2012-03-07T22:04:59Z</dcterms:created>
  <dc:creator>Luciana</dc:creator>
  <dc:description/>
  <dc:language>en-US</dc:language>
  <cp:lastModifiedBy/>
  <dcterms:modified xsi:type="dcterms:W3CDTF">2026-08-31T07:17:59Z</dcterms:modified>
  <cp:revision>132</cp:revision>
  <dc:subject/>
  <dc:title>Universidade Federal de Viçosa/ Campus Florestal Tecnologia em Análise e Desenvolvimento de Sistemas Disciplina: Banco de Dados – TDS 320 – 1º semestre 2012 Profa: Luciana Mara Freitas Diniz</dc:title>
</cp:coreProperties>
</file>